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75" r:id="rId6"/>
    <p:sldId id="276" r:id="rId7"/>
    <p:sldId id="277" r:id="rId8"/>
    <p:sldId id="261" r:id="rId9"/>
    <p:sldId id="262" r:id="rId10"/>
    <p:sldId id="271" r:id="rId11"/>
    <p:sldId id="263" r:id="rId12"/>
    <p:sldId id="264" r:id="rId13"/>
    <p:sldId id="265" r:id="rId14"/>
    <p:sldId id="278" r:id="rId15"/>
    <p:sldId id="272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F1AAA-757F-035A-2607-458EDF648921}" v="12" dt="2026-08-04T14:30:40.475"/>
    <p1510:client id="{272D140E-1B7B-8021-81E2-E63DB4190415}" v="42" dt="2026-08-04T14:30:10.345"/>
    <p1510:client id="{693768D6-0F32-744C-9A55-DEBBA808B8C6}" v="1300" dt="2026-08-04T15:27:25.678"/>
    <p1510:client id="{90C3CE35-43A3-5A45-BE0B-C8EE5BFFA6F0}" v="4578" dt="2026-08-05T10:04:52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13" d="100"/>
          <a:sy n="113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Alumni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6E3-0442-B107-BC00E160718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6E3-0442-B107-BC00E160718D}"/>
              </c:ext>
            </c:extLst>
          </c:dPt>
          <c:cat>
            <c:strRef>
              <c:f>Sheet1!$A$2:$A$3</c:f>
              <c:strCache>
                <c:ptCount val="2"/>
                <c:pt idx="0">
                  <c:v>Alumni Institutions Target</c:v>
                </c:pt>
                <c:pt idx="1">
                  <c:v>Alumni "Untargeted"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8800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E3-0442-B107-BC00E1607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Alumni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AAD-D64C-A289-79E9F41E30E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AD-D64C-A289-79E9F41E30E7}"/>
              </c:ext>
            </c:extLst>
          </c:dPt>
          <c:cat>
            <c:strRef>
              <c:f>Sheet1!$A$2:$A$3</c:f>
              <c:strCache>
                <c:ptCount val="2"/>
                <c:pt idx="0">
                  <c:v>Alumni Institutions Target</c:v>
                </c:pt>
                <c:pt idx="1">
                  <c:v>Alumni "Untargeted"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8800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AD-D64C-A289-79E9F41E3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Alumni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F0-C144-BAF8-DCD0FAF767D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F0-C144-BAF8-DCD0FAF767DF}"/>
              </c:ext>
            </c:extLst>
          </c:dPt>
          <c:cat>
            <c:strRef>
              <c:f>Sheet1!$A$2:$A$3</c:f>
              <c:strCache>
                <c:ptCount val="2"/>
                <c:pt idx="0">
                  <c:v>Alumni Institutions Target</c:v>
                </c:pt>
                <c:pt idx="1">
                  <c:v>Alumni "Untargeted"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8800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94-F449-ABAE-F276C385E0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B1F9D8-86F3-7646-B303-C6198BBB667E}" type="doc">
      <dgm:prSet loTypeId="urn:microsoft.com/office/officeart/2005/8/layout/venn1" loCatId="" qsTypeId="urn:microsoft.com/office/officeart/2005/8/quickstyle/simple1" qsCatId="simple" csTypeId="urn:microsoft.com/office/officeart/2005/8/colors/accent1_2" csCatId="accent1" phldr="1"/>
      <dgm:spPr/>
    </dgm:pt>
    <dgm:pt modelId="{9F4CD4D1-89B3-5749-A448-3E2773465ECE}">
      <dgm:prSet phldrT="[Text]"/>
      <dgm:spPr/>
      <dgm:t>
        <a:bodyPr/>
        <a:lstStyle/>
        <a:p>
          <a:r>
            <a:rPr lang="en-GB"/>
            <a:t>Students</a:t>
          </a:r>
        </a:p>
      </dgm:t>
    </dgm:pt>
    <dgm:pt modelId="{0B7E0FCF-F7FF-894E-86D2-321FEA7D58A4}" type="parTrans" cxnId="{469F05DF-70A9-3740-89FC-6F13DF6E6245}">
      <dgm:prSet/>
      <dgm:spPr/>
      <dgm:t>
        <a:bodyPr/>
        <a:lstStyle/>
        <a:p>
          <a:endParaRPr lang="en-GB"/>
        </a:p>
      </dgm:t>
    </dgm:pt>
    <dgm:pt modelId="{23B79368-F157-3E40-AC18-ECE4527649B9}" type="sibTrans" cxnId="{469F05DF-70A9-3740-89FC-6F13DF6E6245}">
      <dgm:prSet/>
      <dgm:spPr/>
      <dgm:t>
        <a:bodyPr/>
        <a:lstStyle/>
        <a:p>
          <a:endParaRPr lang="en-GB"/>
        </a:p>
      </dgm:t>
    </dgm:pt>
    <dgm:pt modelId="{34786A04-C074-184C-A50C-54146308F2DA}">
      <dgm:prSet phldrT="[Text]"/>
      <dgm:spPr/>
      <dgm:t>
        <a:bodyPr/>
        <a:lstStyle/>
        <a:p>
          <a:r>
            <a:rPr lang="en-GB"/>
            <a:t>Colleges</a:t>
          </a:r>
        </a:p>
      </dgm:t>
    </dgm:pt>
    <dgm:pt modelId="{E5D0BB84-7780-D54D-8E5C-083C3E6F5A1E}" type="parTrans" cxnId="{1363F544-AB7B-C44C-B276-56B5CD778989}">
      <dgm:prSet/>
      <dgm:spPr/>
      <dgm:t>
        <a:bodyPr/>
        <a:lstStyle/>
        <a:p>
          <a:endParaRPr lang="en-GB"/>
        </a:p>
      </dgm:t>
    </dgm:pt>
    <dgm:pt modelId="{D7D8D49A-96A3-C74A-ACC0-26C2122CA971}" type="sibTrans" cxnId="{1363F544-AB7B-C44C-B276-56B5CD778989}">
      <dgm:prSet/>
      <dgm:spPr/>
      <dgm:t>
        <a:bodyPr/>
        <a:lstStyle/>
        <a:p>
          <a:endParaRPr lang="en-GB"/>
        </a:p>
      </dgm:t>
    </dgm:pt>
    <dgm:pt modelId="{E30C0F19-36C1-AD44-AEFE-E50A6CA21CFF}">
      <dgm:prSet phldrT="[Text]"/>
      <dgm:spPr/>
      <dgm:t>
        <a:bodyPr/>
        <a:lstStyle/>
        <a:p>
          <a:r>
            <a:rPr lang="en-GB"/>
            <a:t>Alumni</a:t>
          </a:r>
        </a:p>
      </dgm:t>
    </dgm:pt>
    <dgm:pt modelId="{3F29C7A4-77AF-9C48-B3BA-79109218425F}" type="parTrans" cxnId="{7954DD38-91CB-6A46-9A07-3E043910E4B9}">
      <dgm:prSet/>
      <dgm:spPr/>
      <dgm:t>
        <a:bodyPr/>
        <a:lstStyle/>
        <a:p>
          <a:endParaRPr lang="en-GB"/>
        </a:p>
      </dgm:t>
    </dgm:pt>
    <dgm:pt modelId="{7423CA43-925C-824D-B235-6501C3292B67}" type="sibTrans" cxnId="{7954DD38-91CB-6A46-9A07-3E043910E4B9}">
      <dgm:prSet/>
      <dgm:spPr/>
      <dgm:t>
        <a:bodyPr/>
        <a:lstStyle/>
        <a:p>
          <a:endParaRPr lang="en-GB"/>
        </a:p>
      </dgm:t>
    </dgm:pt>
    <dgm:pt modelId="{0E921D83-A4E0-2343-AF58-7A4DB096BDD2}" type="pres">
      <dgm:prSet presAssocID="{DFB1F9D8-86F3-7646-B303-C6198BBB667E}" presName="compositeShape" presStyleCnt="0">
        <dgm:presLayoutVars>
          <dgm:chMax val="7"/>
          <dgm:dir/>
          <dgm:resizeHandles val="exact"/>
        </dgm:presLayoutVars>
      </dgm:prSet>
      <dgm:spPr/>
    </dgm:pt>
    <dgm:pt modelId="{427FA294-FF4A-334D-9407-1F2AF7441BD4}" type="pres">
      <dgm:prSet presAssocID="{9F4CD4D1-89B3-5749-A448-3E2773465ECE}" presName="circ1" presStyleLbl="vennNode1" presStyleIdx="0" presStyleCnt="3"/>
      <dgm:spPr/>
    </dgm:pt>
    <dgm:pt modelId="{7ABEB95D-3535-C74E-8E79-FF891BDFD5F5}" type="pres">
      <dgm:prSet presAssocID="{9F4CD4D1-89B3-5749-A448-3E2773465ECE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7F04C06-C97C-EB4C-93CB-4E9698870EDD}" type="pres">
      <dgm:prSet presAssocID="{34786A04-C074-184C-A50C-54146308F2DA}" presName="circ2" presStyleLbl="vennNode1" presStyleIdx="1" presStyleCnt="3"/>
      <dgm:spPr/>
    </dgm:pt>
    <dgm:pt modelId="{2AA15D42-ED2F-C94B-97B7-250DA2F177E0}" type="pres">
      <dgm:prSet presAssocID="{34786A04-C074-184C-A50C-54146308F2DA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A363C98-AB54-D441-BED4-96571C2AAB7D}" type="pres">
      <dgm:prSet presAssocID="{E30C0F19-36C1-AD44-AEFE-E50A6CA21CFF}" presName="circ3" presStyleLbl="vennNode1" presStyleIdx="2" presStyleCnt="3"/>
      <dgm:spPr/>
    </dgm:pt>
    <dgm:pt modelId="{768677E1-2DC4-E04C-A020-571A6E1A8A8C}" type="pres">
      <dgm:prSet presAssocID="{E30C0F19-36C1-AD44-AEFE-E50A6CA21CF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26F36A01-D8EE-9246-B781-5009ADED5DA7}" type="presOf" srcId="{E30C0F19-36C1-AD44-AEFE-E50A6CA21CFF}" destId="{AA363C98-AB54-D441-BED4-96571C2AAB7D}" srcOrd="0" destOrd="0" presId="urn:microsoft.com/office/officeart/2005/8/layout/venn1"/>
    <dgm:cxn modelId="{2F0FAB2D-8AD8-0D40-B774-4D6E0158A090}" type="presOf" srcId="{E30C0F19-36C1-AD44-AEFE-E50A6CA21CFF}" destId="{768677E1-2DC4-E04C-A020-571A6E1A8A8C}" srcOrd="1" destOrd="0" presId="urn:microsoft.com/office/officeart/2005/8/layout/venn1"/>
    <dgm:cxn modelId="{7954DD38-91CB-6A46-9A07-3E043910E4B9}" srcId="{DFB1F9D8-86F3-7646-B303-C6198BBB667E}" destId="{E30C0F19-36C1-AD44-AEFE-E50A6CA21CFF}" srcOrd="2" destOrd="0" parTransId="{3F29C7A4-77AF-9C48-B3BA-79109218425F}" sibTransId="{7423CA43-925C-824D-B235-6501C3292B67}"/>
    <dgm:cxn modelId="{1363F544-AB7B-C44C-B276-56B5CD778989}" srcId="{DFB1F9D8-86F3-7646-B303-C6198BBB667E}" destId="{34786A04-C074-184C-A50C-54146308F2DA}" srcOrd="1" destOrd="0" parTransId="{E5D0BB84-7780-D54D-8E5C-083C3E6F5A1E}" sibTransId="{D7D8D49A-96A3-C74A-ACC0-26C2122CA971}"/>
    <dgm:cxn modelId="{6AF0EE53-A573-0248-A31F-E654BC60C0F7}" type="presOf" srcId="{DFB1F9D8-86F3-7646-B303-C6198BBB667E}" destId="{0E921D83-A4E0-2343-AF58-7A4DB096BDD2}" srcOrd="0" destOrd="0" presId="urn:microsoft.com/office/officeart/2005/8/layout/venn1"/>
    <dgm:cxn modelId="{CB64406F-D02E-094A-8F43-D02BC04D8AA1}" type="presOf" srcId="{34786A04-C074-184C-A50C-54146308F2DA}" destId="{47F04C06-C97C-EB4C-93CB-4E9698870EDD}" srcOrd="0" destOrd="0" presId="urn:microsoft.com/office/officeart/2005/8/layout/venn1"/>
    <dgm:cxn modelId="{D6420F7F-CC9E-A743-A2C9-3530C1A48206}" type="presOf" srcId="{34786A04-C074-184C-A50C-54146308F2DA}" destId="{2AA15D42-ED2F-C94B-97B7-250DA2F177E0}" srcOrd="1" destOrd="0" presId="urn:microsoft.com/office/officeart/2005/8/layout/venn1"/>
    <dgm:cxn modelId="{469F05DF-70A9-3740-89FC-6F13DF6E6245}" srcId="{DFB1F9D8-86F3-7646-B303-C6198BBB667E}" destId="{9F4CD4D1-89B3-5749-A448-3E2773465ECE}" srcOrd="0" destOrd="0" parTransId="{0B7E0FCF-F7FF-894E-86D2-321FEA7D58A4}" sibTransId="{23B79368-F157-3E40-AC18-ECE4527649B9}"/>
    <dgm:cxn modelId="{3609B2E1-0DC0-CC4D-A527-9AD71F975DDA}" type="presOf" srcId="{9F4CD4D1-89B3-5749-A448-3E2773465ECE}" destId="{7ABEB95D-3535-C74E-8E79-FF891BDFD5F5}" srcOrd="1" destOrd="0" presId="urn:microsoft.com/office/officeart/2005/8/layout/venn1"/>
    <dgm:cxn modelId="{D60926FE-DA25-0E41-95F1-2E2F8DBE5074}" type="presOf" srcId="{9F4CD4D1-89B3-5749-A448-3E2773465ECE}" destId="{427FA294-FF4A-334D-9407-1F2AF7441BD4}" srcOrd="0" destOrd="0" presId="urn:microsoft.com/office/officeart/2005/8/layout/venn1"/>
    <dgm:cxn modelId="{483FD889-333C-4449-AFE2-13C50B2FA7D1}" type="presParOf" srcId="{0E921D83-A4E0-2343-AF58-7A4DB096BDD2}" destId="{427FA294-FF4A-334D-9407-1F2AF7441BD4}" srcOrd="0" destOrd="0" presId="urn:microsoft.com/office/officeart/2005/8/layout/venn1"/>
    <dgm:cxn modelId="{5004855D-AEE7-944C-9901-1327F82E112D}" type="presParOf" srcId="{0E921D83-A4E0-2343-AF58-7A4DB096BDD2}" destId="{7ABEB95D-3535-C74E-8E79-FF891BDFD5F5}" srcOrd="1" destOrd="0" presId="urn:microsoft.com/office/officeart/2005/8/layout/venn1"/>
    <dgm:cxn modelId="{7AF8858C-B314-DF47-BB46-6ED0F2132271}" type="presParOf" srcId="{0E921D83-A4E0-2343-AF58-7A4DB096BDD2}" destId="{47F04C06-C97C-EB4C-93CB-4E9698870EDD}" srcOrd="2" destOrd="0" presId="urn:microsoft.com/office/officeart/2005/8/layout/venn1"/>
    <dgm:cxn modelId="{F1DF2AFF-E615-EC42-B151-AC3344169051}" type="presParOf" srcId="{0E921D83-A4E0-2343-AF58-7A4DB096BDD2}" destId="{2AA15D42-ED2F-C94B-97B7-250DA2F177E0}" srcOrd="3" destOrd="0" presId="urn:microsoft.com/office/officeart/2005/8/layout/venn1"/>
    <dgm:cxn modelId="{54BFFD9A-DDBF-374D-9BAD-B8EDA1C28915}" type="presParOf" srcId="{0E921D83-A4E0-2343-AF58-7A4DB096BDD2}" destId="{AA363C98-AB54-D441-BED4-96571C2AAB7D}" srcOrd="4" destOrd="0" presId="urn:microsoft.com/office/officeart/2005/8/layout/venn1"/>
    <dgm:cxn modelId="{E3535169-F729-2D40-BE1D-C272D63E2C12}" type="presParOf" srcId="{0E921D83-A4E0-2343-AF58-7A4DB096BDD2}" destId="{768677E1-2DC4-E04C-A020-571A6E1A8A8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7FA294-FF4A-334D-9407-1F2AF7441BD4}">
      <dsp:nvSpPr>
        <dsp:cNvPr id="0" name=""/>
        <dsp:cNvSpPr/>
      </dsp:nvSpPr>
      <dsp:spPr>
        <a:xfrm>
          <a:off x="790509" y="37200"/>
          <a:ext cx="1785634" cy="17856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Students</a:t>
          </a:r>
        </a:p>
      </dsp:txBody>
      <dsp:txXfrm>
        <a:off x="1028594" y="349686"/>
        <a:ext cx="1309465" cy="803535"/>
      </dsp:txXfrm>
    </dsp:sp>
    <dsp:sp modelId="{47F04C06-C97C-EB4C-93CB-4E9698870EDD}">
      <dsp:nvSpPr>
        <dsp:cNvPr id="0" name=""/>
        <dsp:cNvSpPr/>
      </dsp:nvSpPr>
      <dsp:spPr>
        <a:xfrm>
          <a:off x="1434826" y="1153222"/>
          <a:ext cx="1785634" cy="17856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Colleges</a:t>
          </a:r>
        </a:p>
      </dsp:txBody>
      <dsp:txXfrm>
        <a:off x="1980932" y="1614511"/>
        <a:ext cx="1071380" cy="982099"/>
      </dsp:txXfrm>
    </dsp:sp>
    <dsp:sp modelId="{AA363C98-AB54-D441-BED4-96571C2AAB7D}">
      <dsp:nvSpPr>
        <dsp:cNvPr id="0" name=""/>
        <dsp:cNvSpPr/>
      </dsp:nvSpPr>
      <dsp:spPr>
        <a:xfrm>
          <a:off x="146193" y="1153222"/>
          <a:ext cx="1785634" cy="178563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Alumni</a:t>
          </a:r>
        </a:p>
      </dsp:txBody>
      <dsp:txXfrm>
        <a:off x="314340" y="1614511"/>
        <a:ext cx="1071380" cy="982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E7DB5-AA8B-B142-8365-D88095E92A34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F8E0C8-F804-2C47-A4EA-DAA8E353D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5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about Ami Estonia trip, mention what happened to the funding and the whole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8E0C8-F804-2C47-A4EA-DAA8E353D1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21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Then we zoom out; there are many people who are not able to achieve the funding that they need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8E0C8-F804-2C47-A4EA-DAA8E353D1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47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/>
              <a:t>Spoken to more than 15+ development offices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F8E0C8-F804-2C47-A4EA-DAA8E353D1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5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joindono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Dono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ntente Cordiale Success for Somerville Medic">
            <a:extLst>
              <a:ext uri="{FF2B5EF4-FFF2-40B4-BE49-F238E27FC236}">
                <a16:creationId xmlns:a16="http://schemas.microsoft.com/office/drawing/2014/main" id="{88DA4BF9-D965-659C-E8B7-CB2BDDC782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2934072" y="568733"/>
            <a:ext cx="5725120" cy="572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99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3CD0-0855-FE2A-6902-A9CDE8526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ntente Cordiale Success for Somerville Medic">
            <a:extLst>
              <a:ext uri="{FF2B5EF4-FFF2-40B4-BE49-F238E27FC236}">
                <a16:creationId xmlns:a16="http://schemas.microsoft.com/office/drawing/2014/main" id="{FC0D13EF-9484-55EB-CA7C-6BD0CC27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6906785" y="3665331"/>
            <a:ext cx="840052" cy="836974"/>
          </a:xfrm>
          <a:prstGeom prst="rect">
            <a:avLst/>
          </a:prstGeom>
        </p:spPr>
      </p:pic>
      <p:pic>
        <p:nvPicPr>
          <p:cNvPr id="3" name="Picture 2" descr="Entente Cordiale Success for Somerville Medic">
            <a:extLst>
              <a:ext uri="{FF2B5EF4-FFF2-40B4-BE49-F238E27FC236}">
                <a16:creationId xmlns:a16="http://schemas.microsoft.com/office/drawing/2014/main" id="{EE9D6135-F59A-1ED4-A235-9997C7F609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4445164" y="3492030"/>
            <a:ext cx="840052" cy="836974"/>
          </a:xfrm>
          <a:prstGeom prst="rect">
            <a:avLst/>
          </a:prstGeom>
        </p:spPr>
      </p:pic>
      <p:pic>
        <p:nvPicPr>
          <p:cNvPr id="24" name="Picture 23" descr="Entente Cordiale Success for Somerville Medic">
            <a:extLst>
              <a:ext uri="{FF2B5EF4-FFF2-40B4-BE49-F238E27FC236}">
                <a16:creationId xmlns:a16="http://schemas.microsoft.com/office/drawing/2014/main" id="{FE2CE057-4E9E-21AF-C14F-996060051C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5968204" y="415227"/>
            <a:ext cx="840052" cy="836974"/>
          </a:xfrm>
          <a:prstGeom prst="rect">
            <a:avLst/>
          </a:prstGeom>
        </p:spPr>
      </p:pic>
      <p:pic>
        <p:nvPicPr>
          <p:cNvPr id="28" name="Picture 27" descr="Entente Cordiale Success for Somerville Medic">
            <a:extLst>
              <a:ext uri="{FF2B5EF4-FFF2-40B4-BE49-F238E27FC236}">
                <a16:creationId xmlns:a16="http://schemas.microsoft.com/office/drawing/2014/main" id="{B713B75A-B28F-C97B-71E7-763EFB85CD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752355" y="415227"/>
            <a:ext cx="840052" cy="836974"/>
          </a:xfrm>
          <a:prstGeom prst="rect">
            <a:avLst/>
          </a:prstGeom>
        </p:spPr>
      </p:pic>
      <p:pic>
        <p:nvPicPr>
          <p:cNvPr id="30" name="Picture 29" descr="Entente Cordiale Success for Somerville Medic">
            <a:extLst>
              <a:ext uri="{FF2B5EF4-FFF2-40B4-BE49-F238E27FC236}">
                <a16:creationId xmlns:a16="http://schemas.microsoft.com/office/drawing/2014/main" id="{19D55B1A-588B-E8AD-BE01-EA6593684C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1044242" y="3562007"/>
            <a:ext cx="840052" cy="836974"/>
          </a:xfrm>
          <a:prstGeom prst="rect">
            <a:avLst/>
          </a:prstGeom>
        </p:spPr>
      </p:pic>
      <p:pic>
        <p:nvPicPr>
          <p:cNvPr id="36" name="Picture 35" descr="Entente Cordiale Success for Somerville Medic">
            <a:extLst>
              <a:ext uri="{FF2B5EF4-FFF2-40B4-BE49-F238E27FC236}">
                <a16:creationId xmlns:a16="http://schemas.microsoft.com/office/drawing/2014/main" id="{C1FCDFE4-BEFD-2E95-1575-BF56DFB4F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9936854" y="5704901"/>
            <a:ext cx="840052" cy="836974"/>
          </a:xfrm>
          <a:prstGeom prst="rect">
            <a:avLst/>
          </a:prstGeom>
        </p:spPr>
      </p:pic>
      <p:pic>
        <p:nvPicPr>
          <p:cNvPr id="53" name="Picture 52" descr="Entente Cordiale Success for Somerville Medic">
            <a:extLst>
              <a:ext uri="{FF2B5EF4-FFF2-40B4-BE49-F238E27FC236}">
                <a16:creationId xmlns:a16="http://schemas.microsoft.com/office/drawing/2014/main" id="{7998F44B-EA95-426B-7500-AF00D2E8F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11028595" y="3588936"/>
            <a:ext cx="840052" cy="836974"/>
          </a:xfrm>
          <a:prstGeom prst="rect">
            <a:avLst/>
          </a:prstGeom>
        </p:spPr>
      </p:pic>
      <p:pic>
        <p:nvPicPr>
          <p:cNvPr id="55" name="Picture 54" descr="Entente Cordiale Success for Somerville Medic">
            <a:extLst>
              <a:ext uri="{FF2B5EF4-FFF2-40B4-BE49-F238E27FC236}">
                <a16:creationId xmlns:a16="http://schemas.microsoft.com/office/drawing/2014/main" id="{1D9760BC-11C7-8BD1-B83B-B36E9BC90A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45" t="467" r="14196" b="-234"/>
          <a:stretch>
            <a:fillRect/>
          </a:stretch>
        </p:blipFill>
        <p:spPr>
          <a:xfrm>
            <a:off x="10299841" y="1913930"/>
            <a:ext cx="840052" cy="83697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D4FBE09-EF7B-DFF5-0CFC-F42DEF9F3EC0}"/>
              </a:ext>
            </a:extLst>
          </p:cNvPr>
          <p:cNvSpPr txBox="1"/>
          <p:nvPr/>
        </p:nvSpPr>
        <p:spPr>
          <a:xfrm>
            <a:off x="327800" y="4874770"/>
            <a:ext cx="6578985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/>
              <a:t>“Missed the bursary deadline.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/>
              <a:t>Paid for [travel to the national neuroanatomy Olympiad whilst representing Oxford] myself.”
</a:t>
            </a:r>
            <a:r>
              <a:rPr lang="en-US" i="1"/>
              <a:t>Third-year, Oxford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AA199B-D597-140C-20D2-23B7DABB26FC}"/>
              </a:ext>
            </a:extLst>
          </p:cNvPr>
          <p:cNvSpPr txBox="1"/>
          <p:nvPr/>
        </p:nvSpPr>
        <p:spPr>
          <a:xfrm>
            <a:off x="7260121" y="5794423"/>
            <a:ext cx="1923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Rowing blazer </a:t>
            </a:r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C558167-0E91-A654-F01C-D038B4DBDE8C}"/>
              </a:ext>
            </a:extLst>
          </p:cNvPr>
          <p:cNvSpPr txBox="1"/>
          <p:nvPr/>
        </p:nvSpPr>
        <p:spPr>
          <a:xfrm>
            <a:off x="8761657" y="605870"/>
            <a:ext cx="3027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/>
              <a:t>£400 flights for research and work experience</a:t>
            </a:r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468D50F-C5B4-6AC0-F93A-AA14E6980685}"/>
              </a:ext>
            </a:extLst>
          </p:cNvPr>
          <p:cNvSpPr txBox="1"/>
          <p:nvPr/>
        </p:nvSpPr>
        <p:spPr>
          <a:xfrm>
            <a:off x="8997609" y="4716257"/>
            <a:ext cx="2451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/>
              <a:t>Exam fees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4C8E6227-6D67-6B22-82C8-25633C58D46E}"/>
              </a:ext>
            </a:extLst>
          </p:cNvPr>
          <p:cNvSpPr txBox="1">
            <a:spLocks/>
          </p:cNvSpPr>
          <p:nvPr/>
        </p:nvSpPr>
        <p:spPr>
          <a:xfrm>
            <a:off x="2625289" y="1577453"/>
            <a:ext cx="7525882" cy="1286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/>
              <a:t>This is not a rare experience</a:t>
            </a:r>
          </a:p>
        </p:txBody>
      </p:sp>
    </p:spTree>
    <p:extLst>
      <p:ext uri="{BB962C8B-B14F-4D97-AF65-F5344CB8AC3E}">
        <p14:creationId xmlns:p14="http://schemas.microsoft.com/office/powerpoint/2010/main" val="3724400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E05D-75E8-8C60-ACA2-3A843615D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6688" y="1825624"/>
            <a:ext cx="3462454" cy="8395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/>
              <a:t>Students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22723A0-1504-702F-047F-DAF4C168C2E2}"/>
              </a:ext>
            </a:extLst>
          </p:cNvPr>
          <p:cNvSpPr txBox="1">
            <a:spLocks/>
          </p:cNvSpPr>
          <p:nvPr/>
        </p:nvSpPr>
        <p:spPr>
          <a:xfrm>
            <a:off x="6132941" y="2515763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9600"/>
              <a:t>73%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70B3A2-EDEA-7B75-AE73-0486BDD350F8}"/>
              </a:ext>
            </a:extLst>
          </p:cNvPr>
          <p:cNvSpPr txBox="1">
            <a:spLocks/>
          </p:cNvSpPr>
          <p:nvPr/>
        </p:nvSpPr>
        <p:spPr>
          <a:xfrm>
            <a:off x="6132941" y="2952593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C4A61-4DAE-98FA-D850-4D1CD3A017F9}"/>
              </a:ext>
            </a:extLst>
          </p:cNvPr>
          <p:cNvSpPr txBox="1"/>
          <p:nvPr/>
        </p:nvSpPr>
        <p:spPr>
          <a:xfrm>
            <a:off x="6832934" y="3684835"/>
            <a:ext cx="3904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Of funding applications rejected or underfunded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52191-2E42-8121-C30E-CC047AC09F8D}"/>
              </a:ext>
            </a:extLst>
          </p:cNvPr>
          <p:cNvSpPr txBox="1"/>
          <p:nvPr/>
        </p:nvSpPr>
        <p:spPr>
          <a:xfrm>
            <a:off x="305874" y="2969418"/>
            <a:ext cx="4497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/>
              <a:t>No clear way to get funding from alumni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Fragmented informal networks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6F2E883-C808-76D4-598A-DC82460E348C}"/>
              </a:ext>
            </a:extLst>
          </p:cNvPr>
          <p:cNvSpPr txBox="1">
            <a:spLocks/>
          </p:cNvSpPr>
          <p:nvPr/>
        </p:nvSpPr>
        <p:spPr>
          <a:xfrm>
            <a:off x="6027468" y="8038743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3800"/>
              <a:t>4 in 10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22A10FA-FD0E-3E6A-43D2-1823D1942BA6}"/>
              </a:ext>
            </a:extLst>
          </p:cNvPr>
          <p:cNvSpPr txBox="1">
            <a:spLocks/>
          </p:cNvSpPr>
          <p:nvPr/>
        </p:nvSpPr>
        <p:spPr>
          <a:xfrm>
            <a:off x="6027468" y="10047551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3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ECD011-E039-28F7-A453-6CC9099B5646}"/>
              </a:ext>
            </a:extLst>
          </p:cNvPr>
          <p:cNvSpPr txBox="1"/>
          <p:nvPr/>
        </p:nvSpPr>
        <p:spPr>
          <a:xfrm>
            <a:off x="6463474" y="9862885"/>
            <a:ext cx="4643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Doubt their donation ever reached the cause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FDB247-9162-72E0-E2B5-4E1FF08FFFFE}"/>
              </a:ext>
            </a:extLst>
          </p:cNvPr>
          <p:cNvSpPr txBox="1"/>
          <p:nvPr/>
        </p:nvSpPr>
        <p:spPr>
          <a:xfrm>
            <a:off x="5465257" y="10728754"/>
            <a:ext cx="63561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Lack of transparency for small donations</a:t>
            </a:r>
          </a:p>
          <a:p>
            <a:pPr>
              <a:buFontTx/>
              <a:buChar char="-"/>
            </a:pPr>
            <a:r>
              <a:rPr lang="en-US" sz="2000"/>
              <a:t>4 in 10 Britons doubt their money arrives to the cause they donated to</a:t>
            </a:r>
          </a:p>
          <a:p>
            <a:endParaRPr lang="en-US" sz="2000"/>
          </a:p>
          <a:p>
            <a:r>
              <a:rPr lang="en-US" sz="2000"/>
              <a:t>Younger alumni are not targeted</a:t>
            </a:r>
          </a:p>
          <a:p>
            <a:endParaRPr lang="en-US" sz="2000"/>
          </a:p>
          <a:p>
            <a:r>
              <a:rPr lang="en-US" sz="2000"/>
              <a:t>Minimal choice in where to donate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5432541-11BE-DBD8-47FF-21652E547B44}"/>
              </a:ext>
            </a:extLst>
          </p:cNvPr>
          <p:cNvSpPr txBox="1">
            <a:spLocks/>
          </p:cNvSpPr>
          <p:nvPr/>
        </p:nvSpPr>
        <p:spPr>
          <a:xfrm>
            <a:off x="594035" y="10507133"/>
            <a:ext cx="3462454" cy="839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Alumni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EF307E-EE33-84EE-C6DA-4E9B029AA6B2}"/>
              </a:ext>
            </a:extLst>
          </p:cNvPr>
          <p:cNvSpPr txBox="1"/>
          <p:nvPr/>
        </p:nvSpPr>
        <p:spPr>
          <a:xfrm>
            <a:off x="-567553" y="12539736"/>
            <a:ext cx="62168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i="1">
                <a:solidFill>
                  <a:srgbClr val="12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actively avoid asking
anyone in their twenties.”
</a:t>
            </a:r>
            <a:endParaRPr lang="en-US" sz="140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56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Director, Oxford college</a:t>
            </a:r>
            <a:endParaRPr lang="en-US"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A1C2D6-DA48-65F2-19C5-3D1021FE0FEE}"/>
              </a:ext>
            </a:extLst>
          </p:cNvPr>
          <p:cNvSpPr txBox="1"/>
          <p:nvPr/>
        </p:nvSpPr>
        <p:spPr>
          <a:xfrm>
            <a:off x="305874" y="5201142"/>
            <a:ext cx="41888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b="1"/>
              <a:t>Three respondents went without it entirely</a:t>
            </a:r>
            <a:r>
              <a:rPr lang="en-GB"/>
              <a:t> — forfeited the opportunity. That number is more affecting than the 73% rejection rate and it's currently nowhere in the deck.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BDABFF-CED6-8F57-E2C7-15B8981AACC1}"/>
              </a:ext>
            </a:extLst>
          </p:cNvPr>
          <p:cNvSpPr txBox="1"/>
          <p:nvPr/>
        </p:nvSpPr>
        <p:spPr>
          <a:xfrm>
            <a:off x="111274" y="4223779"/>
            <a:ext cx="46932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Students whose funding application was rejected score 7.1 — meaningfully above the 6.4 average</a:t>
            </a:r>
            <a:endParaRPr lang="en-US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445C494-2E99-3973-8C72-89AA35B0E43C}"/>
              </a:ext>
            </a:extLst>
          </p:cNvPr>
          <p:cNvSpPr txBox="1">
            <a:spLocks/>
          </p:cNvSpPr>
          <p:nvPr/>
        </p:nvSpPr>
        <p:spPr>
          <a:xfrm>
            <a:off x="6132941" y="4540129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9600"/>
              <a:t>38%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3BFE3A40-4E1E-55D9-43C2-56E93819966B}"/>
              </a:ext>
            </a:extLst>
          </p:cNvPr>
          <p:cNvSpPr txBox="1">
            <a:spLocks/>
          </p:cNvSpPr>
          <p:nvPr/>
        </p:nvSpPr>
        <p:spPr>
          <a:xfrm>
            <a:off x="6306248" y="5032258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FA4AA6-0DE5-49EC-B8DE-BEB108C4CBCF}"/>
              </a:ext>
            </a:extLst>
          </p:cNvPr>
          <p:cNvSpPr txBox="1"/>
          <p:nvPr/>
        </p:nvSpPr>
        <p:spPr>
          <a:xfrm>
            <a:off x="7670248" y="5908712"/>
            <a:ext cx="2148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/>
              <a:t>Of those paid abandoned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AFF84D5-6B38-3A44-8392-CF821F2AA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100392"/>
              </p:ext>
            </p:extLst>
          </p:nvPr>
        </p:nvGraphicFramePr>
        <p:xfrm>
          <a:off x="12718472" y="1549251"/>
          <a:ext cx="5521610" cy="367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161">
                  <a:extLst>
                    <a:ext uri="{9D8B030D-6E8A-4147-A177-3AD203B41FA5}">
                      <a16:colId xmlns:a16="http://schemas.microsoft.com/office/drawing/2014/main" val="4271768072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2354463353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2641448936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3848425403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2346669372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2905938007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1590280059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1486136580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181611075"/>
                    </a:ext>
                  </a:extLst>
                </a:gridCol>
                <a:gridCol w="552161">
                  <a:extLst>
                    <a:ext uri="{9D8B030D-6E8A-4147-A177-3AD203B41FA5}">
                      <a16:colId xmlns:a16="http://schemas.microsoft.com/office/drawing/2014/main" val="2247258702"/>
                    </a:ext>
                  </a:extLst>
                </a:gridCol>
              </a:tblGrid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086108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89440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990795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394349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065760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15453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10894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456346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017901"/>
                  </a:ext>
                </a:extLst>
              </a:tr>
              <a:tr h="36756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2924" marR="92924" marT="46461" marB="46461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415746"/>
                  </a:ext>
                </a:extLst>
              </a:tr>
            </a:tbl>
          </a:graphicData>
        </a:graphic>
      </p:graphicFrame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48C4620-BC96-1B6F-0AAE-1D49732CE8C4}"/>
              </a:ext>
            </a:extLst>
          </p:cNvPr>
          <p:cNvSpPr txBox="1">
            <a:spLocks/>
          </p:cNvSpPr>
          <p:nvPr/>
        </p:nvSpPr>
        <p:spPr>
          <a:xfrm>
            <a:off x="6193104" y="674288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9600"/>
              <a:t>8 of 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DB9E1E-71DB-53E8-2AE7-4001239A0077}"/>
              </a:ext>
            </a:extLst>
          </p:cNvPr>
          <p:cNvSpPr txBox="1"/>
          <p:nvPr/>
        </p:nvSpPr>
        <p:spPr>
          <a:xfrm>
            <a:off x="6573182" y="1863036"/>
            <a:ext cx="4755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/>
              <a:t>say their societies struggle to fund things </a:t>
            </a:r>
            <a:r>
              <a:rPr lang="en-GB" sz="1400" i="1"/>
              <a:t>often or always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23560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16EF5-B494-686B-BD5D-B62BBE7DF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F4295-BDC2-B5BA-278B-4F408E7D8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6688" y="1825624"/>
            <a:ext cx="3462454" cy="8395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/>
              <a:t>Students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9A998C7-0007-9041-EFAC-883A05045A4E}"/>
              </a:ext>
            </a:extLst>
          </p:cNvPr>
          <p:cNvSpPr txBox="1">
            <a:spLocks/>
          </p:cNvSpPr>
          <p:nvPr/>
        </p:nvSpPr>
        <p:spPr>
          <a:xfrm>
            <a:off x="6160121" y="960610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3800"/>
              <a:t>4 in 10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97E19CF-F98B-C826-10A4-C38DB9339FBC}"/>
              </a:ext>
            </a:extLst>
          </p:cNvPr>
          <p:cNvSpPr txBox="1">
            <a:spLocks/>
          </p:cNvSpPr>
          <p:nvPr/>
        </p:nvSpPr>
        <p:spPr>
          <a:xfrm>
            <a:off x="6160121" y="2969418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3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4EA9A-327B-094C-A1D9-7966E1FE0BB6}"/>
              </a:ext>
            </a:extLst>
          </p:cNvPr>
          <p:cNvSpPr txBox="1"/>
          <p:nvPr/>
        </p:nvSpPr>
        <p:spPr>
          <a:xfrm>
            <a:off x="6596127" y="2784752"/>
            <a:ext cx="4643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Doubt their donation ever reached the cause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C7E5DB-76DE-338C-1F5A-15191F3D289D}"/>
              </a:ext>
            </a:extLst>
          </p:cNvPr>
          <p:cNvSpPr txBox="1"/>
          <p:nvPr/>
        </p:nvSpPr>
        <p:spPr>
          <a:xfrm>
            <a:off x="5597910" y="3650621"/>
            <a:ext cx="63561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Lack of transparency for small donations</a:t>
            </a:r>
          </a:p>
          <a:p>
            <a:pPr>
              <a:buFontTx/>
              <a:buChar char="-"/>
            </a:pPr>
            <a:r>
              <a:rPr lang="en-US" sz="2000"/>
              <a:t>4 in 10 Britons doubt their money arrives to the cause they donated to</a:t>
            </a:r>
          </a:p>
          <a:p>
            <a:endParaRPr lang="en-US" sz="2000"/>
          </a:p>
          <a:p>
            <a:r>
              <a:rPr lang="en-US" sz="2000"/>
              <a:t>Younger alumni are not targeted</a:t>
            </a:r>
          </a:p>
          <a:p>
            <a:endParaRPr lang="en-US" sz="2000"/>
          </a:p>
          <a:p>
            <a:r>
              <a:rPr lang="en-US" sz="2000"/>
              <a:t>Minimal choice in where to donate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75D8E7A-20AF-9A05-0BF5-AD8B420FB37F}"/>
              </a:ext>
            </a:extLst>
          </p:cNvPr>
          <p:cNvSpPr txBox="1">
            <a:spLocks/>
          </p:cNvSpPr>
          <p:nvPr/>
        </p:nvSpPr>
        <p:spPr>
          <a:xfrm>
            <a:off x="726688" y="3429000"/>
            <a:ext cx="3462454" cy="839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Alumni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E286E-18F7-8509-C1F4-E308AB8A8C07}"/>
              </a:ext>
            </a:extLst>
          </p:cNvPr>
          <p:cNvSpPr txBox="1"/>
          <p:nvPr/>
        </p:nvSpPr>
        <p:spPr>
          <a:xfrm>
            <a:off x="-434900" y="5461603"/>
            <a:ext cx="62168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i="1">
                <a:solidFill>
                  <a:srgbClr val="12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actively avoid asking
anyone in their twenties.”
</a:t>
            </a:r>
            <a:endParaRPr lang="en-US" sz="140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56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Director, Oxford college</a:t>
            </a:r>
            <a:endParaRPr lang="en-US" sz="14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0C4846-493A-B51C-27F3-8DD8ABFB11DE}"/>
              </a:ext>
            </a:extLst>
          </p:cNvPr>
          <p:cNvSpPr txBox="1">
            <a:spLocks/>
          </p:cNvSpPr>
          <p:nvPr/>
        </p:nvSpPr>
        <p:spPr>
          <a:xfrm>
            <a:off x="726688" y="8433302"/>
            <a:ext cx="3462454" cy="839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College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4C1988-D636-F70C-9A88-CFFBDC42186B}"/>
              </a:ext>
            </a:extLst>
          </p:cNvPr>
          <p:cNvSpPr txBox="1">
            <a:spLocks/>
          </p:cNvSpPr>
          <p:nvPr/>
        </p:nvSpPr>
        <p:spPr>
          <a:xfrm>
            <a:off x="6160121" y="-6013506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3800"/>
              <a:t>73%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98704B9-4A88-7D1F-21A1-9FFA74AA42F2}"/>
              </a:ext>
            </a:extLst>
          </p:cNvPr>
          <p:cNvSpPr txBox="1">
            <a:spLocks/>
          </p:cNvSpPr>
          <p:nvPr/>
        </p:nvSpPr>
        <p:spPr>
          <a:xfrm>
            <a:off x="6160121" y="-4004698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3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5A691-C092-A3F9-2224-14984FB8F828}"/>
              </a:ext>
            </a:extLst>
          </p:cNvPr>
          <p:cNvSpPr txBox="1"/>
          <p:nvPr/>
        </p:nvSpPr>
        <p:spPr>
          <a:xfrm>
            <a:off x="6361177" y="-4181104"/>
            <a:ext cx="546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Of grant funded applications rejected or underfunded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9394FB-3F26-B096-069B-52CDB548EC7C}"/>
              </a:ext>
            </a:extLst>
          </p:cNvPr>
          <p:cNvSpPr txBox="1"/>
          <p:nvPr/>
        </p:nvSpPr>
        <p:spPr>
          <a:xfrm>
            <a:off x="6160121" y="-3278459"/>
            <a:ext cx="60997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/>
              <a:t>No clear way to get funding from alumni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800"/>
              <a:t>Fragmented informal networks</a:t>
            </a: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2C9A1159-C0F6-BD8C-1EBF-96271D1842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46950251"/>
              </p:ext>
            </p:extLst>
          </p:nvPr>
        </p:nvGraphicFramePr>
        <p:xfrm>
          <a:off x="6160121" y="8082616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F8EBDC2-0B77-AAF0-A78C-E252EB989FEF}"/>
              </a:ext>
            </a:extLst>
          </p:cNvPr>
          <p:cNvSpPr txBox="1"/>
          <p:nvPr/>
        </p:nvSpPr>
        <p:spPr>
          <a:xfrm>
            <a:off x="5127571" y="12563752"/>
            <a:ext cx="64248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/>
              <a:t>Do not have the resources to provide transparency and choice for every donor</a:t>
            </a:r>
          </a:p>
          <a:p>
            <a:pPr marL="0" indent="0">
              <a:buNone/>
            </a:pPr>
            <a:r>
              <a:rPr lang="en-US"/>
              <a:t>Concerned about donor fatigue</a:t>
            </a:r>
          </a:p>
          <a:p>
            <a:pPr marL="0" indent="0">
              <a:buNone/>
            </a:pPr>
            <a:r>
              <a:rPr lang="en-US"/>
              <a:t>- Flooding alumni inboxes with emails and requests for donations</a:t>
            </a:r>
          </a:p>
        </p:txBody>
      </p:sp>
    </p:spTree>
    <p:extLst>
      <p:ext uri="{BB962C8B-B14F-4D97-AF65-F5344CB8AC3E}">
        <p14:creationId xmlns:p14="http://schemas.microsoft.com/office/powerpoint/2010/main" val="27518917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04EC-8367-2BCA-54C8-3DBDEBE4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224DA-50D4-52ED-15FB-AA7246BC5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6688" y="1825624"/>
            <a:ext cx="3462454" cy="8395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/>
              <a:t>Students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21E53DD-BE47-4D03-068A-F7D23323129B}"/>
              </a:ext>
            </a:extLst>
          </p:cNvPr>
          <p:cNvSpPr txBox="1">
            <a:spLocks/>
          </p:cNvSpPr>
          <p:nvPr/>
        </p:nvSpPr>
        <p:spPr>
          <a:xfrm>
            <a:off x="5781904" y="-5832076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3800"/>
              <a:t>4 in 10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64ADDCF-E64D-9931-E707-A0ACB9C5A0B7}"/>
              </a:ext>
            </a:extLst>
          </p:cNvPr>
          <p:cNvSpPr txBox="1">
            <a:spLocks/>
          </p:cNvSpPr>
          <p:nvPr/>
        </p:nvSpPr>
        <p:spPr>
          <a:xfrm>
            <a:off x="5781904" y="-3823268"/>
            <a:ext cx="5515206" cy="2008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23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1AE725-711E-E54A-FDA5-8C6125441139}"/>
              </a:ext>
            </a:extLst>
          </p:cNvPr>
          <p:cNvSpPr txBox="1"/>
          <p:nvPr/>
        </p:nvSpPr>
        <p:spPr>
          <a:xfrm>
            <a:off x="6217910" y="-4007934"/>
            <a:ext cx="4643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Doubt their donation ever reached the cause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0AEEB6-5E16-7950-B1CF-6E1BCF5DF33F}"/>
              </a:ext>
            </a:extLst>
          </p:cNvPr>
          <p:cNvSpPr txBox="1"/>
          <p:nvPr/>
        </p:nvSpPr>
        <p:spPr>
          <a:xfrm>
            <a:off x="5219693" y="-3142065"/>
            <a:ext cx="635619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/>
              <a:t>Lack of transparency for small donations</a:t>
            </a:r>
          </a:p>
          <a:p>
            <a:pPr>
              <a:buFontTx/>
              <a:buChar char="-"/>
            </a:pPr>
            <a:r>
              <a:rPr lang="en-US" sz="2000"/>
              <a:t>4 in 10 Britons doubt their money arrives to the cause they donated to</a:t>
            </a:r>
          </a:p>
          <a:p>
            <a:endParaRPr lang="en-US" sz="2000"/>
          </a:p>
          <a:p>
            <a:r>
              <a:rPr lang="en-US" sz="2000"/>
              <a:t>Younger alumni are not targeted</a:t>
            </a:r>
          </a:p>
          <a:p>
            <a:endParaRPr lang="en-US" sz="2000"/>
          </a:p>
          <a:p>
            <a:r>
              <a:rPr lang="en-US" sz="2000"/>
              <a:t>Minimal choice in where to donate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8E4EF9-B2B2-4C8D-4D36-4FFBC7D7A6F5}"/>
              </a:ext>
            </a:extLst>
          </p:cNvPr>
          <p:cNvSpPr txBox="1">
            <a:spLocks/>
          </p:cNvSpPr>
          <p:nvPr/>
        </p:nvSpPr>
        <p:spPr>
          <a:xfrm>
            <a:off x="726688" y="3429000"/>
            <a:ext cx="3462454" cy="839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Alumni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98BDB7-F16E-DD84-A288-D86794BCA382}"/>
              </a:ext>
            </a:extLst>
          </p:cNvPr>
          <p:cNvSpPr txBox="1"/>
          <p:nvPr/>
        </p:nvSpPr>
        <p:spPr>
          <a:xfrm>
            <a:off x="-650487" y="-1814460"/>
            <a:ext cx="62168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i="1">
                <a:solidFill>
                  <a:srgbClr val="12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actively avoid asking
anyone in their twenties.”
</a:t>
            </a:r>
            <a:endParaRPr lang="en-US" sz="140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100">
                <a:solidFill>
                  <a:srgbClr val="56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Director, Oxford college</a:t>
            </a:r>
            <a:endParaRPr lang="en-US" sz="14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2FF899-6188-4F4D-DE81-9BEED60D0C93}"/>
              </a:ext>
            </a:extLst>
          </p:cNvPr>
          <p:cNvSpPr txBox="1">
            <a:spLocks/>
          </p:cNvSpPr>
          <p:nvPr/>
        </p:nvSpPr>
        <p:spPr>
          <a:xfrm>
            <a:off x="726688" y="5032376"/>
            <a:ext cx="3462454" cy="839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College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15643930-D280-0F97-D7D2-3F255A890CF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64703653"/>
              </p:ext>
            </p:extLst>
          </p:nvPr>
        </p:nvGraphicFramePr>
        <p:xfrm>
          <a:off x="6722772" y="512144"/>
          <a:ext cx="3878248" cy="3336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7D9134C-FA36-5603-ED63-A57077497BC4}"/>
              </a:ext>
            </a:extLst>
          </p:cNvPr>
          <p:cNvSpPr txBox="1"/>
          <p:nvPr/>
        </p:nvSpPr>
        <p:spPr>
          <a:xfrm>
            <a:off x="-1049186" y="6459959"/>
            <a:ext cx="64248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/>
              <a:t>Do not have the resources to provide transparency and choice for every donor</a:t>
            </a:r>
          </a:p>
          <a:p>
            <a:pPr marL="0" indent="0">
              <a:buNone/>
            </a:pPr>
            <a:r>
              <a:rPr lang="en-US"/>
              <a:t>Concerned about donor fatigue</a:t>
            </a:r>
          </a:p>
          <a:p>
            <a:pPr marL="285750" indent="-285750">
              <a:buFontTx/>
              <a:buChar char="-"/>
            </a:pPr>
            <a:r>
              <a:rPr lang="en-US"/>
              <a:t>Flooding alumni inboxes with emails and requests for donations</a:t>
            </a:r>
          </a:p>
          <a:p>
            <a:r>
              <a:rPr lang="en-US"/>
              <a:t>Colleges are already moving away from the telethon because of high running costs</a:t>
            </a:r>
          </a:p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1329B-598C-EBF9-6C9A-372F5458C155}"/>
              </a:ext>
            </a:extLst>
          </p:cNvPr>
          <p:cNvSpPr txBox="1"/>
          <p:nvPr/>
        </p:nvSpPr>
        <p:spPr>
          <a:xfrm>
            <a:off x="536863" y="398041"/>
            <a:ext cx="64215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"£2,000 is roughly the threshold where small-project fundraising becomes a problem for the development office.”</a:t>
            </a:r>
          </a:p>
          <a:p>
            <a:pPr algn="ctr"/>
            <a:endParaRPr lang="en-GB"/>
          </a:p>
          <a:p>
            <a:pPr algn="ctr"/>
            <a:r>
              <a:rPr lang="en-US" b="1" i="1"/>
              <a:t>Director of a Development Office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755C43-FEBF-9AB5-8886-885F955176BB}"/>
              </a:ext>
            </a:extLst>
          </p:cNvPr>
          <p:cNvSpPr txBox="1"/>
          <p:nvPr/>
        </p:nvSpPr>
        <p:spPr>
          <a:xfrm>
            <a:off x="6802582" y="4710545"/>
            <a:ext cx="42810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2021: £56,000 from 200 donors</a:t>
            </a:r>
          </a:p>
          <a:p>
            <a:r>
              <a:rPr lang="en-US"/>
              <a:t>2026: £75,000 from 200 donors</a:t>
            </a:r>
          </a:p>
          <a:p>
            <a:endParaRPr lang="en-US"/>
          </a:p>
          <a:p>
            <a:r>
              <a:rPr lang="en-US"/>
              <a:t>(squeezing more from the same donors rather than being able to recruit as many new donors</a:t>
            </a:r>
          </a:p>
        </p:txBody>
      </p:sp>
    </p:spTree>
    <p:extLst>
      <p:ext uri="{BB962C8B-B14F-4D97-AF65-F5344CB8AC3E}">
        <p14:creationId xmlns:p14="http://schemas.microsoft.com/office/powerpoint/2010/main" val="1092114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BD3D0C-F07C-10DD-E1DF-9DA47E07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to Include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8145C-EB24-78E6-158A-36FB99A29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60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1A34-C318-AEDF-A678-6C060EEAC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Institutions are leaving money on the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2DF35-670B-1618-6309-FFFC6181F1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/>
              <a:t>Students typically only need £150-£500 </a:t>
            </a:r>
            <a:r>
              <a:rPr lang="en-GB">
                <a:sym typeface="Wingdings" pitchFamily="2" charset="2"/>
              </a:rPr>
              <a:t> huge market of alumni currently “untargeted”</a:t>
            </a:r>
          </a:p>
          <a:p>
            <a:r>
              <a:rPr lang="en-GB"/>
              <a:t>"small donors become big donors, so can't be dismissive of £5–20 gifts”</a:t>
            </a:r>
          </a:p>
          <a:p>
            <a:r>
              <a:rPr lang="en-GB">
                <a:sym typeface="Wingdings" pitchFamily="2" charset="2"/>
              </a:rPr>
              <a:t>Colleges consider &lt;5k (up to 10k) as a small ticket donor</a:t>
            </a:r>
          </a:p>
          <a:p>
            <a:endParaRPr lang="en-GB">
              <a:sym typeface="Wingdings" pitchFamily="2" charset="2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D81D28-7EAB-678B-0A67-F2EB7CBEC4C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2635817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86116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F0C7-13E9-EE2F-2466-573A872D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Imagine if this problem was solved?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94BA-AED2-8D9C-FD3C-8AB1FDFFBA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697CF-CAAC-E831-0734-5EDFB62652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2008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D805C2-181E-47F8-66B0-6A49B7C1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believe that every student should have access to the </a:t>
            </a:r>
            <a:r>
              <a:rPr lang="en-US" err="1"/>
              <a:t>opportunites</a:t>
            </a:r>
            <a:r>
              <a:rPr lang="en-US"/>
              <a:t> they deserve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25F518-4F81-0523-62D9-3D5C87A07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47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B53B-B168-F507-340F-3CA6235D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The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BDC3C-452A-30B7-CC10-E09E9EA2CC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/>
              <a:t>We aim to do this by making donations more:</a:t>
            </a:r>
          </a:p>
          <a:p>
            <a:pPr lvl="1"/>
            <a:r>
              <a:rPr lang="en-GB"/>
              <a:t>Transparent</a:t>
            </a:r>
          </a:p>
          <a:p>
            <a:pPr lvl="1"/>
            <a:r>
              <a:rPr lang="en-GB"/>
              <a:t>Seamless/Frictionless</a:t>
            </a:r>
          </a:p>
          <a:p>
            <a:pPr lvl="1"/>
            <a:endParaRPr lang="en-GB"/>
          </a:p>
          <a:p>
            <a:pPr marL="0" indent="0">
              <a:buNone/>
            </a:pPr>
            <a:r>
              <a:rPr lang="en-GB"/>
              <a:t>We decided to do this through an online crowdfunding platform</a:t>
            </a:r>
          </a:p>
          <a:p>
            <a:pPr lvl="1"/>
            <a:endParaRPr lang="en-GB"/>
          </a:p>
          <a:p>
            <a:pPr lvl="1"/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EADC6-AAD2-572D-D86C-654039161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3196" y="2644332"/>
            <a:ext cx="4268971" cy="1130226"/>
          </a:xfrm>
        </p:spPr>
        <p:txBody>
          <a:bodyPr/>
          <a:lstStyle/>
          <a:p>
            <a:r>
              <a:rPr lang="en-KE"/>
              <a:t>It’s a simple pipeline:</a:t>
            </a:r>
          </a:p>
          <a:p>
            <a:r>
              <a:rPr lang="en-KE" sz="2000"/>
              <a:t>Students post </a:t>
            </a:r>
            <a:r>
              <a:rPr lang="en-KE" sz="2000">
                <a:sym typeface="Wingdings" pitchFamily="2" charset="2"/>
              </a:rPr>
              <a:t> Alumni donate </a:t>
            </a:r>
          </a:p>
          <a:p>
            <a:pPr marL="0" indent="0">
              <a:buNone/>
            </a:pPr>
            <a:endParaRPr lang="en-KE" sz="2000">
              <a:sym typeface="Wingdings" pitchFamily="2" charset="2"/>
            </a:endParaRPr>
          </a:p>
          <a:p>
            <a:endParaRPr lang="en-KE" sz="2000"/>
          </a:p>
        </p:txBody>
      </p:sp>
    </p:spTree>
    <p:extLst>
      <p:ext uri="{BB962C8B-B14F-4D97-AF65-F5344CB8AC3E}">
        <p14:creationId xmlns:p14="http://schemas.microsoft.com/office/powerpoint/2010/main" val="3813663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E4EA-158C-1CC5-C79D-AF01273D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Meet Dono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67800F-98E0-368F-672E-2367EF0A59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We developed a platform to connect students in need to alumni willing to give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2ADE668-7080-CD8D-7005-09F5F05E37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3134597"/>
              </p:ext>
            </p:extLst>
          </p:nvPr>
        </p:nvGraphicFramePr>
        <p:xfrm>
          <a:off x="8354291" y="554181"/>
          <a:ext cx="3366654" cy="29760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42F28FC-3E56-6816-E29F-1740734709A5}"/>
              </a:ext>
            </a:extLst>
          </p:cNvPr>
          <p:cNvSpPr txBox="1"/>
          <p:nvPr/>
        </p:nvSpPr>
        <p:spPr>
          <a:xfrm>
            <a:off x="297873" y="5274679"/>
            <a:ext cx="4083287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/>
              <a:t>“Get young alumni onto the ladder who wouldn't otherwise give.”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i="1"/>
              <a:t>Director of Development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B8E02-AE87-F172-42A4-BABA69AB009C}"/>
              </a:ext>
            </a:extLst>
          </p:cNvPr>
          <p:cNvSpPr txBox="1"/>
          <p:nvPr/>
        </p:nvSpPr>
        <p:spPr>
          <a:xfrm>
            <a:off x="5098473" y="4259017"/>
            <a:ext cx="67956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"Small donations often function as test gifts” </a:t>
            </a:r>
            <a:r>
              <a:rPr lang="en-GB">
                <a:sym typeface="Wingdings" pitchFamily="2" charset="2"/>
              </a:rPr>
              <a:t></a:t>
            </a:r>
            <a:r>
              <a:rPr lang="en-GB"/>
              <a:t> we then capture this by providing updates and clear outcomes shown </a:t>
            </a:r>
            <a:r>
              <a:rPr lang="en-GB">
                <a:sym typeface="Wingdings" pitchFamily="2" charset="2"/>
              </a:rPr>
              <a:t></a:t>
            </a:r>
            <a:r>
              <a:rPr lang="en-GB"/>
              <a:t> increase uptake into the donor pipeline in a way that development offices cannot reasonably do</a:t>
            </a:r>
          </a:p>
          <a:p>
            <a:pPr algn="ctr"/>
            <a:endParaRPr lang="en-GB"/>
          </a:p>
          <a:p>
            <a:pPr algn="ctr"/>
            <a:r>
              <a:rPr lang="en-GB"/>
              <a:t>Outline the idea of how we work to ease the issues of the three major stakeholder</a:t>
            </a:r>
          </a:p>
        </p:txBody>
      </p:sp>
    </p:spTree>
    <p:extLst>
      <p:ext uri="{BB962C8B-B14F-4D97-AF65-F5344CB8AC3E}">
        <p14:creationId xmlns:p14="http://schemas.microsoft.com/office/powerpoint/2010/main" val="3721371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E947-BEB6-AA54-2952-FA63AFE0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F0C284-F016-107B-FE29-39E07D127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Our platform enables users to post specific causes, and builds a community that makes donation a more transparent process</a:t>
            </a:r>
          </a:p>
          <a:p>
            <a:r>
              <a:rPr lang="en-US"/>
              <a:t>Instead of seeing their money transfer to a void, alumni are informed about the allocation of their funds and maintain those ties to the institution</a:t>
            </a:r>
          </a:p>
          <a:p>
            <a:r>
              <a:rPr lang="en-US"/>
              <a:t>People like the itemized receipt 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B2487-631A-E8BB-8294-927D0D72511B}"/>
              </a:ext>
            </a:extLst>
          </p:cNvPr>
          <p:cNvSpPr txBox="1"/>
          <p:nvPr/>
        </p:nvSpPr>
        <p:spPr>
          <a:xfrm>
            <a:off x="7412182" y="588962"/>
            <a:ext cx="4253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>
                <a:hlinkClick r:id="rId2"/>
              </a:rPr>
              <a:t>https://joindono.com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745150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8340-F266-C0FA-06E1-64BAA5C9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BA0F-43E7-5A31-9AD3-45FC3377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Colleges are moving away from the telethon because of costs -&gt; market opportunity</a:t>
            </a:r>
          </a:p>
          <a:p>
            <a:r>
              <a:rPr lang="en-US"/>
              <a:t>Students are flagging this as a problem </a:t>
            </a:r>
            <a:r>
              <a:rPr lang="en-US">
                <a:sym typeface="Wingdings" pitchFamily="2" charset="2"/>
              </a:rPr>
              <a:t> </a:t>
            </a:r>
            <a:r>
              <a:rPr lang="en-US"/>
              <a:t>One college created a fund for discretionary spending for things outside the JCR budget -&gt; this is clearly a problem</a:t>
            </a:r>
          </a:p>
          <a:p>
            <a:r>
              <a:rPr lang="en-GB" b="1"/>
              <a:t>Email is failing:</a:t>
            </a:r>
            <a:r>
              <a:rPr lang="en-GB"/>
              <a:t> auto-filtered to promotions, open rates declining — said independently by nearly every office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7440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CF8B-C059-C75D-49BE-594BB3296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we compare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1BF02F-E93D-4080-CFCB-3389C3D59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831723"/>
              </p:ext>
            </p:extLst>
          </p:nvPr>
        </p:nvGraphicFramePr>
        <p:xfrm>
          <a:off x="245326" y="1829435"/>
          <a:ext cx="11474603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229">
                  <a:extLst>
                    <a:ext uri="{9D8B030D-6E8A-4147-A177-3AD203B41FA5}">
                      <a16:colId xmlns:a16="http://schemas.microsoft.com/office/drawing/2014/main" val="2297810553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874277449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2525580342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1705158534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2930138972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2879417164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3280896256"/>
                    </a:ext>
                  </a:extLst>
                </a:gridCol>
              </a:tblGrid>
              <a:tr h="5250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Built for £10 - £50 gifts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Item-level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Free to the institutions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Constantly live campaigns with a community that outlives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Student can start in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Discovery across all institutions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560326"/>
                  </a:ext>
                </a:extLst>
              </a:tr>
              <a:tr h="250792">
                <a:tc>
                  <a:txBody>
                    <a:bodyPr/>
                    <a:lstStyle/>
                    <a:p>
                      <a:r>
                        <a:rPr lang="en-US"/>
                        <a:t>Dono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49282"/>
                  </a:ext>
                </a:extLst>
              </a:tr>
              <a:tr h="618392">
                <a:tc>
                  <a:txBody>
                    <a:bodyPr/>
                    <a:lstStyle/>
                    <a:p>
                      <a:r>
                        <a:rPr lang="en-US"/>
                        <a:t>College Development Office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702735"/>
                  </a:ext>
                </a:extLst>
              </a:tr>
              <a:tr h="250792">
                <a:tc>
                  <a:txBody>
                    <a:bodyPr/>
                    <a:lstStyle/>
                    <a:p>
                      <a:r>
                        <a:rPr lang="en-US"/>
                        <a:t>GoFundMe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854628"/>
                  </a:ext>
                </a:extLst>
              </a:tr>
              <a:tr h="250792">
                <a:tc>
                  <a:txBody>
                    <a:bodyPr/>
                    <a:lstStyle/>
                    <a:p>
                      <a:r>
                        <a:rPr lang="en-US"/>
                        <a:t>Hubbub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101098"/>
                  </a:ext>
                </a:extLst>
              </a:tr>
              <a:tr h="618392">
                <a:tc>
                  <a:txBody>
                    <a:bodyPr/>
                    <a:lstStyle/>
                    <a:p>
                      <a:r>
                        <a:rPr lang="en-US"/>
                        <a:t>Instagram + Bank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57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09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8F9ECB-BDBE-49ED-76A6-6F30CDFC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 and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C186A-43BF-8CBB-E892-2AC445E0E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/>
              <a:t>Show results from demos we have</a:t>
            </a:r>
          </a:p>
          <a:p>
            <a:pPr marL="0" indent="0">
              <a:buNone/>
            </a:pPr>
            <a:endParaRPr lang="en-KE" sz="1600"/>
          </a:p>
          <a:p>
            <a:endParaRPr lang="en-KE" sz="1600"/>
          </a:p>
          <a:p>
            <a:endParaRPr lang="en-KE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0FFEA2-00F7-2796-69B0-4288DA9F9D98}"/>
              </a:ext>
            </a:extLst>
          </p:cNvPr>
          <p:cNvSpPr txBox="1"/>
          <p:nvPr/>
        </p:nvSpPr>
        <p:spPr>
          <a:xfrm>
            <a:off x="6788727" y="2228671"/>
            <a:ext cx="49322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"People like giving to people rather than institutions”</a:t>
            </a:r>
          </a:p>
          <a:p>
            <a:pPr algn="ctr"/>
            <a:endParaRPr lang="en-GB"/>
          </a:p>
          <a:p>
            <a:pPr algn="ctr"/>
            <a:r>
              <a:rPr lang="en-US" b="1" i="1"/>
              <a:t>Head of Development</a:t>
            </a:r>
          </a:p>
        </p:txBody>
      </p:sp>
    </p:spTree>
    <p:extLst>
      <p:ext uri="{BB962C8B-B14F-4D97-AF65-F5344CB8AC3E}">
        <p14:creationId xmlns:p14="http://schemas.microsoft.com/office/powerpoint/2010/main" val="1882817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CC1D-C7E5-84CB-1480-9E25E72A2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Business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A5183-FE4B-76EE-9C60-93698644A5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KE"/>
              <a:t>Each time someone processes a payment, we take a cut</a:t>
            </a:r>
          </a:p>
          <a:p>
            <a:r>
              <a:rPr lang="en-US">
                <a:solidFill>
                  <a:srgbClr val="56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 norm here: two Oxford colleges run donor-covers-the-fee checkouts today, one saving £3,000 a year. Students told us a platform skimming their money would put them off — so we don't.</a:t>
            </a:r>
            <a:endParaRPr lang="en-US"/>
          </a:p>
          <a:p>
            <a:r>
              <a:rPr lang="en-GB" b="1"/>
              <a:t>Fee resistance is a minority concern</a:t>
            </a:r>
            <a:r>
              <a:rPr lang="en-GB"/>
              <a:t>, which surprised me. Only 4 of 23 flagged worry about fees, and one named it as a dealbreaker. The notes read as though fees were a major risk; the raw data doesn't support that. It strengthens the donor-pays model.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325E9-5173-0B98-AE84-043FC9D8CF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/>
              <a:t>Routes to Market</a:t>
            </a:r>
          </a:p>
          <a:p>
            <a:pPr lvl="1"/>
            <a:r>
              <a:rPr lang="en-US">
                <a:solidFill>
                  <a:srgbClr val="56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society committees and word of mouth — it's already how they </a:t>
            </a:r>
            <a:r>
              <a:rPr lang="en-US" err="1">
                <a:solidFill>
                  <a:srgbClr val="56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</a:t>
            </a:r>
            <a:r>
              <a:rPr lang="en-US">
                <a:solidFill>
                  <a:srgbClr val="566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Alumni: the campaign link itself, forwarded into groups they're already in. Colleges: one demo case, then peer imitation.</a:t>
            </a:r>
            <a:endParaRPr lang="en-US"/>
          </a:p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42655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7AC0-2937-8DC0-A9DF-68BA8E83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How would we use investment?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B00E2-0F58-126C-3FB8-638A7CA075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98874-7D96-706B-A071-4B0BEB62CE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19480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D32E-19B7-9B62-4F98-7881422E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/>
              <a:t>Why us? The team behind Dono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A0D3E-3809-DBE9-C184-3DCD92D51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6C817-8ACD-CBBB-6C02-7568B36575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19897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619B-5B46-CDEF-0528-DAD100BC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Final Closing Slide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B808-F653-79CB-7E33-B05D532C6E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A9BB9-9406-E0B8-9CB7-529E49AB4E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29952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1064</Words>
  <Application>Microsoft Macintosh PowerPoint</Application>
  <PresentationFormat>Widescreen</PresentationFormat>
  <Paragraphs>161</Paragraphs>
  <Slides>20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Wingdings</vt:lpstr>
      <vt:lpstr>Office Theme</vt:lpstr>
      <vt:lpstr>Dono Pitch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Information to Include</vt:lpstr>
      <vt:lpstr>Institutions are leaving money on the table</vt:lpstr>
      <vt:lpstr>Imagine if this problem was solved?</vt:lpstr>
      <vt:lpstr>We believe that every student should have access to the opportunites they deserve</vt:lpstr>
      <vt:lpstr>The how</vt:lpstr>
      <vt:lpstr>Meet Dono</vt:lpstr>
      <vt:lpstr>Demo</vt:lpstr>
      <vt:lpstr>Why now?</vt:lpstr>
      <vt:lpstr>How we compare</vt:lpstr>
      <vt:lpstr>Traction and Validation</vt:lpstr>
      <vt:lpstr>Business Model</vt:lpstr>
      <vt:lpstr>How would we use investment?</vt:lpstr>
      <vt:lpstr>Why us? The team behind Dono</vt:lpstr>
      <vt:lpstr>Final Closing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Sashank Uday</cp:lastModifiedBy>
  <cp:revision>1</cp:revision>
  <dcterms:created xsi:type="dcterms:W3CDTF">2026-08-04T14:26:01Z</dcterms:created>
  <dcterms:modified xsi:type="dcterms:W3CDTF">2026-08-05T10:07:53Z</dcterms:modified>
</cp:coreProperties>
</file>