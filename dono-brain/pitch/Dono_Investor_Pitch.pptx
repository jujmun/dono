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6615A"/>
                </a:solidFill>
                <a:latin typeface="Arial"/>
              </a:defRPr>
            </a:pPr>
            <a:r>
              <a:rPr sz="1100" b="0" i="0" u="none" strike="noStrike">
                <a:solidFill>
                  <a:srgbClr val="56615A"/>
                </a:solidFill>
                <a:latin typeface="Arial"/>
              </a:rPr>
              <a:t>Active campaigns</a:t>
            </a:r>
          </a:p>
        </c:rich>
      </c:tx>
      <c:layout/>
      <c:overlay val="0"/>
    </c:title>
    <c:autoTitleDeleted val="0"/>
    <c:plotArea>
      <c:layout/>
      <c:lineChart>
        <c:varyColors val="0"/>
        <c:ser>
          <c:idx val="0"/>
          <c:order val="0"/>
          <c:tx>
            <c:strRef>
              <c:f>Sheet1!$B$1</c:f>
              <c:strCache>
                <c:ptCount val="1"/>
                <c:pt idx="0">
                  <c:v>Word of mouth (base case)</c:v>
                </c:pt>
              </c:strCache>
            </c:strRef>
          </c:tx>
          <c:spPr>
            <a:solidFill>
              <a:srgbClr val="69A984"/>
            </a:solidFill>
            <a:ln w="38100" cap="flat">
              <a:solidFill>
                <a:srgbClr val="69A98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9A984"/>
              </a:solidFill>
              <a:ln w="9525" cap="flat">
                <a:solidFill>
                  <a:srgbClr val="69A984"/>
                </a:solidFill>
                <a:prstDash val="solid"/>
                <a:round/>
              </a:ln>
              <a:effectLst/>
            </c:spPr>
          </c:marker>
          <c:cat>
            <c:multiLvlStrRef>
              <c:f>Sheet1!$A$2:$A$5</c:f>
              <c:multiLvlStrCache>
                <c:ptCount val="4"/>
                <c:lvl>
                  <c:pt idx="0">
                    <c:v>Now</c:v>
                  </c:pt>
                  <c:pt idx="1">
                    <c:v>6 months</c:v>
                  </c:pt>
                  <c:pt idx="2">
                    <c:v>18 months</c:v>
                  </c:pt>
                  <c:pt idx="3">
                    <c:v>36 months</c:v>
                  </c:pt>
                </c:lvl>
              </c:multiLvlStrCache>
            </c:multiLvlStrRef>
          </c:cat>
          <c:val>
            <c:numRef>
              <c:f>Sheet1!$B$2:$B$5</c:f>
              <c:numCache>
                <c:formatCode>General</c:formatCode>
                <c:ptCount val="4"/>
                <c:pt idx="0">
                  <c:v>1</c:v>
                </c:pt>
                <c:pt idx="1">
                  <c:v>6</c:v>
                </c:pt>
                <c:pt idx="2">
                  <c:v>25</c:v>
                </c:pt>
                <c:pt idx="3">
                  <c:v>70</c:v>
                </c:pt>
              </c:numCache>
            </c:numRef>
          </c:val>
          <c:smooth val="0"/>
        </c:ser>
        <c:ser>
          <c:idx val="1"/>
          <c:order val="1"/>
          <c:tx>
            <c:strRef>
              <c:f>Sheet1!$C$1</c:f>
              <c:strCache>
                <c:ptCount val="1"/>
                <c:pt idx="0">
                  <c:v>Funded (scale case)</c:v>
                </c:pt>
              </c:strCache>
            </c:strRef>
          </c:tx>
          <c:spPr>
            <a:solidFill>
              <a:srgbClr val="168456"/>
            </a:solidFill>
            <a:ln w="38100" cap="flat">
              <a:solidFill>
                <a:srgbClr val="16845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68456"/>
              </a:solidFill>
              <a:ln w="9525" cap="flat">
                <a:solidFill>
                  <a:srgbClr val="168456"/>
                </a:solidFill>
                <a:prstDash val="solid"/>
                <a:round/>
              </a:ln>
              <a:effectLst/>
            </c:spPr>
          </c:marker>
          <c:cat>
            <c:multiLvlStrRef>
              <c:f>Sheet1!$A$2:$A$5</c:f>
              <c:multiLvlStrCache>
                <c:ptCount val="4"/>
                <c:lvl>
                  <c:pt idx="0">
                    <c:v>Now</c:v>
                  </c:pt>
                  <c:pt idx="1">
                    <c:v>6 months</c:v>
                  </c:pt>
                  <c:pt idx="2">
                    <c:v>18 months</c:v>
                  </c:pt>
                  <c:pt idx="3">
                    <c:v>36 months</c:v>
                  </c:pt>
                </c:lvl>
              </c:multiLvlStrCache>
            </c:multiLvlStrRef>
          </c:cat>
          <c:val>
            <c:numRef>
              <c:f>Sheet1!$C$2:$C$5</c:f>
              <c:numCache>
                <c:formatCode>General</c:formatCode>
                <c:ptCount val="4"/>
                <c:pt idx="0">
                  <c:v>1</c:v>
                </c:pt>
                <c:pt idx="1">
                  <c:v>20</c:v>
                </c:pt>
                <c:pt idx="2">
                  <c:v>120</c:v>
                </c:pt>
                <c:pt idx="3">
                  <c:v>450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6615A"/>
                </a:solidFill>
                <a:latin typeface="Arial"/>
              </a:defRPr>
            </a:pPr>
            <a:endParaRPr lang="en-US"/>
          </a:p>
        </c:txPr>
        <c:crossAx val="2094734552"/>
        <c:crosses val="autoZero"/>
        <c:auto val="1"/>
        <c:lblAlgn val="ctr"/>
        <c:noMultiLvlLbl val="1"/>
      </c:catAx>
      <c:valAx>
        <c:axId val="2094734552"/>
        <c:scaling>
          <c:orientation val="minMax"/>
          <c:max val="500"/>
        </c:scaling>
        <c:delete val="0"/>
        <c:axPos val="l"/>
        <c:majorGridlines>
          <c:spPr>
            <a:ln w="12700" cap="flat">
              <a:solidFill>
                <a:srgbClr val="DDE6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15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6615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[Sashank, alone on stage. Say nothing for two full seconds. Let them read it.]
Four hundred pounds.
[pause — do not rush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hundred pounds was a flight to Estonia — to represent Oxford at the International Anatomy Olympiad.
I applied to my college for it. I was turned down.
I went anyway. I paid for it myself.
[beat] Three of the four people standing behind me have a story exactly like that. And for a long time I thought that story was about me.
[transition] It isn't. It's about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college has nine thousand living alumni.
Its development office deliberately talks to two hundred of them — the two hundred with the greatest capacity to give. That is not a criticism. It's rational. It's how every development office in this country is run.
[point at the gap] But it leaves eight thousand eight hundred people.
Eight thousand eight hundred people who rowed in that boat club, sat that exam, loved that place — and who would have given me ten pounds without blinking.
There was no way on earth to reach them.
[transition] We built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 See exactly where your money goes.
We are the giving platform for the eight thousand eight hundred.
Students ask. Alumni fund. Everyone sees the receipts.
[transition] Three people are stuck in this system. Let me show you each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column one is on screen. Do not let them read ahead.]
First: the student.
We surveyed twenty-three Oxford students. Of those who went through the formal route — applied to a college grant, a hardship fund, a travel fund — seventy-three per cent were turned down or given less than they asked for.
And here's the part that surprised us. The biggest barrier isn't the money. It's the shame. Fourteen out of twenty-three told us they'd be too embarrassed to ask publicly.
[transition] So the student can't ask. Now — who would have said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young alumni. The people who would have said yes.
They are giving less every year — UK giving fell one point four billion pounds in a single year. But not because they stopped caring.
Four in ten British people do not believe their donation ever reached the cause. That is the real problem. People don't dislike giving. They dislike giving into a void.
And here's the thing — nobody is even asking them. That's a direct quote from a development director. "I actively avoid asking anyone in their twenties."
[transition] Which sounds unkind, until you understand why he has to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college. And this is the one everybody gets wrong.
Colleges are not the villain. They are trapped by arithmetic. Below about two thousand pounds, running an appeal costs more than it raises. A telethon costs thirty to fifty thousand pounds to return ten to fifteen thousand net — so colleges are shutting them down.
They physically cannot afford to fundraise for a four-hundred-pound flight. Even when they want to.
[transition] So look at what falls through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shape of this market.
One hundred per cent of professional fundraising effort goes here — ten thousand pounds and up. Naming rights, fellowships, buildings. That's where the staff time is, and it should be.
But the amount a student actually needs is a hundred and fifty to five hundred pounds. Two or three times a year. Every year.
And the amount a college can profitably spend chasing that money is zero.
This is not a small pool. Multiply a few hundred pounds by every society, every team, every student, every year, across thirty-nine colleges — and then across every university in the country.
[beat] So imagine if this was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if this was solved.
A student asks in ninety seconds. An alumnus gives ten pounds in twenty seconds. And both of them can see, afterwards, exactly what it bought.
[transition] That's Dono. Here's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One — a student asks. They verify with a university email and a student card. They have to name the exact item, the exact cost and the exact date they'll buy it. A human reviews every campaign before it publishes. It is free, and it will always be free.
Two — alumni fund it. The campaign is a link. It goes straight into the WhatsApp groups and society mailing lists alumni are already sitting in. Ten pounds, twenty seconds, no account required.
Three — and this is the one that matters — everyone sees the receipt. Purchase evidence, photos, a closure statement, posted back to every single donor. If the campaign under-spends, the money goes back.
One thing investors always ask, so let me answer it now: money never touches us. Every donation is a direct Stripe charge into the campaign's own account. We hold nothing. We cannot delay, divert or lose a student's money — architecturally, not just as a promise.
[transition] Let me show you it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DEMO. Storyboard every click — see the script document. No dead air, no scrolling, no "let me just find". 75 seconds maximum.]
Ask. Discover. Give. Prove.
[On the receipt screen, slow down.] This is the screen that closes it. That is a photograph of the thing that got bought, next to the invoice, sent to every person who paid for it.
When we put this in front of students, the three things they reacted to were the itemised cost breakdown, the receipt-style card, and being able to see our fee before they pay.
[transition] Now — the question every one of you is about to ask. What do the colleges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thing I want to be completely unambiguous about, because it's the first objection every judge will have.
Colleges pay us nothing. They are not our customer. We are not selling to them, and we are not competing with them.
Different gift size — they chase ten thousand and up, we handle five to two thousand. Different donor — they deliberately don't ask under-thirties, that's our entire user base. Different cause — they fund buildings, we fund a lab coat.
And this is the part they love: every ten-pound first-time giver we create is a future major donor with the habit already formed. Four separate development offices told us the same thing — small donors become big donors.
In fact, a director of development at a ten-thousand-alumni college described our business back to us, unprompted: "get young alumni onto the ladder who wouldn't otherwise give."
That's not a customer objection. That's a customer brief.
[transition] So why hasn't anyone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Everybody in this market solves one column.
Development offices have the community and the trust, but they can't touch a fifty-pound ask. GoFundMe handles the small gift, but there is no receipt, no verification, and the moment the campaign ends the relationship is gone. Consultancy platforms charge the college and build a new website per campaign.
Oxford already tried this, by the way. It was called OxReach, built with an external consultancy. Six projects. Ever. Four of them from professors. It wasn't renewed.
It failed because it was built for the institution. We are built for the student and the donor — and the institution gets the benefit for free.
[transition] So why is now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had to break at the same time. They just did.
One — the telethon is collapsing. Thirty to fifty thousand pounds of cost to return ten to fifteen thousand net. Colleges are killing them off, and scam awareness and AI voice-cloning are finishing the job. That was the only channel that ever acquired small donors.
Two — email no longer lands. Every single development office said it.
Three — trust now requires proof. Giving fell one point four billion in a year, and four in ten people doubt their money arrives. Transparency stopped being a feature and became the product.
Four — and this is the technical unlock — five-pound gifts finally work. A college physically cannot administer a fifteen-pound restricted gift; the accounting costs more than the gift. Stripe Connect means we can, at zero marginal cost.
The channel that acquired small donors is dying, and the technology that replaces it just became viable. That's the window.
[transition] Here's what we've done with it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guess at this market. We went and asked all of it.
Eleven Oxford college development offices, sitting across more than sixty thousand alumni. Twenty-three students, with follow-up interviews. That is why every number in this pitch is ours, not a report's.
The product is built and live — not a mockup. Payments, human review, society verification, moderation portal, all shipped. We have our first campaign running right now with the India Society for their Ram-Leela play.
One college has told us plainly: they'll join the moment they can see it working somewhere else. That's how this market moves — colleges copy colleges. The first one is the only hard one, and we're closing it.
And read the quotes on the right. Every one of those is a professional fundraiser telling us our own thesis back.
[transition] So how do we make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one line: the donor covers the fee.
Ten pound donation. Donor pays ten pounds thirty-five. The student receives the full ten pounds. Our three point five per cent is the three hundred and fifty pence on top.
Two reasons this works. First, it is already the norm in this exact market — two Oxford colleges run donor-covers-the-fee checkouts today, and one of them saves three thousand pounds a year because donors opt in. Second, students told us directly that a platform skimming their money would put them off. So we don't skim it.
Routes to market are different for each side, and we've designed for that. Students come through society committees — that's already how they organise. Alumni come through the campaign link itself. Colleges come through one demo case and then peer imitation.
And the thing that compounds isn't the fee. It's that we end up holding the only cross-institution graph of verified young donors in UK higher education — which no college can legally build, because they're siloed from each other by GDPR and by internal competition for the same alumni.
[transition] Here's how we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curves. This matters.
The lighter line is what happens with no money at all — pure word of mouth, society to society. It works. It's slow, but it works, and it means we are not asking you to fund our survival.
The darker line is what happens with funding. And the gap between those two lines is the whole reason I'm standing here.
The plan is the same either way. Own one college completely — twenty campaigns, repeat donors, published closure statements. Then cross the collegiate system, because colleges copy colleges and one is the only hard one. Then leave the moat: Russell Group, then the US, where alumni giving is already a cultural norm and the fraternity system is a ready-made community layer.
Thirty-nine colleges at Oxford alone. A hundred and sixty universities in the UK. Same product every time — no localisation, no rebuild.
[transition] Which brings me to what we'd do with your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FIGURES BEFORE YOU PITCH. Judges award a specific tie-break point for whether the use of funds is clear and practically impactful — an unfilled slide forfeits it.]
We have raised nothing. This would be the first money into Dono.
It goes to four places. Acquisition is the big one and I want to be honest that it's the only line that actually bends that curve — student-channel marketing, campus ambassadors, launch support for societies.
Legal and incorporation: our terms suite is drafted and needs solicitor sign-off before we can take money at scale. Build-out: recurring donations, refund tooling, the evidence and closure workflow. And runway — enough months to prove repeat giving, not just first gifts.
Because that's the number that decides whether this is a business. Not that someone gave once. That they gave again.
[transition] Let me tell you why it's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us. We are not researching this market — we are it.
I ran a society and paid four hundred pounds out of my own pocket, and I built the eleven-college research programme because I wanted to know if it was just me. It wasn't.
Amrit owns trust: online safety, data protection, financial crime. She wrote the nine-document policy suite this platform runs on — before we took a single payment.
Joe is a commercial software engineer and owns the payments architecture — the reason donor money never touches us.
Juyeon has already built a student-facing product with real Oxford users. She knows how a thing actually spreads on this campus, which is a different skill from building it.
And here's what I'd point at: we built the product, the payments model and the legal framework before asking anyone for a pound. That is the entire answer to "will they actually do it".
[transition] So — last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last thing, and then I'll stop.
Every person in this room was paid for by somebody. A scholarship, a bursary, a building, a fund with a stranger's name on it.
And you almost certainly never found out who they were, or what your money — their money — actually bought.
[beat]
We're building the first generation of givers who get to find out.
Back them.
[Stop. Do not add anything. Hold eye contact and wait for the first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17"/>
        </a:solidFill>
      </p:bgPr>
    </p:bg>
    <p:spTree>
      <p:nvGrpSpPr>
        <p:cNvPr id="1" name=""/>
        <p:cNvGrpSpPr/>
        <p:nvPr/>
      </p:nvGrpSpPr>
      <p:grpSpPr>
        <a:xfrm>
          <a:off x="0" y="0"/>
          <a:ext cx="0" cy="0"/>
          <a:chOff x="0" y="0"/>
          <a:chExt cx="0" cy="0"/>
        </a:xfrm>
      </p:grpSpPr>
      <p:sp>
        <p:nvSpPr>
          <p:cNvPr id="2" name="Text 0"/>
          <p:cNvSpPr/>
          <p:nvPr/>
        </p:nvSpPr>
        <p:spPr>
          <a:xfrm>
            <a:off x="0" y="2286000"/>
            <a:ext cx="12191695" cy="2011680"/>
          </a:xfrm>
          <a:prstGeom prst="rect">
            <a:avLst/>
          </a:prstGeom>
          <a:noFill/>
          <a:ln/>
        </p:spPr>
        <p:txBody>
          <a:bodyPr wrap="square" lIns="0" tIns="0" rIns="0" bIns="0" rtlCol="0" anchor="ctr"/>
          <a:lstStyle/>
          <a:p>
            <a:pPr algn="ctr" indent="0" marL="0">
              <a:buNone/>
            </a:pPr>
            <a:r>
              <a:rPr lang="en-US" sz="20000" b="1" dirty="0">
                <a:solidFill>
                  <a:srgbClr val="FFFFFF"/>
                </a:solidFill>
                <a:latin typeface="Cambria" pitchFamily="34" charset="0"/>
                <a:ea typeface="Cambria" pitchFamily="34" charset="-122"/>
                <a:cs typeface="Cambria" pitchFamily="34" charset="-120"/>
              </a:rPr>
              <a:t>£400</a:t>
            </a:r>
            <a:endParaRPr lang="en-US" sz="20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17"/>
        </a:solidFill>
      </p:bgPr>
    </p:bg>
    <p:spTree>
      <p:nvGrpSpPr>
        <p:cNvPr id="1" name=""/>
        <p:cNvGrpSpPr/>
        <p:nvPr/>
      </p:nvGrpSpPr>
      <p:grpSpPr>
        <a:xfrm>
          <a:off x="0" y="0"/>
          <a:ext cx="0" cy="0"/>
          <a:chOff x="0" y="0"/>
          <a:chExt cx="0" cy="0"/>
        </a:xfrm>
      </p:grpSpPr>
      <p:sp>
        <p:nvSpPr>
          <p:cNvPr id="2" name="Text 0"/>
          <p:cNvSpPr/>
          <p:nvPr/>
        </p:nvSpPr>
        <p:spPr>
          <a:xfrm>
            <a:off x="822960" y="1417320"/>
            <a:ext cx="4206240" cy="1737360"/>
          </a:xfrm>
          <a:prstGeom prst="rect">
            <a:avLst/>
          </a:prstGeom>
          <a:noFill/>
          <a:ln/>
        </p:spPr>
        <p:txBody>
          <a:bodyPr wrap="square" lIns="0" tIns="0" rIns="0" bIns="0" rtlCol="0" anchor="ctr"/>
          <a:lstStyle/>
          <a:p>
            <a:pPr algn="l" indent="0" marL="0">
              <a:buNone/>
            </a:pPr>
            <a:r>
              <a:rPr lang="en-US" sz="11800" b="1" dirty="0">
                <a:solidFill>
                  <a:srgbClr val="FFFFFF"/>
                </a:solidFill>
                <a:latin typeface="Cambria" pitchFamily="34" charset="0"/>
                <a:ea typeface="Cambria" pitchFamily="34" charset="-122"/>
                <a:cs typeface="Cambria" pitchFamily="34" charset="-120"/>
              </a:rPr>
              <a:t>£400</a:t>
            </a:r>
            <a:endParaRPr lang="en-US" sz="11800" dirty="0"/>
          </a:p>
        </p:txBody>
      </p:sp>
      <p:sp>
        <p:nvSpPr>
          <p:cNvPr id="3" name="Text 1"/>
          <p:cNvSpPr/>
          <p:nvPr/>
        </p:nvSpPr>
        <p:spPr>
          <a:xfrm>
            <a:off x="868680" y="3310128"/>
            <a:ext cx="5577840" cy="1371600"/>
          </a:xfrm>
          <a:prstGeom prst="rect">
            <a:avLst/>
          </a:prstGeom>
          <a:noFill/>
          <a:ln/>
        </p:spPr>
        <p:txBody>
          <a:bodyPr wrap="square" lIns="0" tIns="0" rIns="0" bIns="0" rtlCol="0" anchor="ctr"/>
          <a:lstStyle/>
          <a:p>
            <a:pPr indent="0" marL="0">
              <a:lnSpc>
                <a:spcPts val="3200"/>
              </a:lnSpc>
              <a:buNone/>
            </a:pPr>
            <a:r>
              <a:rPr lang="en-US" sz="3000" b="1" dirty="0">
                <a:solidFill>
                  <a:srgbClr val="FFFFFF"/>
                </a:solidFill>
                <a:latin typeface="Calibri" pitchFamily="34" charset="0"/>
                <a:ea typeface="Calibri" pitchFamily="34" charset="-122"/>
                <a:cs typeface="Calibri" pitchFamily="34" charset="-120"/>
              </a:rPr>
              <a:t>A flight to Estonia.
</a:t>
            </a:r>
            <a:endParaRPr lang="en-US" sz="3000" dirty="0"/>
          </a:p>
          <a:p>
            <a:pPr indent="0" marL="0">
              <a:lnSpc>
                <a:spcPts val="3200"/>
              </a:lnSpc>
              <a:buNone/>
            </a:pPr>
            <a:r>
              <a:rPr lang="en-US" sz="1900" dirty="0">
                <a:solidFill>
                  <a:srgbClr val="69A984"/>
                </a:solidFill>
                <a:latin typeface="Calibri" pitchFamily="34" charset="0"/>
                <a:ea typeface="Calibri" pitchFamily="34" charset="-122"/>
                <a:cs typeface="Calibri" pitchFamily="34" charset="-120"/>
              </a:rPr>
              <a:t>To represent Oxford at the International Anatomy Olympiad.</a:t>
            </a:r>
            <a:endParaRPr lang="en-US" sz="3000" dirty="0"/>
          </a:p>
        </p:txBody>
      </p:sp>
      <p:sp>
        <p:nvSpPr>
          <p:cNvPr id="4" name="Shape 2"/>
          <p:cNvSpPr/>
          <p:nvPr/>
        </p:nvSpPr>
        <p:spPr>
          <a:xfrm>
            <a:off x="6858000" y="1600200"/>
            <a:ext cx="4663440" cy="3200400"/>
          </a:xfrm>
          <a:prstGeom prst="roundRect">
            <a:avLst>
              <a:gd name="adj" fmla="val 2571"/>
            </a:avLst>
          </a:prstGeom>
          <a:solidFill>
            <a:srgbClr val="173224"/>
          </a:solidFill>
          <a:ln w="12700">
            <a:solidFill>
              <a:srgbClr val="2A4C39"/>
            </a:solidFill>
            <a:prstDash val="solid"/>
          </a:ln>
        </p:spPr>
      </p:sp>
      <p:sp>
        <p:nvSpPr>
          <p:cNvPr id="5" name="Text 3"/>
          <p:cNvSpPr/>
          <p:nvPr/>
        </p:nvSpPr>
        <p:spPr>
          <a:xfrm>
            <a:off x="7223760" y="1920240"/>
            <a:ext cx="4023360" cy="2560320"/>
          </a:xfrm>
          <a:prstGeom prst="rect">
            <a:avLst/>
          </a:prstGeom>
          <a:noFill/>
          <a:ln/>
        </p:spPr>
        <p:txBody>
          <a:bodyPr wrap="square" lIns="0" tIns="0" rIns="0" bIns="0" rtlCol="0" anchor="ctr"/>
          <a:lstStyle/>
          <a:p>
            <a:pPr indent="0" marL="0">
              <a:lnSpc>
                <a:spcPts val="3200"/>
              </a:lnSpc>
              <a:buNone/>
            </a:pPr>
            <a:r>
              <a:rPr lang="en-US" sz="2100" dirty="0">
                <a:solidFill>
                  <a:srgbClr val="FFFFFF"/>
                </a:solidFill>
                <a:latin typeface="Calibri" pitchFamily="34" charset="0"/>
                <a:ea typeface="Calibri" pitchFamily="34" charset="-122"/>
                <a:cs typeface="Calibri" pitchFamily="34" charset="-120"/>
              </a:rPr>
              <a:t>I applied to my college.</a:t>
            </a:r>
            <a:endParaRPr lang="en-US" sz="2100" dirty="0"/>
          </a:p>
          <a:p>
            <a:pPr indent="0" marL="0">
              <a:lnSpc>
                <a:spcPts val="3200"/>
              </a:lnSpc>
              <a:buNone/>
            </a:pPr>
            <a:r>
              <a:rPr lang="en-US" sz="2600" b="1" dirty="0">
                <a:solidFill>
                  <a:srgbClr val="E8A33D"/>
                </a:solidFill>
                <a:latin typeface="Calibri" pitchFamily="34" charset="0"/>
                <a:ea typeface="Calibri" pitchFamily="34" charset="-122"/>
                <a:cs typeface="Calibri" pitchFamily="34" charset="-120"/>
              </a:rPr>
              <a:t>I was turned down.</a:t>
            </a:r>
            <a:endParaRPr lang="en-US" sz="2100" dirty="0"/>
          </a:p>
          <a:p>
            <a:pPr indent="0" marL="0">
              <a:lnSpc>
                <a:spcPts val="3200"/>
              </a:lnSpc>
              <a:buNone/>
            </a:pPr>
            <a:endParaRPr lang="en-US" sz="2100" dirty="0"/>
          </a:p>
          <a:p>
            <a:pPr indent="0" marL="0">
              <a:lnSpc>
                <a:spcPts val="3200"/>
              </a:lnSpc>
              <a:buNone/>
            </a:pPr>
            <a:r>
              <a:rPr lang="en-US" sz="2100" dirty="0">
                <a:solidFill>
                  <a:srgbClr val="FFFFFF"/>
                </a:solidFill>
                <a:latin typeface="Calibri" pitchFamily="34" charset="0"/>
                <a:ea typeface="Calibri" pitchFamily="34" charset="-122"/>
                <a:cs typeface="Calibri" pitchFamily="34" charset="-120"/>
              </a:rPr>
              <a:t>I went anyway.</a:t>
            </a:r>
            <a:endParaRPr lang="en-US" sz="2100" dirty="0"/>
          </a:p>
          <a:p>
            <a:pPr indent="0" marL="0">
              <a:lnSpc>
                <a:spcPts val="3200"/>
              </a:lnSpc>
              <a:buNone/>
            </a:pPr>
            <a:r>
              <a:rPr lang="en-US" sz="2100" dirty="0">
                <a:solidFill>
                  <a:srgbClr val="FFFFFF"/>
                </a:solidFill>
                <a:latin typeface="Calibri" pitchFamily="34" charset="0"/>
                <a:ea typeface="Calibri" pitchFamily="34" charset="-122"/>
                <a:cs typeface="Calibri" pitchFamily="34" charset="-120"/>
              </a:rPr>
              <a:t>I paid for it myself.</a:t>
            </a:r>
            <a:endParaRPr lang="en-US" sz="2100" dirty="0"/>
          </a:p>
        </p:txBody>
      </p:sp>
      <p:sp>
        <p:nvSpPr>
          <p:cNvPr id="6" name="Text 4"/>
          <p:cNvSpPr/>
          <p:nvPr/>
        </p:nvSpPr>
        <p:spPr>
          <a:xfrm>
            <a:off x="868680" y="5074920"/>
            <a:ext cx="10515600" cy="457200"/>
          </a:xfrm>
          <a:prstGeom prst="rect">
            <a:avLst/>
          </a:prstGeom>
          <a:noFill/>
          <a:ln/>
        </p:spPr>
        <p:txBody>
          <a:bodyPr wrap="square" lIns="0" tIns="0" rIns="0" bIns="0" rtlCol="0" anchor="ctr"/>
          <a:lstStyle/>
          <a:p>
            <a:pPr indent="0" marL="0">
              <a:buNone/>
            </a:pPr>
            <a:r>
              <a:rPr lang="en-US" sz="1700" i="1" dirty="0">
                <a:solidFill>
                  <a:srgbClr val="69A984"/>
                </a:solidFill>
                <a:latin typeface="Calibri" pitchFamily="34" charset="0"/>
                <a:ea typeface="Calibri" pitchFamily="34" charset="-122"/>
                <a:cs typeface="Calibri" pitchFamily="34" charset="-120"/>
              </a:rPr>
              <a:t>Three of the four people on this team have a story like that.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F17"/>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1B3A2B"/>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69A984"/>
                </a:solidFill>
                <a:latin typeface="Calibri" pitchFamily="34" charset="0"/>
                <a:ea typeface="Calibri" pitchFamily="34" charset="-122"/>
                <a:cs typeface="Calibri" pitchFamily="34" charset="-120"/>
              </a:rPr>
              <a:t>THE REAL STORY</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It was never about the money.</a:t>
            </a:r>
            <a:endParaRPr lang="en-US" sz="3400" dirty="0"/>
          </a:p>
        </p:txBody>
      </p:sp>
      <p:sp>
        <p:nvSpPr>
          <p:cNvPr id="5" name="Text 3"/>
          <p:cNvSpPr/>
          <p:nvPr/>
        </p:nvSpPr>
        <p:spPr>
          <a:xfrm>
            <a:off x="566928" y="1691640"/>
            <a:ext cx="10424160" cy="457200"/>
          </a:xfrm>
          <a:prstGeom prst="rect">
            <a:avLst/>
          </a:prstGeom>
          <a:noFill/>
          <a:ln/>
        </p:spPr>
        <p:txBody>
          <a:bodyPr wrap="square" lIns="0" tIns="0" rIns="0" bIns="0" rtlCol="0" anchor="ctr"/>
          <a:lstStyle/>
          <a:p>
            <a:pPr indent="0" marL="0">
              <a:buNone/>
            </a:pPr>
            <a:r>
              <a:rPr lang="en-US" sz="1500" dirty="0">
                <a:solidFill>
                  <a:srgbClr val="69A984"/>
                </a:solidFill>
                <a:latin typeface="Calibri" pitchFamily="34" charset="0"/>
                <a:ea typeface="Calibri" pitchFamily="34" charset="-122"/>
                <a:cs typeface="Calibri" pitchFamily="34" charset="-120"/>
              </a:rPr>
              <a:t>It was about who I was allowed to ask.</a:t>
            </a:r>
            <a:endParaRPr lang="en-US" sz="1500" dirty="0"/>
          </a:p>
        </p:txBody>
      </p:sp>
      <p:sp>
        <p:nvSpPr>
          <p:cNvPr id="6" name="Shape 4"/>
          <p:cNvSpPr/>
          <p:nvPr/>
        </p:nvSpPr>
        <p:spPr>
          <a:xfrm>
            <a:off x="566928" y="2514600"/>
            <a:ext cx="9692640" cy="749808"/>
          </a:xfrm>
          <a:prstGeom prst="roundRect">
            <a:avLst>
              <a:gd name="adj" fmla="val 9756"/>
            </a:avLst>
          </a:prstGeom>
          <a:solidFill>
            <a:srgbClr val="1E3A2B"/>
          </a:solidFill>
          <a:ln/>
        </p:spPr>
      </p:sp>
      <p:sp>
        <p:nvSpPr>
          <p:cNvPr id="7" name="Text 5"/>
          <p:cNvSpPr/>
          <p:nvPr/>
        </p:nvSpPr>
        <p:spPr>
          <a:xfrm>
            <a:off x="868680" y="2514600"/>
            <a:ext cx="457200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9,000 alumni</a:t>
            </a:r>
            <a:endParaRPr lang="en-US" sz="2000" dirty="0"/>
          </a:p>
        </p:txBody>
      </p:sp>
      <p:sp>
        <p:nvSpPr>
          <p:cNvPr id="8" name="Text 6"/>
          <p:cNvSpPr/>
          <p:nvPr/>
        </p:nvSpPr>
        <p:spPr>
          <a:xfrm>
            <a:off x="5669280" y="2514600"/>
            <a:ext cx="4389120" cy="749808"/>
          </a:xfrm>
          <a:prstGeom prst="rect">
            <a:avLst/>
          </a:prstGeom>
          <a:noFill/>
          <a:ln/>
        </p:spPr>
        <p:txBody>
          <a:bodyPr wrap="square" lIns="0" tIns="0" rIns="0" bIns="0" rtlCol="0" anchor="ctr"/>
          <a:lstStyle/>
          <a:p>
            <a:pPr algn="r" indent="0" marL="0">
              <a:buNone/>
            </a:pPr>
            <a:r>
              <a:rPr lang="en-US" sz="1400" dirty="0">
                <a:solidFill>
                  <a:srgbClr val="69A984"/>
                </a:solidFill>
                <a:latin typeface="Calibri" pitchFamily="34" charset="0"/>
                <a:ea typeface="Calibri" pitchFamily="34" charset="-122"/>
                <a:cs typeface="Calibri" pitchFamily="34" charset="-120"/>
              </a:rPr>
              <a:t>one Oxford college</a:t>
            </a:r>
            <a:endParaRPr lang="en-US" sz="1400" dirty="0"/>
          </a:p>
        </p:txBody>
      </p:sp>
      <p:sp>
        <p:nvSpPr>
          <p:cNvPr id="9" name="Shape 7"/>
          <p:cNvSpPr/>
          <p:nvPr/>
        </p:nvSpPr>
        <p:spPr>
          <a:xfrm>
            <a:off x="566928" y="3429000"/>
            <a:ext cx="658368" cy="749808"/>
          </a:xfrm>
          <a:prstGeom prst="roundRect">
            <a:avLst>
              <a:gd name="adj" fmla="val 11111"/>
            </a:avLst>
          </a:prstGeom>
          <a:solidFill>
            <a:srgbClr val="E8A33D"/>
          </a:solidFill>
          <a:ln/>
        </p:spPr>
      </p:sp>
      <p:sp>
        <p:nvSpPr>
          <p:cNvPr id="10" name="Text 8"/>
          <p:cNvSpPr/>
          <p:nvPr/>
        </p:nvSpPr>
        <p:spPr>
          <a:xfrm>
            <a:off x="1371600" y="3429000"/>
            <a:ext cx="3657600" cy="74980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200</a:t>
            </a:r>
            <a:endParaRPr lang="en-US" sz="2000" dirty="0"/>
          </a:p>
        </p:txBody>
      </p:sp>
      <p:sp>
        <p:nvSpPr>
          <p:cNvPr id="11" name="Text 9"/>
          <p:cNvSpPr/>
          <p:nvPr/>
        </p:nvSpPr>
        <p:spPr>
          <a:xfrm>
            <a:off x="4572000" y="3429000"/>
            <a:ext cx="5486400" cy="749808"/>
          </a:xfrm>
          <a:prstGeom prst="rect">
            <a:avLst/>
          </a:prstGeom>
          <a:noFill/>
          <a:ln/>
        </p:spPr>
        <p:txBody>
          <a:bodyPr wrap="square" lIns="0" tIns="0" rIns="0" bIns="0" rtlCol="0" anchor="ctr"/>
          <a:lstStyle/>
          <a:p>
            <a:pPr algn="r" indent="0" marL="0">
              <a:buNone/>
            </a:pPr>
            <a:r>
              <a:rPr lang="en-US" sz="1400" dirty="0">
                <a:solidFill>
                  <a:srgbClr val="69A984"/>
                </a:solidFill>
                <a:latin typeface="Calibri" pitchFamily="34" charset="0"/>
                <a:ea typeface="Calibri" pitchFamily="34" charset="-122"/>
                <a:cs typeface="Calibri" pitchFamily="34" charset="-120"/>
              </a:rPr>
              <a:t>its development office deliberately targets</a:t>
            </a:r>
            <a:endParaRPr lang="en-US" sz="1400" dirty="0"/>
          </a:p>
        </p:txBody>
      </p:sp>
      <p:sp>
        <p:nvSpPr>
          <p:cNvPr id="12" name="Shape 10"/>
          <p:cNvSpPr/>
          <p:nvPr/>
        </p:nvSpPr>
        <p:spPr>
          <a:xfrm>
            <a:off x="566928" y="4617720"/>
            <a:ext cx="9692640" cy="1234440"/>
          </a:xfrm>
          <a:prstGeom prst="roundRect">
            <a:avLst>
              <a:gd name="adj" fmla="val 6667"/>
            </a:avLst>
          </a:prstGeom>
          <a:solidFill>
            <a:srgbClr val="173224"/>
          </a:solidFill>
          <a:ln w="12700">
            <a:solidFill>
              <a:srgbClr val="2A4C39"/>
            </a:solidFill>
            <a:prstDash val="solid"/>
          </a:ln>
        </p:spPr>
      </p:sp>
      <p:sp>
        <p:nvSpPr>
          <p:cNvPr id="13" name="Text 11"/>
          <p:cNvSpPr/>
          <p:nvPr/>
        </p:nvSpPr>
        <p:spPr>
          <a:xfrm>
            <a:off x="960120" y="4617720"/>
            <a:ext cx="8961120" cy="1234440"/>
          </a:xfrm>
          <a:prstGeom prst="rect">
            <a:avLst/>
          </a:prstGeom>
          <a:noFill/>
          <a:ln/>
        </p:spPr>
        <p:txBody>
          <a:bodyPr wrap="square" lIns="0" tIns="0" rIns="0" bIns="0" rtlCol="0" anchor="ctr"/>
          <a:lstStyle/>
          <a:p>
            <a:pPr indent="0" marL="0">
              <a:lnSpc>
                <a:spcPts val="3000"/>
              </a:lnSpc>
              <a:buNone/>
            </a:pPr>
            <a:r>
              <a:rPr lang="en-US" sz="2700" b="1" dirty="0">
                <a:solidFill>
                  <a:srgbClr val="E8A33D"/>
                </a:solidFill>
                <a:latin typeface="Calibri" pitchFamily="34" charset="0"/>
                <a:ea typeface="Calibri" pitchFamily="34" charset="-122"/>
                <a:cs typeface="Calibri" pitchFamily="34" charset="-120"/>
              </a:rPr>
              <a:t>8,800 people </a:t>
            </a:r>
            <a:pPr indent="0" marL="0">
              <a:lnSpc>
                <a:spcPts val="3000"/>
              </a:lnSpc>
              <a:buNone/>
            </a:pPr>
            <a:r>
              <a:rPr lang="en-US" sz="2200" dirty="0">
                <a:solidFill>
                  <a:srgbClr val="FFFFFF"/>
                </a:solidFill>
                <a:latin typeface="Calibri" pitchFamily="34" charset="0"/>
                <a:ea typeface="Calibri" pitchFamily="34" charset="-122"/>
                <a:cs typeface="Calibri" pitchFamily="34" charset="-120"/>
              </a:rPr>
              <a:t>would have given me £10. There was no way on earth to reach them.</a:t>
            </a:r>
            <a:endParaRPr lang="en-US" sz="2700" dirty="0"/>
          </a:p>
        </p:txBody>
      </p:sp>
      <p:sp>
        <p:nvSpPr>
          <p:cNvPr id="14" name="Text 12"/>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568"/>
                </a:solidFill>
                <a:latin typeface="Calibri" pitchFamily="34" charset="0"/>
                <a:ea typeface="Calibri" pitchFamily="34" charset="-122"/>
                <a:cs typeface="Calibri" pitchFamily="34" charset="-120"/>
              </a:rPr>
              <a:t>Source: Dono interviews with 11 Oxford college development offices, July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8456"/>
        </a:solidFill>
      </p:bgPr>
    </p:bg>
    <p:spTree>
      <p:nvGrpSpPr>
        <p:cNvPr id="1" name=""/>
        <p:cNvGrpSpPr/>
        <p:nvPr/>
      </p:nvGrpSpPr>
      <p:grpSpPr>
        <a:xfrm>
          <a:off x="0" y="0"/>
          <a:ext cx="0" cy="0"/>
          <a:chOff x="0" y="0"/>
          <a:chExt cx="0" cy="0"/>
        </a:xfrm>
      </p:grpSpPr>
      <p:sp>
        <p:nvSpPr>
          <p:cNvPr id="2" name="Shape 0"/>
          <p:cNvSpPr/>
          <p:nvPr/>
        </p:nvSpPr>
        <p:spPr>
          <a:xfrm>
            <a:off x="5914695" y="1481328"/>
            <a:ext cx="363220" cy="363220"/>
          </a:xfrm>
          <a:prstGeom prst="ellipse">
            <a:avLst/>
          </a:prstGeom>
          <a:solidFill>
            <a:srgbClr val="9FD9BC"/>
          </a:solidFill>
          <a:ln/>
        </p:spPr>
      </p:sp>
      <p:sp>
        <p:nvSpPr>
          <p:cNvPr id="3" name="Text 1"/>
          <p:cNvSpPr/>
          <p:nvPr/>
        </p:nvSpPr>
        <p:spPr>
          <a:xfrm>
            <a:off x="3810305" y="1899412"/>
            <a:ext cx="4572000" cy="92456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dono</a:t>
            </a:r>
            <a:endParaRPr lang="en-US" sz="5200" dirty="0"/>
          </a:p>
        </p:txBody>
      </p:sp>
      <p:sp>
        <p:nvSpPr>
          <p:cNvPr id="4" name="Text 2"/>
          <p:cNvSpPr/>
          <p:nvPr/>
        </p:nvSpPr>
        <p:spPr>
          <a:xfrm>
            <a:off x="731520" y="3090672"/>
            <a:ext cx="10698480" cy="10058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See exactly where your money goes.</a:t>
            </a:r>
            <a:endParaRPr lang="en-US" sz="4200" dirty="0"/>
          </a:p>
        </p:txBody>
      </p:sp>
      <p:sp>
        <p:nvSpPr>
          <p:cNvPr id="5" name="Text 3"/>
          <p:cNvSpPr/>
          <p:nvPr/>
        </p:nvSpPr>
        <p:spPr>
          <a:xfrm>
            <a:off x="731520" y="4133088"/>
            <a:ext cx="10698480" cy="548640"/>
          </a:xfrm>
          <a:prstGeom prst="rect">
            <a:avLst/>
          </a:prstGeom>
          <a:noFill/>
          <a:ln/>
        </p:spPr>
        <p:txBody>
          <a:bodyPr wrap="square" lIns="0" tIns="0" rIns="0" bIns="0" rtlCol="0" anchor="ctr"/>
          <a:lstStyle/>
          <a:p>
            <a:pPr algn="ctr" indent="0" marL="0">
              <a:buNone/>
            </a:pPr>
            <a:r>
              <a:rPr lang="en-US" sz="2100" dirty="0">
                <a:solidFill>
                  <a:srgbClr val="CFEBDD"/>
                </a:solidFill>
                <a:latin typeface="Calibri" pitchFamily="34" charset="0"/>
                <a:ea typeface="Calibri" pitchFamily="34" charset="-122"/>
                <a:cs typeface="Calibri" pitchFamily="34" charset="-120"/>
              </a:rPr>
              <a:t>The giving platform for the 8,800.</a:t>
            </a:r>
            <a:endParaRPr lang="en-US" sz="2100" dirty="0"/>
          </a:p>
        </p:txBody>
      </p:sp>
      <p:sp>
        <p:nvSpPr>
          <p:cNvPr id="6" name="Shape 4"/>
          <p:cNvSpPr/>
          <p:nvPr/>
        </p:nvSpPr>
        <p:spPr>
          <a:xfrm>
            <a:off x="3246120" y="5010912"/>
            <a:ext cx="5669280" cy="658368"/>
          </a:xfrm>
          <a:prstGeom prst="roundRect">
            <a:avLst>
              <a:gd name="adj" fmla="val 50000"/>
            </a:avLst>
          </a:prstGeom>
          <a:solidFill>
            <a:srgbClr val="0F6E45"/>
          </a:solidFill>
          <a:ln/>
        </p:spPr>
      </p:sp>
      <p:sp>
        <p:nvSpPr>
          <p:cNvPr id="7" name="Text 5"/>
          <p:cNvSpPr/>
          <p:nvPr/>
        </p:nvSpPr>
        <p:spPr>
          <a:xfrm>
            <a:off x="3246120" y="5010912"/>
            <a:ext cx="566928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Students ask. Alumni fund. Everyone sees the receipts.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786384"/>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Three people are stuck in the same gap.</a:t>
            </a:r>
            <a:endParaRPr lang="en-US" sz="3400" dirty="0"/>
          </a:p>
        </p:txBody>
      </p:sp>
      <p:sp>
        <p:nvSpPr>
          <p:cNvPr id="5" name="Text 3"/>
          <p:cNvSpPr/>
          <p:nvPr/>
        </p:nvSpPr>
        <p:spPr>
          <a:xfrm>
            <a:off x="566928" y="1572768"/>
            <a:ext cx="10424160" cy="457200"/>
          </a:xfrm>
          <a:prstGeom prst="rect">
            <a:avLst/>
          </a:prstGeom>
          <a:noFill/>
          <a:ln/>
        </p:spPr>
        <p:txBody>
          <a:bodyPr wrap="square" lIns="0" tIns="0" rIns="0" bIns="0" rtlCol="0" anchor="ctr"/>
          <a:lstStyle/>
          <a:p>
            <a:pPr indent="0" marL="0">
              <a:buNone/>
            </a:pPr>
            <a:r>
              <a:rPr lang="en-US" sz="1500" dirty="0">
                <a:solidFill>
                  <a:srgbClr val="56615A"/>
                </a:solidFill>
                <a:latin typeface="Calibri" pitchFamily="34" charset="0"/>
                <a:ea typeface="Calibri" pitchFamily="34" charset="-122"/>
                <a:cs typeface="Calibri" pitchFamily="34" charset="-120"/>
              </a:rPr>
              <a:t>Not one problem. One missing piece of infrastructure, failing three groups at once.</a:t>
            </a:r>
            <a:endParaRPr lang="en-US" sz="1500" dirty="0"/>
          </a:p>
        </p:txBody>
      </p:sp>
      <p:sp>
        <p:nvSpPr>
          <p:cNvPr id="6" name="Shape 4"/>
          <p:cNvSpPr/>
          <p:nvPr/>
        </p:nvSpPr>
        <p:spPr>
          <a:xfrm>
            <a:off x="56692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7" name="Shape 5"/>
          <p:cNvSpPr/>
          <p:nvPr/>
        </p:nvSpPr>
        <p:spPr>
          <a:xfrm>
            <a:off x="841248" y="2331720"/>
            <a:ext cx="384048" cy="384048"/>
          </a:xfrm>
          <a:prstGeom prst="ellipse">
            <a:avLst/>
          </a:prstGeom>
          <a:solidFill>
            <a:srgbClr val="168456"/>
          </a:solidFill>
          <a:ln/>
        </p:spPr>
      </p:sp>
      <p:sp>
        <p:nvSpPr>
          <p:cNvPr id="8" name="Text 6"/>
          <p:cNvSpPr/>
          <p:nvPr/>
        </p:nvSpPr>
        <p:spPr>
          <a:xfrm>
            <a:off x="84124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34416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STUDENTS</a:t>
            </a:r>
            <a:endParaRPr lang="en-US" sz="1100" dirty="0"/>
          </a:p>
        </p:txBody>
      </p:sp>
      <p:sp>
        <p:nvSpPr>
          <p:cNvPr id="10" name="Text 8"/>
          <p:cNvSpPr/>
          <p:nvPr/>
        </p:nvSpPr>
        <p:spPr>
          <a:xfrm>
            <a:off x="84124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Can't ask.</a:t>
            </a:r>
            <a:endParaRPr lang="en-US" sz="2600" dirty="0"/>
          </a:p>
        </p:txBody>
      </p:sp>
      <p:sp>
        <p:nvSpPr>
          <p:cNvPr id="11" name="Text 9"/>
          <p:cNvSpPr/>
          <p:nvPr/>
        </p:nvSpPr>
        <p:spPr>
          <a:xfrm>
            <a:off x="84124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73%</a:t>
            </a:r>
            <a:endParaRPr lang="en-US" sz="2500" dirty="0"/>
          </a:p>
        </p:txBody>
      </p:sp>
      <p:sp>
        <p:nvSpPr>
          <p:cNvPr id="12" name="Text 10"/>
          <p:cNvSpPr/>
          <p:nvPr/>
        </p:nvSpPr>
        <p:spPr>
          <a:xfrm>
            <a:off x="84124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of grant applications rejected</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or under-funded</a:t>
            </a:r>
            <a:endParaRPr lang="en-US" sz="1050" dirty="0"/>
          </a:p>
        </p:txBody>
      </p:sp>
      <p:sp>
        <p:nvSpPr>
          <p:cNvPr id="13" name="Text 11"/>
          <p:cNvSpPr/>
          <p:nvPr/>
        </p:nvSpPr>
        <p:spPr>
          <a:xfrm>
            <a:off x="84124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14 / 23</a:t>
            </a:r>
            <a:endParaRPr lang="en-US" sz="2500" dirty="0"/>
          </a:p>
        </p:txBody>
      </p:sp>
      <p:sp>
        <p:nvSpPr>
          <p:cNvPr id="14" name="Text 12"/>
          <p:cNvSpPr/>
          <p:nvPr/>
        </p:nvSpPr>
        <p:spPr>
          <a:xfrm>
            <a:off x="84124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too embarrassed to ask publicly</a:t>
            </a:r>
            <a:endParaRPr lang="en-US" sz="1050" dirty="0"/>
          </a:p>
        </p:txBody>
      </p:sp>
      <p:sp>
        <p:nvSpPr>
          <p:cNvPr id="15" name="Shape 13"/>
          <p:cNvSpPr/>
          <p:nvPr/>
        </p:nvSpPr>
        <p:spPr>
          <a:xfrm>
            <a:off x="841248" y="5285232"/>
            <a:ext cx="2980944" cy="658368"/>
          </a:xfrm>
          <a:prstGeom prst="roundRect">
            <a:avLst>
              <a:gd name="adj" fmla="val 9722"/>
            </a:avLst>
          </a:prstGeom>
          <a:solidFill>
            <a:srgbClr val="E8F5EE"/>
          </a:solidFill>
          <a:ln/>
        </p:spPr>
      </p:sp>
      <p:sp>
        <p:nvSpPr>
          <p:cNvPr id="16" name="Text 14"/>
          <p:cNvSpPr/>
          <p:nvPr/>
        </p:nvSpPr>
        <p:spPr>
          <a:xfrm>
            <a:off x="96926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“Missed the bursary deadline.
Paid for Glasgow myself.”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Third-year, Oxford</a:t>
            </a:r>
            <a:endParaRPr lang="en-US" sz="1000" dirty="0"/>
          </a:p>
        </p:txBody>
      </p:sp>
      <p:sp>
        <p:nvSpPr>
          <p:cNvPr id="17" name="Text 15"/>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Sources: Dono student survey (n=23, July 2026); Dono interviews with 11 Oxford college development offices; CAF UK Giving 2026; UK government trust-in-charities reporting.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786384"/>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Three people are stuck in the same gap.</a:t>
            </a:r>
            <a:endParaRPr lang="en-US" sz="3400" dirty="0"/>
          </a:p>
        </p:txBody>
      </p:sp>
      <p:sp>
        <p:nvSpPr>
          <p:cNvPr id="5" name="Text 3"/>
          <p:cNvSpPr/>
          <p:nvPr/>
        </p:nvSpPr>
        <p:spPr>
          <a:xfrm>
            <a:off x="566928" y="1572768"/>
            <a:ext cx="10424160" cy="457200"/>
          </a:xfrm>
          <a:prstGeom prst="rect">
            <a:avLst/>
          </a:prstGeom>
          <a:noFill/>
          <a:ln/>
        </p:spPr>
        <p:txBody>
          <a:bodyPr wrap="square" lIns="0" tIns="0" rIns="0" bIns="0" rtlCol="0" anchor="ctr"/>
          <a:lstStyle/>
          <a:p>
            <a:pPr indent="0" marL="0">
              <a:buNone/>
            </a:pPr>
            <a:r>
              <a:rPr lang="en-US" sz="1500" dirty="0">
                <a:solidFill>
                  <a:srgbClr val="56615A"/>
                </a:solidFill>
                <a:latin typeface="Calibri" pitchFamily="34" charset="0"/>
                <a:ea typeface="Calibri" pitchFamily="34" charset="-122"/>
                <a:cs typeface="Calibri" pitchFamily="34" charset="-120"/>
              </a:rPr>
              <a:t>Not one problem. One missing piece of infrastructure, failing three groups at once.</a:t>
            </a:r>
            <a:endParaRPr lang="en-US" sz="1500" dirty="0"/>
          </a:p>
        </p:txBody>
      </p:sp>
      <p:sp>
        <p:nvSpPr>
          <p:cNvPr id="6" name="Shape 4"/>
          <p:cNvSpPr/>
          <p:nvPr/>
        </p:nvSpPr>
        <p:spPr>
          <a:xfrm>
            <a:off x="56692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7" name="Shape 5"/>
          <p:cNvSpPr/>
          <p:nvPr/>
        </p:nvSpPr>
        <p:spPr>
          <a:xfrm>
            <a:off x="841248" y="2331720"/>
            <a:ext cx="384048" cy="384048"/>
          </a:xfrm>
          <a:prstGeom prst="ellipse">
            <a:avLst/>
          </a:prstGeom>
          <a:solidFill>
            <a:srgbClr val="168456"/>
          </a:solidFill>
          <a:ln/>
        </p:spPr>
      </p:sp>
      <p:sp>
        <p:nvSpPr>
          <p:cNvPr id="8" name="Text 6"/>
          <p:cNvSpPr/>
          <p:nvPr/>
        </p:nvSpPr>
        <p:spPr>
          <a:xfrm>
            <a:off x="84124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34416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STUDENTS</a:t>
            </a:r>
            <a:endParaRPr lang="en-US" sz="1100" dirty="0"/>
          </a:p>
        </p:txBody>
      </p:sp>
      <p:sp>
        <p:nvSpPr>
          <p:cNvPr id="10" name="Text 8"/>
          <p:cNvSpPr/>
          <p:nvPr/>
        </p:nvSpPr>
        <p:spPr>
          <a:xfrm>
            <a:off x="84124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Can't ask.</a:t>
            </a:r>
            <a:endParaRPr lang="en-US" sz="2600" dirty="0"/>
          </a:p>
        </p:txBody>
      </p:sp>
      <p:sp>
        <p:nvSpPr>
          <p:cNvPr id="11" name="Text 9"/>
          <p:cNvSpPr/>
          <p:nvPr/>
        </p:nvSpPr>
        <p:spPr>
          <a:xfrm>
            <a:off x="84124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73%</a:t>
            </a:r>
            <a:endParaRPr lang="en-US" sz="2500" dirty="0"/>
          </a:p>
        </p:txBody>
      </p:sp>
      <p:sp>
        <p:nvSpPr>
          <p:cNvPr id="12" name="Text 10"/>
          <p:cNvSpPr/>
          <p:nvPr/>
        </p:nvSpPr>
        <p:spPr>
          <a:xfrm>
            <a:off x="84124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of grant applications rejected</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or under-funded</a:t>
            </a:r>
            <a:endParaRPr lang="en-US" sz="1050" dirty="0"/>
          </a:p>
        </p:txBody>
      </p:sp>
      <p:sp>
        <p:nvSpPr>
          <p:cNvPr id="13" name="Text 11"/>
          <p:cNvSpPr/>
          <p:nvPr/>
        </p:nvSpPr>
        <p:spPr>
          <a:xfrm>
            <a:off x="84124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14 / 23</a:t>
            </a:r>
            <a:endParaRPr lang="en-US" sz="2500" dirty="0"/>
          </a:p>
        </p:txBody>
      </p:sp>
      <p:sp>
        <p:nvSpPr>
          <p:cNvPr id="14" name="Text 12"/>
          <p:cNvSpPr/>
          <p:nvPr/>
        </p:nvSpPr>
        <p:spPr>
          <a:xfrm>
            <a:off x="84124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too embarrassed to ask publicly</a:t>
            </a:r>
            <a:endParaRPr lang="en-US" sz="1050" dirty="0"/>
          </a:p>
        </p:txBody>
      </p:sp>
      <p:sp>
        <p:nvSpPr>
          <p:cNvPr id="15" name="Shape 13"/>
          <p:cNvSpPr/>
          <p:nvPr/>
        </p:nvSpPr>
        <p:spPr>
          <a:xfrm>
            <a:off x="841248" y="5285232"/>
            <a:ext cx="2980944" cy="658368"/>
          </a:xfrm>
          <a:prstGeom prst="roundRect">
            <a:avLst>
              <a:gd name="adj" fmla="val 9722"/>
            </a:avLst>
          </a:prstGeom>
          <a:solidFill>
            <a:srgbClr val="E8F5EE"/>
          </a:solidFill>
          <a:ln/>
        </p:spPr>
      </p:sp>
      <p:sp>
        <p:nvSpPr>
          <p:cNvPr id="16" name="Text 14"/>
          <p:cNvSpPr/>
          <p:nvPr/>
        </p:nvSpPr>
        <p:spPr>
          <a:xfrm>
            <a:off x="96926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“Missed the bursary deadline.
Paid for Glasgow myself.”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Third-year, Oxford</a:t>
            </a:r>
            <a:endParaRPr lang="en-US" sz="1000" dirty="0"/>
          </a:p>
        </p:txBody>
      </p:sp>
      <p:sp>
        <p:nvSpPr>
          <p:cNvPr id="17" name="Shape 15"/>
          <p:cNvSpPr/>
          <p:nvPr/>
        </p:nvSpPr>
        <p:spPr>
          <a:xfrm>
            <a:off x="436168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8" name="Shape 16"/>
          <p:cNvSpPr/>
          <p:nvPr/>
        </p:nvSpPr>
        <p:spPr>
          <a:xfrm>
            <a:off x="4636008" y="2331720"/>
            <a:ext cx="384048" cy="384048"/>
          </a:xfrm>
          <a:prstGeom prst="ellipse">
            <a:avLst/>
          </a:prstGeom>
          <a:solidFill>
            <a:srgbClr val="168456"/>
          </a:solidFill>
          <a:ln/>
        </p:spPr>
      </p:sp>
      <p:sp>
        <p:nvSpPr>
          <p:cNvPr id="19" name="Text 17"/>
          <p:cNvSpPr/>
          <p:nvPr/>
        </p:nvSpPr>
        <p:spPr>
          <a:xfrm>
            <a:off x="463600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513892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YOUNG ALUMNI</a:t>
            </a:r>
            <a:endParaRPr lang="en-US" sz="1100" dirty="0"/>
          </a:p>
        </p:txBody>
      </p:sp>
      <p:sp>
        <p:nvSpPr>
          <p:cNvPr id="21" name="Text 19"/>
          <p:cNvSpPr/>
          <p:nvPr/>
        </p:nvSpPr>
        <p:spPr>
          <a:xfrm>
            <a:off x="463600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Aren't asked.</a:t>
            </a:r>
            <a:endParaRPr lang="en-US" sz="2600" dirty="0"/>
          </a:p>
        </p:txBody>
      </p:sp>
      <p:sp>
        <p:nvSpPr>
          <p:cNvPr id="22" name="Text 20"/>
          <p:cNvSpPr/>
          <p:nvPr/>
        </p:nvSpPr>
        <p:spPr>
          <a:xfrm>
            <a:off x="463600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4 in 10</a:t>
            </a:r>
            <a:endParaRPr lang="en-US" sz="2500" dirty="0"/>
          </a:p>
        </p:txBody>
      </p:sp>
      <p:sp>
        <p:nvSpPr>
          <p:cNvPr id="23" name="Text 21"/>
          <p:cNvSpPr/>
          <p:nvPr/>
        </p:nvSpPr>
        <p:spPr>
          <a:xfrm>
            <a:off x="463600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doubt their donation ever</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reached the cause</a:t>
            </a:r>
            <a:endParaRPr lang="en-US" sz="1050" dirty="0"/>
          </a:p>
        </p:txBody>
      </p:sp>
      <p:sp>
        <p:nvSpPr>
          <p:cNvPr id="24" name="Text 22"/>
          <p:cNvSpPr/>
          <p:nvPr/>
        </p:nvSpPr>
        <p:spPr>
          <a:xfrm>
            <a:off x="463600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−£1.4bn</a:t>
            </a:r>
            <a:endParaRPr lang="en-US" sz="2500" dirty="0"/>
          </a:p>
        </p:txBody>
      </p:sp>
      <p:sp>
        <p:nvSpPr>
          <p:cNvPr id="25" name="Text 23"/>
          <p:cNvSpPr/>
          <p:nvPr/>
        </p:nvSpPr>
        <p:spPr>
          <a:xfrm>
            <a:off x="463600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fall in UK giving in one year</a:t>
            </a:r>
            <a:endParaRPr lang="en-US" sz="1050" dirty="0"/>
          </a:p>
        </p:txBody>
      </p:sp>
      <p:sp>
        <p:nvSpPr>
          <p:cNvPr id="26" name="Shape 24"/>
          <p:cNvSpPr/>
          <p:nvPr/>
        </p:nvSpPr>
        <p:spPr>
          <a:xfrm>
            <a:off x="4636008" y="5285232"/>
            <a:ext cx="2980944" cy="658368"/>
          </a:xfrm>
          <a:prstGeom prst="roundRect">
            <a:avLst>
              <a:gd name="adj" fmla="val 9722"/>
            </a:avLst>
          </a:prstGeom>
          <a:solidFill>
            <a:srgbClr val="E8F5EE"/>
          </a:solidFill>
          <a:ln/>
        </p:spPr>
      </p:sp>
      <p:sp>
        <p:nvSpPr>
          <p:cNvPr id="27" name="Text 25"/>
          <p:cNvSpPr/>
          <p:nvPr/>
        </p:nvSpPr>
        <p:spPr>
          <a:xfrm>
            <a:off x="476402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“I actively avoid asking
anyone in their twenties.”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Development Director, Oxford college</a:t>
            </a:r>
            <a:endParaRPr lang="en-US" sz="1000" dirty="0"/>
          </a:p>
        </p:txBody>
      </p:sp>
      <p:sp>
        <p:nvSpPr>
          <p:cNvPr id="28" name="Text 26"/>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Sources: Dono student survey (n=23, July 2026); Dono interviews with 11 Oxford college development offices; CAF UK Giving 2026; UK government trust-in-charities reporting.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48640" y="786384"/>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Three people are stuck in the same gap.</a:t>
            </a:r>
            <a:endParaRPr lang="en-US" sz="3400" dirty="0"/>
          </a:p>
        </p:txBody>
      </p:sp>
      <p:sp>
        <p:nvSpPr>
          <p:cNvPr id="5" name="Text 3"/>
          <p:cNvSpPr/>
          <p:nvPr/>
        </p:nvSpPr>
        <p:spPr>
          <a:xfrm>
            <a:off x="566928" y="1572768"/>
            <a:ext cx="10424160" cy="457200"/>
          </a:xfrm>
          <a:prstGeom prst="rect">
            <a:avLst/>
          </a:prstGeom>
          <a:noFill/>
          <a:ln/>
        </p:spPr>
        <p:txBody>
          <a:bodyPr wrap="square" lIns="0" tIns="0" rIns="0" bIns="0" rtlCol="0" anchor="ctr"/>
          <a:lstStyle/>
          <a:p>
            <a:pPr indent="0" marL="0">
              <a:buNone/>
            </a:pPr>
            <a:r>
              <a:rPr lang="en-US" sz="1500" dirty="0">
                <a:solidFill>
                  <a:srgbClr val="56615A"/>
                </a:solidFill>
                <a:latin typeface="Calibri" pitchFamily="34" charset="0"/>
                <a:ea typeface="Calibri" pitchFamily="34" charset="-122"/>
                <a:cs typeface="Calibri" pitchFamily="34" charset="-120"/>
              </a:rPr>
              <a:t>Not one problem. One missing piece of infrastructure, failing three groups at once.</a:t>
            </a:r>
            <a:endParaRPr lang="en-US" sz="1500" dirty="0"/>
          </a:p>
        </p:txBody>
      </p:sp>
      <p:sp>
        <p:nvSpPr>
          <p:cNvPr id="6" name="Shape 4"/>
          <p:cNvSpPr/>
          <p:nvPr/>
        </p:nvSpPr>
        <p:spPr>
          <a:xfrm>
            <a:off x="56692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7" name="Shape 5"/>
          <p:cNvSpPr/>
          <p:nvPr/>
        </p:nvSpPr>
        <p:spPr>
          <a:xfrm>
            <a:off x="841248" y="2331720"/>
            <a:ext cx="384048" cy="384048"/>
          </a:xfrm>
          <a:prstGeom prst="ellipse">
            <a:avLst/>
          </a:prstGeom>
          <a:solidFill>
            <a:srgbClr val="168456"/>
          </a:solidFill>
          <a:ln/>
        </p:spPr>
      </p:sp>
      <p:sp>
        <p:nvSpPr>
          <p:cNvPr id="8" name="Text 6"/>
          <p:cNvSpPr/>
          <p:nvPr/>
        </p:nvSpPr>
        <p:spPr>
          <a:xfrm>
            <a:off x="84124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34416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STUDENTS</a:t>
            </a:r>
            <a:endParaRPr lang="en-US" sz="1100" dirty="0"/>
          </a:p>
        </p:txBody>
      </p:sp>
      <p:sp>
        <p:nvSpPr>
          <p:cNvPr id="10" name="Text 8"/>
          <p:cNvSpPr/>
          <p:nvPr/>
        </p:nvSpPr>
        <p:spPr>
          <a:xfrm>
            <a:off x="84124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Can't ask.</a:t>
            </a:r>
            <a:endParaRPr lang="en-US" sz="2600" dirty="0"/>
          </a:p>
        </p:txBody>
      </p:sp>
      <p:sp>
        <p:nvSpPr>
          <p:cNvPr id="11" name="Text 9"/>
          <p:cNvSpPr/>
          <p:nvPr/>
        </p:nvSpPr>
        <p:spPr>
          <a:xfrm>
            <a:off x="84124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73%</a:t>
            </a:r>
            <a:endParaRPr lang="en-US" sz="2500" dirty="0"/>
          </a:p>
        </p:txBody>
      </p:sp>
      <p:sp>
        <p:nvSpPr>
          <p:cNvPr id="12" name="Text 10"/>
          <p:cNvSpPr/>
          <p:nvPr/>
        </p:nvSpPr>
        <p:spPr>
          <a:xfrm>
            <a:off x="84124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of grant applications rejected</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or under-funded</a:t>
            </a:r>
            <a:endParaRPr lang="en-US" sz="1050" dirty="0"/>
          </a:p>
        </p:txBody>
      </p:sp>
      <p:sp>
        <p:nvSpPr>
          <p:cNvPr id="13" name="Text 11"/>
          <p:cNvSpPr/>
          <p:nvPr/>
        </p:nvSpPr>
        <p:spPr>
          <a:xfrm>
            <a:off x="84124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14 / 23</a:t>
            </a:r>
            <a:endParaRPr lang="en-US" sz="2500" dirty="0"/>
          </a:p>
        </p:txBody>
      </p:sp>
      <p:sp>
        <p:nvSpPr>
          <p:cNvPr id="14" name="Text 12"/>
          <p:cNvSpPr/>
          <p:nvPr/>
        </p:nvSpPr>
        <p:spPr>
          <a:xfrm>
            <a:off x="84124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too embarrassed to ask publicly</a:t>
            </a:r>
            <a:endParaRPr lang="en-US" sz="1050" dirty="0"/>
          </a:p>
        </p:txBody>
      </p:sp>
      <p:sp>
        <p:nvSpPr>
          <p:cNvPr id="15" name="Shape 13"/>
          <p:cNvSpPr/>
          <p:nvPr/>
        </p:nvSpPr>
        <p:spPr>
          <a:xfrm>
            <a:off x="841248" y="5285232"/>
            <a:ext cx="2980944" cy="658368"/>
          </a:xfrm>
          <a:prstGeom prst="roundRect">
            <a:avLst>
              <a:gd name="adj" fmla="val 9722"/>
            </a:avLst>
          </a:prstGeom>
          <a:solidFill>
            <a:srgbClr val="E8F5EE"/>
          </a:solidFill>
          <a:ln/>
        </p:spPr>
      </p:sp>
      <p:sp>
        <p:nvSpPr>
          <p:cNvPr id="16" name="Text 14"/>
          <p:cNvSpPr/>
          <p:nvPr/>
        </p:nvSpPr>
        <p:spPr>
          <a:xfrm>
            <a:off x="96926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“Missed the bursary deadline.
Paid for Glasgow myself.”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Third-year, Oxford</a:t>
            </a:r>
            <a:endParaRPr lang="en-US" sz="1000" dirty="0"/>
          </a:p>
        </p:txBody>
      </p:sp>
      <p:sp>
        <p:nvSpPr>
          <p:cNvPr id="17" name="Shape 15"/>
          <p:cNvSpPr/>
          <p:nvPr/>
        </p:nvSpPr>
        <p:spPr>
          <a:xfrm>
            <a:off x="436168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8" name="Shape 16"/>
          <p:cNvSpPr/>
          <p:nvPr/>
        </p:nvSpPr>
        <p:spPr>
          <a:xfrm>
            <a:off x="4636008" y="2331720"/>
            <a:ext cx="384048" cy="384048"/>
          </a:xfrm>
          <a:prstGeom prst="ellipse">
            <a:avLst/>
          </a:prstGeom>
          <a:solidFill>
            <a:srgbClr val="168456"/>
          </a:solidFill>
          <a:ln/>
        </p:spPr>
      </p:sp>
      <p:sp>
        <p:nvSpPr>
          <p:cNvPr id="19" name="Text 17"/>
          <p:cNvSpPr/>
          <p:nvPr/>
        </p:nvSpPr>
        <p:spPr>
          <a:xfrm>
            <a:off x="463600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p:nvPr/>
        </p:nvSpPr>
        <p:spPr>
          <a:xfrm>
            <a:off x="513892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YOUNG ALUMNI</a:t>
            </a:r>
            <a:endParaRPr lang="en-US" sz="1100" dirty="0"/>
          </a:p>
        </p:txBody>
      </p:sp>
      <p:sp>
        <p:nvSpPr>
          <p:cNvPr id="21" name="Text 19"/>
          <p:cNvSpPr/>
          <p:nvPr/>
        </p:nvSpPr>
        <p:spPr>
          <a:xfrm>
            <a:off x="463600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Aren't asked.</a:t>
            </a:r>
            <a:endParaRPr lang="en-US" sz="2600" dirty="0"/>
          </a:p>
        </p:txBody>
      </p:sp>
      <p:sp>
        <p:nvSpPr>
          <p:cNvPr id="22" name="Text 20"/>
          <p:cNvSpPr/>
          <p:nvPr/>
        </p:nvSpPr>
        <p:spPr>
          <a:xfrm>
            <a:off x="463600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4 in 10</a:t>
            </a:r>
            <a:endParaRPr lang="en-US" sz="2500" dirty="0"/>
          </a:p>
        </p:txBody>
      </p:sp>
      <p:sp>
        <p:nvSpPr>
          <p:cNvPr id="23" name="Text 21"/>
          <p:cNvSpPr/>
          <p:nvPr/>
        </p:nvSpPr>
        <p:spPr>
          <a:xfrm>
            <a:off x="463600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doubt their donation ever</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reached the cause</a:t>
            </a:r>
            <a:endParaRPr lang="en-US" sz="1050" dirty="0"/>
          </a:p>
        </p:txBody>
      </p:sp>
      <p:sp>
        <p:nvSpPr>
          <p:cNvPr id="24" name="Text 22"/>
          <p:cNvSpPr/>
          <p:nvPr/>
        </p:nvSpPr>
        <p:spPr>
          <a:xfrm>
            <a:off x="463600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−£1.4bn</a:t>
            </a:r>
            <a:endParaRPr lang="en-US" sz="2500" dirty="0"/>
          </a:p>
        </p:txBody>
      </p:sp>
      <p:sp>
        <p:nvSpPr>
          <p:cNvPr id="25" name="Text 23"/>
          <p:cNvSpPr/>
          <p:nvPr/>
        </p:nvSpPr>
        <p:spPr>
          <a:xfrm>
            <a:off x="463600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fall in UK giving in one year</a:t>
            </a:r>
            <a:endParaRPr lang="en-US" sz="1050" dirty="0"/>
          </a:p>
        </p:txBody>
      </p:sp>
      <p:sp>
        <p:nvSpPr>
          <p:cNvPr id="26" name="Shape 24"/>
          <p:cNvSpPr/>
          <p:nvPr/>
        </p:nvSpPr>
        <p:spPr>
          <a:xfrm>
            <a:off x="4636008" y="5285232"/>
            <a:ext cx="2980944" cy="658368"/>
          </a:xfrm>
          <a:prstGeom prst="roundRect">
            <a:avLst>
              <a:gd name="adj" fmla="val 9722"/>
            </a:avLst>
          </a:prstGeom>
          <a:solidFill>
            <a:srgbClr val="E8F5EE"/>
          </a:solidFill>
          <a:ln/>
        </p:spPr>
      </p:sp>
      <p:sp>
        <p:nvSpPr>
          <p:cNvPr id="27" name="Text 25"/>
          <p:cNvSpPr/>
          <p:nvPr/>
        </p:nvSpPr>
        <p:spPr>
          <a:xfrm>
            <a:off x="476402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“I actively avoid asking
anyone in their twenties.”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Development Director, Oxford college</a:t>
            </a:r>
            <a:endParaRPr lang="en-US" sz="1000" dirty="0"/>
          </a:p>
        </p:txBody>
      </p:sp>
      <p:sp>
        <p:nvSpPr>
          <p:cNvPr id="28" name="Shape 26"/>
          <p:cNvSpPr/>
          <p:nvPr/>
        </p:nvSpPr>
        <p:spPr>
          <a:xfrm>
            <a:off x="8156448" y="2084832"/>
            <a:ext cx="3529584" cy="3977640"/>
          </a:xfrm>
          <a:prstGeom prst="roundRect">
            <a:avLst>
              <a:gd name="adj" fmla="val 2332"/>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9" name="Shape 27"/>
          <p:cNvSpPr/>
          <p:nvPr/>
        </p:nvSpPr>
        <p:spPr>
          <a:xfrm>
            <a:off x="8430768" y="2331720"/>
            <a:ext cx="384048" cy="384048"/>
          </a:xfrm>
          <a:prstGeom prst="ellipse">
            <a:avLst/>
          </a:prstGeom>
          <a:solidFill>
            <a:srgbClr val="168456"/>
          </a:solidFill>
          <a:ln/>
        </p:spPr>
      </p:sp>
      <p:sp>
        <p:nvSpPr>
          <p:cNvPr id="30" name="Text 28"/>
          <p:cNvSpPr/>
          <p:nvPr/>
        </p:nvSpPr>
        <p:spPr>
          <a:xfrm>
            <a:off x="8430768" y="2331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p:nvPr/>
        </p:nvSpPr>
        <p:spPr>
          <a:xfrm>
            <a:off x="8933688" y="2331720"/>
            <a:ext cx="2523744" cy="384048"/>
          </a:xfrm>
          <a:prstGeom prst="rect">
            <a:avLst/>
          </a:prstGeom>
          <a:noFill/>
          <a:ln/>
        </p:spPr>
        <p:txBody>
          <a:bodyPr wrap="square" lIns="0" tIns="0" rIns="0" bIns="0" rtlCol="0" anchor="ctr"/>
          <a:lstStyle/>
          <a:p>
            <a:pPr indent="0" marL="0">
              <a:buNone/>
            </a:pPr>
            <a:r>
              <a:rPr lang="en-US" sz="1100" b="1" spc="140" kern="0" dirty="0">
                <a:solidFill>
                  <a:srgbClr val="69A984"/>
                </a:solidFill>
                <a:latin typeface="Calibri" pitchFamily="34" charset="0"/>
                <a:ea typeface="Calibri" pitchFamily="34" charset="-122"/>
                <a:cs typeface="Calibri" pitchFamily="34" charset="-120"/>
              </a:rPr>
              <a:t>COLLEGES</a:t>
            </a:r>
            <a:endParaRPr lang="en-US" sz="1100" dirty="0"/>
          </a:p>
        </p:txBody>
      </p:sp>
      <p:sp>
        <p:nvSpPr>
          <p:cNvPr id="32" name="Text 30"/>
          <p:cNvSpPr/>
          <p:nvPr/>
        </p:nvSpPr>
        <p:spPr>
          <a:xfrm>
            <a:off x="8430768" y="2816352"/>
            <a:ext cx="2980944" cy="502920"/>
          </a:xfrm>
          <a:prstGeom prst="rect">
            <a:avLst/>
          </a:prstGeom>
          <a:noFill/>
          <a:ln/>
        </p:spPr>
        <p:txBody>
          <a:bodyPr wrap="square" lIns="0" tIns="0" rIns="0" bIns="0" rtlCol="0" anchor="ctr"/>
          <a:lstStyle/>
          <a:p>
            <a:pPr indent="0" marL="0">
              <a:buNone/>
            </a:pPr>
            <a:r>
              <a:rPr lang="en-US" sz="2600" b="1" dirty="0">
                <a:solidFill>
                  <a:srgbClr val="17211B"/>
                </a:solidFill>
                <a:latin typeface="Cambria" pitchFamily="34" charset="0"/>
                <a:ea typeface="Cambria" pitchFamily="34" charset="-122"/>
                <a:cs typeface="Cambria" pitchFamily="34" charset="-120"/>
              </a:rPr>
              <a:t>Can't afford to.</a:t>
            </a:r>
            <a:endParaRPr lang="en-US" sz="2600" dirty="0"/>
          </a:p>
        </p:txBody>
      </p:sp>
      <p:sp>
        <p:nvSpPr>
          <p:cNvPr id="33" name="Text 31"/>
          <p:cNvSpPr/>
          <p:nvPr/>
        </p:nvSpPr>
        <p:spPr>
          <a:xfrm>
            <a:off x="8430768" y="340156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£2,000</a:t>
            </a:r>
            <a:endParaRPr lang="en-US" sz="2500" dirty="0"/>
          </a:p>
        </p:txBody>
      </p:sp>
      <p:sp>
        <p:nvSpPr>
          <p:cNvPr id="34" name="Text 32"/>
          <p:cNvSpPr/>
          <p:nvPr/>
        </p:nvSpPr>
        <p:spPr>
          <a:xfrm>
            <a:off x="8430768" y="380390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below this, an appeal costs</a:t>
            </a:r>
            <a:endParaRPr lang="en-US" sz="1050" dirty="0"/>
          </a:p>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more than it raises</a:t>
            </a:r>
            <a:endParaRPr lang="en-US" sz="1050" dirty="0"/>
          </a:p>
        </p:txBody>
      </p:sp>
      <p:sp>
        <p:nvSpPr>
          <p:cNvPr id="35" name="Text 33"/>
          <p:cNvSpPr/>
          <p:nvPr/>
        </p:nvSpPr>
        <p:spPr>
          <a:xfrm>
            <a:off x="8430768" y="4407408"/>
            <a:ext cx="2980944" cy="402336"/>
          </a:xfrm>
          <a:prstGeom prst="rect">
            <a:avLst/>
          </a:prstGeom>
          <a:noFill/>
          <a:ln/>
        </p:spPr>
        <p:txBody>
          <a:bodyPr wrap="square" lIns="0" tIns="0" rIns="0" bIns="0" rtlCol="0" anchor="ctr"/>
          <a:lstStyle/>
          <a:p>
            <a:pPr indent="0" marL="0">
              <a:buNone/>
            </a:pPr>
            <a:r>
              <a:rPr lang="en-US" sz="2500" b="1" dirty="0">
                <a:solidFill>
                  <a:srgbClr val="126E49"/>
                </a:solidFill>
                <a:latin typeface="Cambria" pitchFamily="34" charset="0"/>
                <a:ea typeface="Cambria" pitchFamily="34" charset="-122"/>
                <a:cs typeface="Cambria" pitchFamily="34" charset="-120"/>
              </a:rPr>
              <a:t>£30–50k</a:t>
            </a:r>
            <a:endParaRPr lang="en-US" sz="2500" dirty="0"/>
          </a:p>
        </p:txBody>
      </p:sp>
      <p:sp>
        <p:nvSpPr>
          <p:cNvPr id="36" name="Text 34"/>
          <p:cNvSpPr/>
          <p:nvPr/>
        </p:nvSpPr>
        <p:spPr>
          <a:xfrm>
            <a:off x="8430768" y="4809744"/>
            <a:ext cx="2980944" cy="512064"/>
          </a:xfrm>
          <a:prstGeom prst="rect">
            <a:avLst/>
          </a:prstGeom>
          <a:noFill/>
          <a:ln/>
        </p:spPr>
        <p:txBody>
          <a:bodyPr wrap="square" lIns="0" tIns="0" rIns="0" bIns="0" rtlCol="0" anchor="t"/>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telethon cost, for £10–15k net</a:t>
            </a:r>
            <a:endParaRPr lang="en-US" sz="1050" dirty="0"/>
          </a:p>
        </p:txBody>
      </p:sp>
      <p:sp>
        <p:nvSpPr>
          <p:cNvPr id="37" name="Shape 35"/>
          <p:cNvSpPr/>
          <p:nvPr/>
        </p:nvSpPr>
        <p:spPr>
          <a:xfrm>
            <a:off x="8430768" y="5285232"/>
            <a:ext cx="2980944" cy="658368"/>
          </a:xfrm>
          <a:prstGeom prst="roundRect">
            <a:avLst>
              <a:gd name="adj" fmla="val 9722"/>
            </a:avLst>
          </a:prstGeom>
          <a:solidFill>
            <a:srgbClr val="E8F5EE"/>
          </a:solidFill>
          <a:ln/>
        </p:spPr>
      </p:sp>
      <p:sp>
        <p:nvSpPr>
          <p:cNvPr id="38" name="Text 36"/>
          <p:cNvSpPr/>
          <p:nvPr/>
        </p:nvSpPr>
        <p:spPr>
          <a:xfrm>
            <a:off x="8558784" y="5285232"/>
            <a:ext cx="2724912" cy="658368"/>
          </a:xfrm>
          <a:prstGeom prst="rect">
            <a:avLst/>
          </a:prstGeom>
          <a:noFill/>
          <a:ln/>
        </p:spPr>
        <p:txBody>
          <a:bodyPr wrap="square" lIns="0" tIns="0" rIns="0" bIns="0" rtlCol="0" anchor="ctr"/>
          <a:lstStyle/>
          <a:p>
            <a:pPr indent="0" marL="0">
              <a:lnSpc>
                <a:spcPts val="1200"/>
              </a:lnSpc>
              <a:buNone/>
            </a:pPr>
            <a:r>
              <a:rPr lang="en-US" sz="1000" b="1" i="1" dirty="0">
                <a:solidFill>
                  <a:srgbClr val="126E49"/>
                </a:solidFill>
                <a:latin typeface="Calibri" pitchFamily="34" charset="0"/>
                <a:ea typeface="Calibri" pitchFamily="34" charset="-122"/>
                <a:cs typeface="Calibri" pitchFamily="34" charset="-120"/>
              </a:rPr>
              <a:t>“The problem raising money
for societies is the students.”
</a:t>
            </a:r>
            <a:endParaRPr lang="en-US" sz="1000" dirty="0"/>
          </a:p>
          <a:p>
            <a:pPr indent="0" marL="0">
              <a:lnSpc>
                <a:spcPts val="1200"/>
              </a:lnSpc>
              <a:buNone/>
            </a:pPr>
            <a:r>
              <a:rPr lang="en-US" sz="850" dirty="0">
                <a:solidFill>
                  <a:srgbClr val="56615A"/>
                </a:solidFill>
                <a:latin typeface="Calibri" pitchFamily="34" charset="0"/>
                <a:ea typeface="Calibri" pitchFamily="34" charset="-122"/>
                <a:cs typeface="Calibri" pitchFamily="34" charset="-120"/>
              </a:rPr>
              <a:t>Head of Development, Oxford college</a:t>
            </a:r>
            <a:endParaRPr lang="en-US" sz="1000" dirty="0"/>
          </a:p>
        </p:txBody>
      </p:sp>
      <p:sp>
        <p:nvSpPr>
          <p:cNvPr id="39" name="Text 37"/>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Sources: Dono student survey (n=23, July 2026); Dono interviews with 11 Oxford college development offices; CAF UK Giving 2026; UK government trust-in-charities reporting.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GAP</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Every gift under £2,000 is orphaned.</a:t>
            </a:r>
            <a:endParaRPr lang="en-US" sz="3400" dirty="0"/>
          </a:p>
        </p:txBody>
      </p:sp>
      <p:sp>
        <p:nvSpPr>
          <p:cNvPr id="5" name="Text 3"/>
          <p:cNvSpPr/>
          <p:nvPr/>
        </p:nvSpPr>
        <p:spPr>
          <a:xfrm>
            <a:off x="566928" y="1691640"/>
            <a:ext cx="10424160" cy="457200"/>
          </a:xfrm>
          <a:prstGeom prst="rect">
            <a:avLst/>
          </a:prstGeom>
          <a:noFill/>
          <a:ln/>
        </p:spPr>
        <p:txBody>
          <a:bodyPr wrap="square" lIns="0" tIns="0" rIns="0" bIns="0" rtlCol="0" anchor="ctr"/>
          <a:lstStyle/>
          <a:p>
            <a:pPr indent="0" marL="0">
              <a:buNone/>
            </a:pPr>
            <a:r>
              <a:rPr lang="en-US" sz="1500" dirty="0">
                <a:solidFill>
                  <a:srgbClr val="56615A"/>
                </a:solidFill>
                <a:latin typeface="Calibri" pitchFamily="34" charset="0"/>
                <a:ea typeface="Calibri" pitchFamily="34" charset="-122"/>
                <a:cs typeface="Calibri" pitchFamily="34" charset="-120"/>
              </a:rPr>
              <a:t>Too small for a development office. Too ordinary for GoFundMe. Nobody owns this money.</a:t>
            </a:r>
            <a:endParaRPr lang="en-US" sz="1500" dirty="0"/>
          </a:p>
        </p:txBody>
      </p:sp>
      <p:sp>
        <p:nvSpPr>
          <p:cNvPr id="6" name="Shape 4"/>
          <p:cNvSpPr/>
          <p:nvPr/>
        </p:nvSpPr>
        <p:spPr>
          <a:xfrm>
            <a:off x="566928" y="2606040"/>
            <a:ext cx="11064240" cy="1371600"/>
          </a:xfrm>
          <a:prstGeom prst="roundRect">
            <a:avLst>
              <a:gd name="adj" fmla="val 6667"/>
            </a:avLst>
          </a:prstGeom>
          <a:solidFill>
            <a:srgbClr val="FFFFFF"/>
          </a:solidFill>
          <a:ln w="12700">
            <a:solidFill>
              <a:srgbClr val="DDE6E0"/>
            </a:solidFill>
            <a:prstDash val="solid"/>
          </a:ln>
        </p:spPr>
      </p:sp>
      <p:sp>
        <p:nvSpPr>
          <p:cNvPr id="7" name="Shape 5"/>
          <p:cNvSpPr/>
          <p:nvPr/>
        </p:nvSpPr>
        <p:spPr>
          <a:xfrm>
            <a:off x="640080" y="2679192"/>
            <a:ext cx="6126480" cy="1225296"/>
          </a:xfrm>
          <a:prstGeom prst="roundRect">
            <a:avLst>
              <a:gd name="adj" fmla="val 5970"/>
            </a:avLst>
          </a:prstGeom>
          <a:solidFill>
            <a:srgbClr val="E8F5EE"/>
          </a:solidFill>
          <a:ln/>
        </p:spPr>
      </p:sp>
      <p:sp>
        <p:nvSpPr>
          <p:cNvPr id="8" name="Text 6"/>
          <p:cNvSpPr/>
          <p:nvPr/>
        </p:nvSpPr>
        <p:spPr>
          <a:xfrm>
            <a:off x="886968" y="2679192"/>
            <a:ext cx="5669280" cy="1225296"/>
          </a:xfrm>
          <a:prstGeom prst="rect">
            <a:avLst/>
          </a:prstGeom>
          <a:noFill/>
          <a:ln/>
        </p:spPr>
        <p:txBody>
          <a:bodyPr wrap="square" lIns="0" tIns="0" rIns="0" bIns="0" rtlCol="0" anchor="ctr"/>
          <a:lstStyle/>
          <a:p>
            <a:pPr indent="0" marL="0">
              <a:lnSpc>
                <a:spcPts val="2600"/>
              </a:lnSpc>
              <a:buNone/>
            </a:pPr>
            <a:r>
              <a:rPr lang="en-US" sz="2400" b="1" dirty="0">
                <a:solidFill>
                  <a:srgbClr val="126E49"/>
                </a:solidFill>
                <a:latin typeface="Cambria" pitchFamily="34" charset="0"/>
                <a:ea typeface="Cambria" pitchFamily="34" charset="-122"/>
                <a:cs typeface="Cambria" pitchFamily="34" charset="-120"/>
              </a:rPr>
              <a:t>£5  —  £2,000
</a:t>
            </a:r>
            <a:endParaRPr lang="en-US" sz="2400" dirty="0"/>
          </a:p>
          <a:p>
            <a:pPr indent="0" marL="0">
              <a:lnSpc>
                <a:spcPts val="2600"/>
              </a:lnSpc>
              <a:buNone/>
            </a:pPr>
            <a:r>
              <a:rPr lang="en-US" sz="1100" b="1" spc="130" kern="0" dirty="0">
                <a:solidFill>
                  <a:srgbClr val="168456"/>
                </a:solidFill>
                <a:latin typeface="Cambria" pitchFamily="34" charset="0"/>
                <a:ea typeface="Cambria" pitchFamily="34" charset="-122"/>
                <a:cs typeface="Cambria" pitchFamily="34" charset="-120"/>
              </a:rPr>
              <a:t>NOBODY FUNDRAISES HERE</a:t>
            </a:r>
            <a:endParaRPr lang="en-US" sz="2400" dirty="0"/>
          </a:p>
        </p:txBody>
      </p:sp>
      <p:sp>
        <p:nvSpPr>
          <p:cNvPr id="9" name="Shape 7"/>
          <p:cNvSpPr/>
          <p:nvPr/>
        </p:nvSpPr>
        <p:spPr>
          <a:xfrm>
            <a:off x="6922008" y="2679192"/>
            <a:ext cx="4636008" cy="1225296"/>
          </a:xfrm>
          <a:prstGeom prst="roundRect">
            <a:avLst>
              <a:gd name="adj" fmla="val 5970"/>
            </a:avLst>
          </a:prstGeom>
          <a:solidFill>
            <a:srgbClr val="EEF1EF"/>
          </a:solidFill>
          <a:ln/>
        </p:spPr>
      </p:sp>
      <p:sp>
        <p:nvSpPr>
          <p:cNvPr id="10" name="Text 8"/>
          <p:cNvSpPr/>
          <p:nvPr/>
        </p:nvSpPr>
        <p:spPr>
          <a:xfrm>
            <a:off x="7196328" y="2679192"/>
            <a:ext cx="4206240" cy="1225296"/>
          </a:xfrm>
          <a:prstGeom prst="rect">
            <a:avLst/>
          </a:prstGeom>
          <a:noFill/>
          <a:ln/>
        </p:spPr>
        <p:txBody>
          <a:bodyPr wrap="square" lIns="0" tIns="0" rIns="0" bIns="0" rtlCol="0" anchor="ctr"/>
          <a:lstStyle/>
          <a:p>
            <a:pPr indent="0" marL="0">
              <a:lnSpc>
                <a:spcPts val="2600"/>
              </a:lnSpc>
              <a:buNone/>
            </a:pPr>
            <a:r>
              <a:rPr lang="en-US" sz="2400" b="1" dirty="0">
                <a:solidFill>
                  <a:srgbClr val="56615A"/>
                </a:solidFill>
                <a:latin typeface="Cambria" pitchFamily="34" charset="0"/>
                <a:ea typeface="Cambria" pitchFamily="34" charset="-122"/>
                <a:cs typeface="Cambria" pitchFamily="34" charset="-120"/>
              </a:rPr>
              <a:t>£10,000 +
</a:t>
            </a:r>
            <a:endParaRPr lang="en-US" sz="2400" dirty="0"/>
          </a:p>
          <a:p>
            <a:pPr indent="0" marL="0">
              <a:lnSpc>
                <a:spcPts val="2600"/>
              </a:lnSpc>
              <a:buNone/>
            </a:pPr>
            <a:r>
              <a:rPr lang="en-US" sz="1100" b="1" spc="130" kern="0" dirty="0">
                <a:solidFill>
                  <a:srgbClr val="8E9A93"/>
                </a:solidFill>
                <a:latin typeface="Cambria" pitchFamily="34" charset="0"/>
                <a:ea typeface="Cambria" pitchFamily="34" charset="-122"/>
                <a:cs typeface="Cambria" pitchFamily="34" charset="-120"/>
              </a:rPr>
              <a:t>WHERE 100% OF EFFORT GOES</a:t>
            </a:r>
            <a:endParaRPr lang="en-US" sz="2400" dirty="0"/>
          </a:p>
        </p:txBody>
      </p:sp>
      <p:sp>
        <p:nvSpPr>
          <p:cNvPr id="11" name="Shape 9"/>
          <p:cNvSpPr/>
          <p:nvPr/>
        </p:nvSpPr>
        <p:spPr>
          <a:xfrm>
            <a:off x="566928" y="4343400"/>
            <a:ext cx="3502152"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2" name="Text 10"/>
          <p:cNvSpPr/>
          <p:nvPr/>
        </p:nvSpPr>
        <p:spPr>
          <a:xfrm>
            <a:off x="859536" y="4480560"/>
            <a:ext cx="2926080" cy="566928"/>
          </a:xfrm>
          <a:prstGeom prst="rect">
            <a:avLst/>
          </a:prstGeom>
          <a:noFill/>
          <a:ln/>
        </p:spPr>
        <p:txBody>
          <a:bodyPr wrap="square" lIns="0" tIns="0" rIns="0" bIns="0" rtlCol="0" anchor="ctr"/>
          <a:lstStyle/>
          <a:p>
            <a:pPr algn="l" indent="0" marL="0">
              <a:buNone/>
            </a:pPr>
            <a:r>
              <a:rPr lang="en-US" sz="2700" b="1" dirty="0">
                <a:solidFill>
                  <a:srgbClr val="168456"/>
                </a:solidFill>
                <a:latin typeface="Cambria" pitchFamily="34" charset="0"/>
                <a:ea typeface="Cambria" pitchFamily="34" charset="-122"/>
                <a:cs typeface="Cambria" pitchFamily="34" charset="-120"/>
              </a:rPr>
              <a:t>£150–£500</a:t>
            </a:r>
            <a:endParaRPr lang="en-US" sz="2700" dirty="0"/>
          </a:p>
        </p:txBody>
      </p:sp>
      <p:sp>
        <p:nvSpPr>
          <p:cNvPr id="13" name="Text 11"/>
          <p:cNvSpPr/>
          <p:nvPr/>
        </p:nvSpPr>
        <p:spPr>
          <a:xfrm>
            <a:off x="859536" y="5010912"/>
            <a:ext cx="2926080" cy="658368"/>
          </a:xfrm>
          <a:prstGeom prst="rect">
            <a:avLst/>
          </a:prstGeom>
          <a:noFill/>
          <a:ln/>
        </p:spPr>
        <p:txBody>
          <a:bodyPr wrap="square" lIns="0" tIns="0" rIns="0" bIns="0" rtlCol="0" anchor="t"/>
          <a:lstStyle/>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the most common amount a student</a:t>
            </a:r>
            <a:endParaRPr lang="en-US" sz="1150" dirty="0"/>
          </a:p>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actually needs</a:t>
            </a:r>
            <a:endParaRPr lang="en-US" sz="1150" dirty="0"/>
          </a:p>
        </p:txBody>
      </p:sp>
      <p:sp>
        <p:nvSpPr>
          <p:cNvPr id="14" name="Shape 12"/>
          <p:cNvSpPr/>
          <p:nvPr/>
        </p:nvSpPr>
        <p:spPr>
          <a:xfrm>
            <a:off x="4270248" y="4343400"/>
            <a:ext cx="3502152"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5" name="Text 13"/>
          <p:cNvSpPr/>
          <p:nvPr/>
        </p:nvSpPr>
        <p:spPr>
          <a:xfrm>
            <a:off x="4562856" y="4480560"/>
            <a:ext cx="2926080" cy="566928"/>
          </a:xfrm>
          <a:prstGeom prst="rect">
            <a:avLst/>
          </a:prstGeom>
          <a:noFill/>
          <a:ln/>
        </p:spPr>
        <p:txBody>
          <a:bodyPr wrap="square" lIns="0" tIns="0" rIns="0" bIns="0" rtlCol="0" anchor="ctr"/>
          <a:lstStyle/>
          <a:p>
            <a:pPr algn="l" indent="0" marL="0">
              <a:buNone/>
            </a:pPr>
            <a:r>
              <a:rPr lang="en-US" sz="2700" b="1" dirty="0">
                <a:solidFill>
                  <a:srgbClr val="168456"/>
                </a:solidFill>
                <a:latin typeface="Cambria" pitchFamily="34" charset="0"/>
                <a:ea typeface="Cambria" pitchFamily="34" charset="-122"/>
                <a:cs typeface="Cambria" pitchFamily="34" charset="-120"/>
              </a:rPr>
              <a:t>2–3×</a:t>
            </a:r>
            <a:endParaRPr lang="en-US" sz="2700" dirty="0"/>
          </a:p>
        </p:txBody>
      </p:sp>
      <p:sp>
        <p:nvSpPr>
          <p:cNvPr id="16" name="Text 14"/>
          <p:cNvSpPr/>
          <p:nvPr/>
        </p:nvSpPr>
        <p:spPr>
          <a:xfrm>
            <a:off x="4562856" y="5010912"/>
            <a:ext cx="2926080" cy="658368"/>
          </a:xfrm>
          <a:prstGeom prst="rect">
            <a:avLst/>
          </a:prstGeom>
          <a:noFill/>
          <a:ln/>
        </p:spPr>
        <p:txBody>
          <a:bodyPr wrap="square" lIns="0" tIns="0" rIns="0" bIns="0" rtlCol="0" anchor="t"/>
          <a:lstStyle/>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how often they need it,</a:t>
            </a:r>
            <a:endParaRPr lang="en-US" sz="1150" dirty="0"/>
          </a:p>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every single year</a:t>
            </a:r>
            <a:endParaRPr lang="en-US" sz="1150" dirty="0"/>
          </a:p>
        </p:txBody>
      </p:sp>
      <p:sp>
        <p:nvSpPr>
          <p:cNvPr id="17" name="Shape 15"/>
          <p:cNvSpPr/>
          <p:nvPr/>
        </p:nvSpPr>
        <p:spPr>
          <a:xfrm>
            <a:off x="7973568" y="4343400"/>
            <a:ext cx="3502152"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8" name="Text 16"/>
          <p:cNvSpPr/>
          <p:nvPr/>
        </p:nvSpPr>
        <p:spPr>
          <a:xfrm>
            <a:off x="8266176" y="4480560"/>
            <a:ext cx="2926080" cy="566928"/>
          </a:xfrm>
          <a:prstGeom prst="rect">
            <a:avLst/>
          </a:prstGeom>
          <a:noFill/>
          <a:ln/>
        </p:spPr>
        <p:txBody>
          <a:bodyPr wrap="square" lIns="0" tIns="0" rIns="0" bIns="0" rtlCol="0" anchor="ctr"/>
          <a:lstStyle/>
          <a:p>
            <a:pPr algn="l" indent="0" marL="0">
              <a:buNone/>
            </a:pPr>
            <a:r>
              <a:rPr lang="en-US" sz="2700" b="1" dirty="0">
                <a:solidFill>
                  <a:srgbClr val="168456"/>
                </a:solidFill>
                <a:latin typeface="Cambria" pitchFamily="34" charset="0"/>
                <a:ea typeface="Cambria" pitchFamily="34" charset="-122"/>
                <a:cs typeface="Cambria" pitchFamily="34" charset="-120"/>
              </a:rPr>
              <a:t>£0</a:t>
            </a:r>
            <a:endParaRPr lang="en-US" sz="2700" dirty="0"/>
          </a:p>
        </p:txBody>
      </p:sp>
      <p:sp>
        <p:nvSpPr>
          <p:cNvPr id="19" name="Text 17"/>
          <p:cNvSpPr/>
          <p:nvPr/>
        </p:nvSpPr>
        <p:spPr>
          <a:xfrm>
            <a:off x="8266176" y="5010912"/>
            <a:ext cx="2926080" cy="658368"/>
          </a:xfrm>
          <a:prstGeom prst="rect">
            <a:avLst/>
          </a:prstGeom>
          <a:noFill/>
          <a:ln/>
        </p:spPr>
        <p:txBody>
          <a:bodyPr wrap="square" lIns="0" tIns="0" rIns="0" bIns="0" rtlCol="0" anchor="t"/>
          <a:lstStyle/>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what a college can profitably</a:t>
            </a:r>
            <a:endParaRPr lang="en-US" sz="1150" dirty="0"/>
          </a:p>
          <a:p>
            <a:pPr algn="l" indent="0" marL="0">
              <a:lnSpc>
                <a:spcPts val="1500"/>
              </a:lnSpc>
              <a:buNone/>
            </a:pPr>
            <a:r>
              <a:rPr lang="en-US" sz="1150" dirty="0">
                <a:solidFill>
                  <a:srgbClr val="56615A"/>
                </a:solidFill>
                <a:latin typeface="Calibri" pitchFamily="34" charset="0"/>
                <a:ea typeface="Calibri" pitchFamily="34" charset="-122"/>
                <a:cs typeface="Calibri" pitchFamily="34" charset="-120"/>
              </a:rPr>
              <a:t>spend chasing it</a:t>
            </a:r>
            <a:endParaRPr lang="en-US" sz="1150" dirty="0"/>
          </a:p>
        </p:txBody>
      </p:sp>
      <p:sp>
        <p:nvSpPr>
          <p:cNvPr id="20" name="Text 18"/>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Sources: Dono student survey (n=23); Dono interviews with 11 Oxford college development offices, July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F17"/>
        </a:solidFill>
      </p:bgPr>
    </p:bg>
    <p:spTree>
      <p:nvGrpSpPr>
        <p:cNvPr id="1" name=""/>
        <p:cNvGrpSpPr/>
        <p:nvPr/>
      </p:nvGrpSpPr>
      <p:grpSpPr>
        <a:xfrm>
          <a:off x="0" y="0"/>
          <a:ext cx="0" cy="0"/>
          <a:chOff x="0" y="0"/>
          <a:chExt cx="0" cy="0"/>
        </a:xfrm>
      </p:grpSpPr>
      <p:sp>
        <p:nvSpPr>
          <p:cNvPr id="2" name="Text 0"/>
          <p:cNvSpPr/>
          <p:nvPr/>
        </p:nvSpPr>
        <p:spPr>
          <a:xfrm>
            <a:off x="731520" y="2377440"/>
            <a:ext cx="1069848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Imagine if this was solved.</a:t>
            </a:r>
            <a:endParaRPr lang="en-US" sz="4600" dirty="0"/>
          </a:p>
        </p:txBody>
      </p:sp>
      <p:sp>
        <p:nvSpPr>
          <p:cNvPr id="3" name="Text 1"/>
          <p:cNvSpPr/>
          <p:nvPr/>
        </p:nvSpPr>
        <p:spPr>
          <a:xfrm>
            <a:off x="1280160" y="3520440"/>
            <a:ext cx="9601200" cy="1005840"/>
          </a:xfrm>
          <a:prstGeom prst="rect">
            <a:avLst/>
          </a:prstGeom>
          <a:noFill/>
          <a:ln/>
        </p:spPr>
        <p:txBody>
          <a:bodyPr wrap="square" lIns="0" tIns="0" rIns="0" bIns="0" rtlCol="0" anchor="ctr"/>
          <a:lstStyle/>
          <a:p>
            <a:pPr algn="ctr" indent="0" marL="0">
              <a:lnSpc>
                <a:spcPts val="3200"/>
              </a:lnSpc>
              <a:buNone/>
            </a:pPr>
            <a:r>
              <a:rPr lang="en-US" sz="1900" dirty="0">
                <a:solidFill>
                  <a:srgbClr val="69A984"/>
                </a:solidFill>
                <a:latin typeface="Calibri" pitchFamily="34" charset="0"/>
                <a:ea typeface="Calibri" pitchFamily="34" charset="-122"/>
                <a:cs typeface="Calibri" pitchFamily="34" charset="-120"/>
              </a:rPr>
              <a:t>A student asks in ninety seconds. An alumnus gives ten pounds in twenty.</a:t>
            </a:r>
            <a:endParaRPr lang="en-US" sz="1900" dirty="0"/>
          </a:p>
          <a:p>
            <a:pPr algn="ctr" indent="0" marL="0">
              <a:lnSpc>
                <a:spcPts val="3200"/>
              </a:lnSpc>
              <a:buNone/>
            </a:pPr>
            <a:r>
              <a:rPr lang="en-US" sz="1900" dirty="0">
                <a:solidFill>
                  <a:srgbClr val="69A984"/>
                </a:solidFill>
                <a:latin typeface="Calibri" pitchFamily="34" charset="0"/>
                <a:ea typeface="Calibri" pitchFamily="34" charset="-122"/>
                <a:cs typeface="Calibri" pitchFamily="34" charset="-120"/>
              </a:rPr>
              <a:t>And both of them can see, afterwards, exactly what it bought.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SOLUTION</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Three steps. Ninety seconds. Zero paperwork.</a:t>
            </a:r>
            <a:endParaRPr lang="en-US" sz="3400" dirty="0"/>
          </a:p>
        </p:txBody>
      </p:sp>
      <p:sp>
        <p:nvSpPr>
          <p:cNvPr id="5" name="Shape 3"/>
          <p:cNvSpPr/>
          <p:nvPr/>
        </p:nvSpPr>
        <p:spPr>
          <a:xfrm>
            <a:off x="566928" y="1965960"/>
            <a:ext cx="3502152" cy="3246120"/>
          </a:xfrm>
          <a:prstGeom prst="roundRect">
            <a:avLst>
              <a:gd name="adj" fmla="val 2535"/>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6" name="Shape 4"/>
          <p:cNvSpPr/>
          <p:nvPr/>
        </p:nvSpPr>
        <p:spPr>
          <a:xfrm>
            <a:off x="859536" y="2212848"/>
            <a:ext cx="548640" cy="548640"/>
          </a:xfrm>
          <a:prstGeom prst="ellipse">
            <a:avLst/>
          </a:prstGeom>
          <a:solidFill>
            <a:srgbClr val="168456"/>
          </a:solidFill>
          <a:ln/>
        </p:spPr>
      </p:sp>
      <p:sp>
        <p:nvSpPr>
          <p:cNvPr id="7" name="Text 5"/>
          <p:cNvSpPr/>
          <p:nvPr/>
        </p:nvSpPr>
        <p:spPr>
          <a:xfrm>
            <a:off x="859536" y="22128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859536" y="2880360"/>
            <a:ext cx="2926080" cy="384048"/>
          </a:xfrm>
          <a:prstGeom prst="rect">
            <a:avLst/>
          </a:prstGeom>
          <a:noFill/>
          <a:ln/>
        </p:spPr>
        <p:txBody>
          <a:bodyPr wrap="square" lIns="0" tIns="0" rIns="0" bIns="0" rtlCol="0" anchor="ctr"/>
          <a:lstStyle/>
          <a:p>
            <a:pPr indent="0" marL="0">
              <a:buNone/>
            </a:pPr>
            <a:r>
              <a:rPr lang="en-US" sz="2100" b="1" dirty="0">
                <a:solidFill>
                  <a:srgbClr val="17211B"/>
                </a:solidFill>
                <a:latin typeface="Cambria" pitchFamily="34" charset="0"/>
                <a:ea typeface="Cambria" pitchFamily="34" charset="-122"/>
                <a:cs typeface="Cambria" pitchFamily="34" charset="-120"/>
              </a:rPr>
              <a:t>A student asks</a:t>
            </a:r>
            <a:endParaRPr lang="en-US" sz="2100" dirty="0"/>
          </a:p>
        </p:txBody>
      </p:sp>
      <p:sp>
        <p:nvSpPr>
          <p:cNvPr id="9" name="Text 7"/>
          <p:cNvSpPr/>
          <p:nvPr/>
        </p:nvSpPr>
        <p:spPr>
          <a:xfrm>
            <a:off x="859536" y="3346704"/>
            <a:ext cx="2926080" cy="1234440"/>
          </a:xfrm>
          <a:prstGeom prst="rect">
            <a:avLst/>
          </a:prstGeom>
          <a:noFill/>
          <a:ln/>
        </p:spPr>
        <p:txBody>
          <a:bodyPr wrap="square" lIns="0" tIns="0" rIns="0" bIns="0" rtlCol="0" anchor="ctr"/>
          <a:lstStyle/>
          <a:p>
            <a:pPr indent="0" marL="0">
              <a:lnSpc>
                <a:spcPts val="1550"/>
              </a:lnSpc>
              <a:buNone/>
            </a:pPr>
            <a:r>
              <a:rPr lang="en-US" sz="1150" dirty="0">
                <a:solidFill>
                  <a:srgbClr val="56615A"/>
                </a:solidFill>
                <a:latin typeface="Calibri" pitchFamily="34" charset="0"/>
                <a:ea typeface="Calibri" pitchFamily="34" charset="-122"/>
                <a:cs typeface="Calibri" pitchFamily="34" charset="-120"/>
              </a:rPr>
              <a:t>Verified with a university email and student card. Names the exact item, the exact cost, the exact date. Reviewed by a human before it goes live.</a:t>
            </a:r>
            <a:endParaRPr lang="en-US" sz="1150" dirty="0"/>
          </a:p>
        </p:txBody>
      </p:sp>
      <p:sp>
        <p:nvSpPr>
          <p:cNvPr id="10" name="Shape 8"/>
          <p:cNvSpPr/>
          <p:nvPr/>
        </p:nvSpPr>
        <p:spPr>
          <a:xfrm>
            <a:off x="859536" y="4617720"/>
            <a:ext cx="2926080" cy="365760"/>
          </a:xfrm>
          <a:prstGeom prst="roundRect">
            <a:avLst>
              <a:gd name="adj" fmla="val 50000"/>
            </a:avLst>
          </a:prstGeom>
          <a:solidFill>
            <a:srgbClr val="E8F5EE"/>
          </a:solidFill>
          <a:ln/>
        </p:spPr>
      </p:sp>
      <p:sp>
        <p:nvSpPr>
          <p:cNvPr id="11" name="Text 9"/>
          <p:cNvSpPr/>
          <p:nvPr/>
        </p:nvSpPr>
        <p:spPr>
          <a:xfrm>
            <a:off x="859536" y="4617720"/>
            <a:ext cx="2926080" cy="365760"/>
          </a:xfrm>
          <a:prstGeom prst="rect">
            <a:avLst/>
          </a:prstGeom>
          <a:noFill/>
          <a:ln/>
        </p:spPr>
        <p:txBody>
          <a:bodyPr wrap="square" lIns="0" tIns="0" rIns="0" bIns="0" rtlCol="0" anchor="ctr"/>
          <a:lstStyle/>
          <a:p>
            <a:pPr algn="ctr" indent="0" marL="0">
              <a:buNone/>
            </a:pPr>
            <a:r>
              <a:rPr lang="en-US" sz="1050" b="1" dirty="0">
                <a:solidFill>
                  <a:srgbClr val="126E49"/>
                </a:solidFill>
                <a:latin typeface="Calibri" pitchFamily="34" charset="0"/>
                <a:ea typeface="Calibri" pitchFamily="34" charset="-122"/>
                <a:cs typeface="Calibri" pitchFamily="34" charset="-120"/>
              </a:rPr>
              <a:t>Free, forever</a:t>
            </a:r>
            <a:endParaRPr lang="en-US" sz="1050" dirty="0"/>
          </a:p>
        </p:txBody>
      </p:sp>
      <p:sp>
        <p:nvSpPr>
          <p:cNvPr id="12" name="Text 10"/>
          <p:cNvSpPr/>
          <p:nvPr/>
        </p:nvSpPr>
        <p:spPr>
          <a:xfrm>
            <a:off x="4069080" y="3200400"/>
            <a:ext cx="265176" cy="548640"/>
          </a:xfrm>
          <a:prstGeom prst="rect">
            <a:avLst/>
          </a:prstGeom>
          <a:noFill/>
          <a:ln/>
        </p:spPr>
        <p:txBody>
          <a:bodyPr wrap="square" lIns="0" tIns="0" rIns="0" bIns="0" rtlCol="0" anchor="ctr"/>
          <a:lstStyle/>
          <a:p>
            <a:pPr algn="ctr" indent="0" marL="0">
              <a:buNone/>
            </a:pPr>
            <a:r>
              <a:rPr lang="en-US" sz="2600" b="1" dirty="0">
                <a:solidFill>
                  <a:srgbClr val="69A984"/>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4270248" y="1965960"/>
            <a:ext cx="3502152" cy="3246120"/>
          </a:xfrm>
          <a:prstGeom prst="roundRect">
            <a:avLst>
              <a:gd name="adj" fmla="val 2535"/>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4" name="Shape 12"/>
          <p:cNvSpPr/>
          <p:nvPr/>
        </p:nvSpPr>
        <p:spPr>
          <a:xfrm>
            <a:off x="4562856" y="2212848"/>
            <a:ext cx="548640" cy="548640"/>
          </a:xfrm>
          <a:prstGeom prst="ellipse">
            <a:avLst/>
          </a:prstGeom>
          <a:solidFill>
            <a:srgbClr val="168456"/>
          </a:solidFill>
          <a:ln/>
        </p:spPr>
      </p:sp>
      <p:sp>
        <p:nvSpPr>
          <p:cNvPr id="15" name="Text 13"/>
          <p:cNvSpPr/>
          <p:nvPr/>
        </p:nvSpPr>
        <p:spPr>
          <a:xfrm>
            <a:off x="4562856" y="22128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2880360"/>
            <a:ext cx="2926080" cy="384048"/>
          </a:xfrm>
          <a:prstGeom prst="rect">
            <a:avLst/>
          </a:prstGeom>
          <a:noFill/>
          <a:ln/>
        </p:spPr>
        <p:txBody>
          <a:bodyPr wrap="square" lIns="0" tIns="0" rIns="0" bIns="0" rtlCol="0" anchor="ctr"/>
          <a:lstStyle/>
          <a:p>
            <a:pPr indent="0" marL="0">
              <a:buNone/>
            </a:pPr>
            <a:r>
              <a:rPr lang="en-US" sz="2100" b="1" dirty="0">
                <a:solidFill>
                  <a:srgbClr val="17211B"/>
                </a:solidFill>
                <a:latin typeface="Cambria" pitchFamily="34" charset="0"/>
                <a:ea typeface="Cambria" pitchFamily="34" charset="-122"/>
                <a:cs typeface="Cambria" pitchFamily="34" charset="-120"/>
              </a:rPr>
              <a:t>Alumni fund it</a:t>
            </a:r>
            <a:endParaRPr lang="en-US" sz="2100" dirty="0"/>
          </a:p>
        </p:txBody>
      </p:sp>
      <p:sp>
        <p:nvSpPr>
          <p:cNvPr id="17" name="Text 15"/>
          <p:cNvSpPr/>
          <p:nvPr/>
        </p:nvSpPr>
        <p:spPr>
          <a:xfrm>
            <a:off x="4562856" y="3346704"/>
            <a:ext cx="2926080" cy="1234440"/>
          </a:xfrm>
          <a:prstGeom prst="rect">
            <a:avLst/>
          </a:prstGeom>
          <a:noFill/>
          <a:ln/>
        </p:spPr>
        <p:txBody>
          <a:bodyPr wrap="square" lIns="0" tIns="0" rIns="0" bIns="0" rtlCol="0" anchor="ctr"/>
          <a:lstStyle/>
          <a:p>
            <a:pPr indent="0" marL="0">
              <a:lnSpc>
                <a:spcPts val="1550"/>
              </a:lnSpc>
              <a:buNone/>
            </a:pPr>
            <a:r>
              <a:rPr lang="en-US" sz="1150" dirty="0">
                <a:solidFill>
                  <a:srgbClr val="56615A"/>
                </a:solidFill>
                <a:latin typeface="Calibri" pitchFamily="34" charset="0"/>
                <a:ea typeface="Calibri" pitchFamily="34" charset="-122"/>
                <a:cs typeface="Calibri" pitchFamily="34" charset="-120"/>
              </a:rPr>
              <a:t>Shared as a link into the group chats, WhatsApp groups and society mailing lists that alumni are already in. £10 in twenty seconds. No account needed.</a:t>
            </a:r>
            <a:endParaRPr lang="en-US" sz="1150" dirty="0"/>
          </a:p>
        </p:txBody>
      </p:sp>
      <p:sp>
        <p:nvSpPr>
          <p:cNvPr id="18" name="Shape 16"/>
          <p:cNvSpPr/>
          <p:nvPr/>
        </p:nvSpPr>
        <p:spPr>
          <a:xfrm>
            <a:off x="4562856" y="4617720"/>
            <a:ext cx="2926080" cy="365760"/>
          </a:xfrm>
          <a:prstGeom prst="roundRect">
            <a:avLst>
              <a:gd name="adj" fmla="val 50000"/>
            </a:avLst>
          </a:prstGeom>
          <a:solidFill>
            <a:srgbClr val="E8F5EE"/>
          </a:solidFill>
          <a:ln/>
        </p:spPr>
      </p:sp>
      <p:sp>
        <p:nvSpPr>
          <p:cNvPr id="19" name="Text 17"/>
          <p:cNvSpPr/>
          <p:nvPr/>
        </p:nvSpPr>
        <p:spPr>
          <a:xfrm>
            <a:off x="4562856" y="4617720"/>
            <a:ext cx="2926080" cy="365760"/>
          </a:xfrm>
          <a:prstGeom prst="rect">
            <a:avLst/>
          </a:prstGeom>
          <a:noFill/>
          <a:ln/>
        </p:spPr>
        <p:txBody>
          <a:bodyPr wrap="square" lIns="0" tIns="0" rIns="0" bIns="0" rtlCol="0" anchor="ctr"/>
          <a:lstStyle/>
          <a:p>
            <a:pPr algn="ctr" indent="0" marL="0">
              <a:buNone/>
            </a:pPr>
            <a:r>
              <a:rPr lang="en-US" sz="1050" b="1" dirty="0">
                <a:solidFill>
                  <a:srgbClr val="126E49"/>
                </a:solidFill>
                <a:latin typeface="Calibri" pitchFamily="34" charset="0"/>
                <a:ea typeface="Calibri" pitchFamily="34" charset="-122"/>
                <a:cs typeface="Calibri" pitchFamily="34" charset="-120"/>
              </a:rPr>
              <a:t>£10–£50 gifts</a:t>
            </a:r>
            <a:endParaRPr lang="en-US" sz="1050" dirty="0"/>
          </a:p>
        </p:txBody>
      </p:sp>
      <p:sp>
        <p:nvSpPr>
          <p:cNvPr id="20" name="Text 18"/>
          <p:cNvSpPr/>
          <p:nvPr/>
        </p:nvSpPr>
        <p:spPr>
          <a:xfrm>
            <a:off x="7772400" y="3200400"/>
            <a:ext cx="265176" cy="548640"/>
          </a:xfrm>
          <a:prstGeom prst="rect">
            <a:avLst/>
          </a:prstGeom>
          <a:noFill/>
          <a:ln/>
        </p:spPr>
        <p:txBody>
          <a:bodyPr wrap="square" lIns="0" tIns="0" rIns="0" bIns="0" rtlCol="0" anchor="ctr"/>
          <a:lstStyle/>
          <a:p>
            <a:pPr algn="ctr" indent="0" marL="0">
              <a:buNone/>
            </a:pPr>
            <a:r>
              <a:rPr lang="en-US" sz="2600" b="1" dirty="0">
                <a:solidFill>
                  <a:srgbClr val="69A984"/>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7973568" y="1965960"/>
            <a:ext cx="3502152" cy="3246120"/>
          </a:xfrm>
          <a:prstGeom prst="roundRect">
            <a:avLst>
              <a:gd name="adj" fmla="val 2535"/>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2" name="Shape 20"/>
          <p:cNvSpPr/>
          <p:nvPr/>
        </p:nvSpPr>
        <p:spPr>
          <a:xfrm>
            <a:off x="8266176" y="2212848"/>
            <a:ext cx="548640" cy="548640"/>
          </a:xfrm>
          <a:prstGeom prst="ellipse">
            <a:avLst/>
          </a:prstGeom>
          <a:solidFill>
            <a:srgbClr val="168456"/>
          </a:solidFill>
          <a:ln/>
        </p:spPr>
      </p:sp>
      <p:sp>
        <p:nvSpPr>
          <p:cNvPr id="23" name="Text 21"/>
          <p:cNvSpPr/>
          <p:nvPr/>
        </p:nvSpPr>
        <p:spPr>
          <a:xfrm>
            <a:off x="8266176" y="22128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4" name="Text 22"/>
          <p:cNvSpPr/>
          <p:nvPr/>
        </p:nvSpPr>
        <p:spPr>
          <a:xfrm>
            <a:off x="8266176" y="2880360"/>
            <a:ext cx="2926080" cy="384048"/>
          </a:xfrm>
          <a:prstGeom prst="rect">
            <a:avLst/>
          </a:prstGeom>
          <a:noFill/>
          <a:ln/>
        </p:spPr>
        <p:txBody>
          <a:bodyPr wrap="square" lIns="0" tIns="0" rIns="0" bIns="0" rtlCol="0" anchor="ctr"/>
          <a:lstStyle/>
          <a:p>
            <a:pPr indent="0" marL="0">
              <a:buNone/>
            </a:pPr>
            <a:r>
              <a:rPr lang="en-US" sz="2100" b="1" dirty="0">
                <a:solidFill>
                  <a:srgbClr val="17211B"/>
                </a:solidFill>
                <a:latin typeface="Cambria" pitchFamily="34" charset="0"/>
                <a:ea typeface="Cambria" pitchFamily="34" charset="-122"/>
                <a:cs typeface="Cambria" pitchFamily="34" charset="-120"/>
              </a:rPr>
              <a:t>Everyone sees proof</a:t>
            </a:r>
            <a:endParaRPr lang="en-US" sz="2100" dirty="0"/>
          </a:p>
        </p:txBody>
      </p:sp>
      <p:sp>
        <p:nvSpPr>
          <p:cNvPr id="25" name="Text 23"/>
          <p:cNvSpPr/>
          <p:nvPr/>
        </p:nvSpPr>
        <p:spPr>
          <a:xfrm>
            <a:off x="8266176" y="3346704"/>
            <a:ext cx="2926080" cy="1234440"/>
          </a:xfrm>
          <a:prstGeom prst="rect">
            <a:avLst/>
          </a:prstGeom>
          <a:noFill/>
          <a:ln/>
        </p:spPr>
        <p:txBody>
          <a:bodyPr wrap="square" lIns="0" tIns="0" rIns="0" bIns="0" rtlCol="0" anchor="ctr"/>
          <a:lstStyle/>
          <a:p>
            <a:pPr indent="0" marL="0">
              <a:lnSpc>
                <a:spcPts val="1550"/>
              </a:lnSpc>
              <a:buNone/>
            </a:pPr>
            <a:r>
              <a:rPr lang="en-US" sz="1150" dirty="0">
                <a:solidFill>
                  <a:srgbClr val="56615A"/>
                </a:solidFill>
                <a:latin typeface="Calibri" pitchFamily="34" charset="0"/>
                <a:ea typeface="Calibri" pitchFamily="34" charset="-122"/>
                <a:cs typeface="Calibri" pitchFamily="34" charset="-120"/>
              </a:rPr>
              <a:t>Purchase evidence, photos and a closure statement are posted back to every donor. Under-spend is refunded. The community stays followed after the campaign ends.</a:t>
            </a:r>
            <a:endParaRPr lang="en-US" sz="1150" dirty="0"/>
          </a:p>
        </p:txBody>
      </p:sp>
      <p:sp>
        <p:nvSpPr>
          <p:cNvPr id="26" name="Shape 24"/>
          <p:cNvSpPr/>
          <p:nvPr/>
        </p:nvSpPr>
        <p:spPr>
          <a:xfrm>
            <a:off x="8266176" y="4617720"/>
            <a:ext cx="2926080" cy="365760"/>
          </a:xfrm>
          <a:prstGeom prst="roundRect">
            <a:avLst>
              <a:gd name="adj" fmla="val 50000"/>
            </a:avLst>
          </a:prstGeom>
          <a:solidFill>
            <a:srgbClr val="E8F5EE"/>
          </a:solidFill>
          <a:ln/>
        </p:spPr>
      </p:sp>
      <p:sp>
        <p:nvSpPr>
          <p:cNvPr id="27" name="Text 25"/>
          <p:cNvSpPr/>
          <p:nvPr/>
        </p:nvSpPr>
        <p:spPr>
          <a:xfrm>
            <a:off x="8266176" y="4617720"/>
            <a:ext cx="2926080" cy="365760"/>
          </a:xfrm>
          <a:prstGeom prst="rect">
            <a:avLst/>
          </a:prstGeom>
          <a:noFill/>
          <a:ln/>
        </p:spPr>
        <p:txBody>
          <a:bodyPr wrap="square" lIns="0" tIns="0" rIns="0" bIns="0" rtlCol="0" anchor="ctr"/>
          <a:lstStyle/>
          <a:p>
            <a:pPr algn="ctr" indent="0" marL="0">
              <a:buNone/>
            </a:pPr>
            <a:r>
              <a:rPr lang="en-US" sz="1050" b="1" dirty="0">
                <a:solidFill>
                  <a:srgbClr val="126E49"/>
                </a:solidFill>
                <a:latin typeface="Calibri" pitchFamily="34" charset="0"/>
                <a:ea typeface="Calibri" pitchFamily="34" charset="-122"/>
                <a:cs typeface="Calibri" pitchFamily="34" charset="-120"/>
              </a:rPr>
              <a:t>Proof, not promises</a:t>
            </a:r>
            <a:endParaRPr lang="en-US" sz="1050" dirty="0"/>
          </a:p>
        </p:txBody>
      </p:sp>
      <p:sp>
        <p:nvSpPr>
          <p:cNvPr id="28" name="Shape 26"/>
          <p:cNvSpPr/>
          <p:nvPr/>
        </p:nvSpPr>
        <p:spPr>
          <a:xfrm>
            <a:off x="566928" y="5468112"/>
            <a:ext cx="11064240" cy="713232"/>
          </a:xfrm>
          <a:prstGeom prst="roundRect">
            <a:avLst>
              <a:gd name="adj" fmla="val 11538"/>
            </a:avLst>
          </a:prstGeom>
          <a:solidFill>
            <a:srgbClr val="0E1F17"/>
          </a:solidFill>
          <a:ln/>
        </p:spPr>
      </p:sp>
      <p:sp>
        <p:nvSpPr>
          <p:cNvPr id="29" name="Text 27"/>
          <p:cNvSpPr/>
          <p:nvPr/>
        </p:nvSpPr>
        <p:spPr>
          <a:xfrm>
            <a:off x="914400" y="5468112"/>
            <a:ext cx="10424160" cy="7132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Money never touches Dono.  </a:t>
            </a:r>
            <a:pPr indent="0" marL="0">
              <a:buNone/>
            </a:pPr>
            <a:r>
              <a:rPr lang="en-US" sz="1300" dirty="0">
                <a:solidFill>
                  <a:srgbClr val="69A984"/>
                </a:solidFill>
                <a:latin typeface="Calibri" pitchFamily="34" charset="0"/>
                <a:ea typeface="Calibri" pitchFamily="34" charset="-122"/>
                <a:cs typeface="Calibri" pitchFamily="34" charset="-120"/>
              </a:rPr>
              <a:t>Every donation is a direct Stripe charge into the campaign's own account — so we hold no funds, and cannot delay, divert or lose a student's money.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LIVE PRODUCT</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This is built. It is live. Here it is.</a:t>
            </a:r>
            <a:endParaRPr lang="en-US" sz="3400" dirty="0"/>
          </a:p>
        </p:txBody>
      </p:sp>
      <p:sp>
        <p:nvSpPr>
          <p:cNvPr id="5" name="Shape 3"/>
          <p:cNvSpPr/>
          <p:nvPr/>
        </p:nvSpPr>
        <p:spPr>
          <a:xfrm>
            <a:off x="566928" y="1874520"/>
            <a:ext cx="2615184" cy="3200400"/>
          </a:xfrm>
          <a:prstGeom prst="roundRect">
            <a:avLst>
              <a:gd name="adj" fmla="val 3147"/>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6" name="Shape 4"/>
          <p:cNvSpPr/>
          <p:nvPr/>
        </p:nvSpPr>
        <p:spPr>
          <a:xfrm>
            <a:off x="868680" y="2121408"/>
            <a:ext cx="2011680" cy="2194560"/>
          </a:xfrm>
          <a:prstGeom prst="roundRect">
            <a:avLst>
              <a:gd name="adj" fmla="val 5909"/>
            </a:avLst>
          </a:prstGeom>
          <a:solidFill>
            <a:srgbClr val="E8F5EE"/>
          </a:solidFill>
          <a:ln w="12700">
            <a:solidFill>
              <a:srgbClr val="DDE6E0"/>
            </a:solidFill>
            <a:prstDash val="solid"/>
          </a:ln>
        </p:spPr>
      </p:sp>
      <p:sp>
        <p:nvSpPr>
          <p:cNvPr id="7" name="Text 5"/>
          <p:cNvSpPr/>
          <p:nvPr/>
        </p:nvSpPr>
        <p:spPr>
          <a:xfrm>
            <a:off x="868680" y="2121408"/>
            <a:ext cx="2011680" cy="2194560"/>
          </a:xfrm>
          <a:prstGeom prst="rect">
            <a:avLst/>
          </a:prstGeom>
          <a:noFill/>
          <a:ln/>
        </p:spPr>
        <p:txBody>
          <a:bodyPr wrap="square" lIns="0" tIns="0" rIns="0" bIns="0" rtlCol="0" anchor="ctr"/>
          <a:lstStyle/>
          <a:p>
            <a:pPr algn="ctr" indent="0" marL="0">
              <a:buNone/>
            </a:pPr>
            <a:r>
              <a:rPr lang="en-US" sz="1100" dirty="0">
                <a:solidFill>
                  <a:srgbClr val="69A984"/>
                </a:solidFill>
                <a:latin typeface="Calibri" pitchFamily="34" charset="0"/>
                <a:ea typeface="Calibri" pitchFamily="34" charset="-122"/>
                <a:cs typeface="Calibri" pitchFamily="34" charset="-120"/>
              </a:rPr>
              <a:t>[ screenshot ]</a:t>
            </a:r>
            <a:endParaRPr lang="en-US" sz="1100" dirty="0"/>
          </a:p>
        </p:txBody>
      </p:sp>
      <p:sp>
        <p:nvSpPr>
          <p:cNvPr id="8" name="Text 6"/>
          <p:cNvSpPr/>
          <p:nvPr/>
        </p:nvSpPr>
        <p:spPr>
          <a:xfrm>
            <a:off x="868680" y="4407408"/>
            <a:ext cx="2011680" cy="320040"/>
          </a:xfrm>
          <a:prstGeom prst="rect">
            <a:avLst/>
          </a:prstGeom>
          <a:noFill/>
          <a:ln/>
        </p:spPr>
        <p:txBody>
          <a:bodyPr wrap="square" lIns="0" tIns="0" rIns="0" bIns="0" rtlCol="0" anchor="ctr"/>
          <a:lstStyle/>
          <a:p>
            <a:pPr indent="0" marL="0">
              <a:buNone/>
            </a:pPr>
            <a:r>
              <a:rPr lang="en-US" sz="1600" b="1" dirty="0">
                <a:solidFill>
                  <a:srgbClr val="17211B"/>
                </a:solidFill>
                <a:latin typeface="Cambria" pitchFamily="34" charset="0"/>
                <a:ea typeface="Cambria" pitchFamily="34" charset="-122"/>
                <a:cs typeface="Cambria" pitchFamily="34" charset="-120"/>
              </a:rPr>
              <a:t>Ask</a:t>
            </a:r>
            <a:endParaRPr lang="en-US" sz="1600" dirty="0"/>
          </a:p>
        </p:txBody>
      </p:sp>
      <p:sp>
        <p:nvSpPr>
          <p:cNvPr id="9" name="Text 7"/>
          <p:cNvSpPr/>
          <p:nvPr/>
        </p:nvSpPr>
        <p:spPr>
          <a:xfrm>
            <a:off x="868680" y="4700016"/>
            <a:ext cx="201168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Campaign created in 4 taps</a:t>
            </a:r>
            <a:endParaRPr lang="en-US" sz="1000" dirty="0"/>
          </a:p>
        </p:txBody>
      </p:sp>
      <p:sp>
        <p:nvSpPr>
          <p:cNvPr id="10" name="Shape 8"/>
          <p:cNvSpPr/>
          <p:nvPr/>
        </p:nvSpPr>
        <p:spPr>
          <a:xfrm>
            <a:off x="3429000" y="1874520"/>
            <a:ext cx="2615184" cy="3200400"/>
          </a:xfrm>
          <a:prstGeom prst="roundRect">
            <a:avLst>
              <a:gd name="adj" fmla="val 3147"/>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1" name="Shape 9"/>
          <p:cNvSpPr/>
          <p:nvPr/>
        </p:nvSpPr>
        <p:spPr>
          <a:xfrm>
            <a:off x="3730752" y="2121408"/>
            <a:ext cx="2011680" cy="2194560"/>
          </a:xfrm>
          <a:prstGeom prst="roundRect">
            <a:avLst>
              <a:gd name="adj" fmla="val 5909"/>
            </a:avLst>
          </a:prstGeom>
          <a:solidFill>
            <a:srgbClr val="E8F5EE"/>
          </a:solidFill>
          <a:ln w="12700">
            <a:solidFill>
              <a:srgbClr val="DDE6E0"/>
            </a:solidFill>
            <a:prstDash val="solid"/>
          </a:ln>
        </p:spPr>
      </p:sp>
      <p:sp>
        <p:nvSpPr>
          <p:cNvPr id="12" name="Text 10"/>
          <p:cNvSpPr/>
          <p:nvPr/>
        </p:nvSpPr>
        <p:spPr>
          <a:xfrm>
            <a:off x="3730752" y="2121408"/>
            <a:ext cx="2011680" cy="2194560"/>
          </a:xfrm>
          <a:prstGeom prst="rect">
            <a:avLst/>
          </a:prstGeom>
          <a:noFill/>
          <a:ln/>
        </p:spPr>
        <p:txBody>
          <a:bodyPr wrap="square" lIns="0" tIns="0" rIns="0" bIns="0" rtlCol="0" anchor="ctr"/>
          <a:lstStyle/>
          <a:p>
            <a:pPr algn="ctr" indent="0" marL="0">
              <a:buNone/>
            </a:pPr>
            <a:r>
              <a:rPr lang="en-US" sz="1100" dirty="0">
                <a:solidFill>
                  <a:srgbClr val="69A984"/>
                </a:solidFill>
                <a:latin typeface="Calibri" pitchFamily="34" charset="0"/>
                <a:ea typeface="Calibri" pitchFamily="34" charset="-122"/>
                <a:cs typeface="Calibri" pitchFamily="34" charset="-120"/>
              </a:rPr>
              <a:t>[ screenshot ]</a:t>
            </a:r>
            <a:endParaRPr lang="en-US" sz="1100" dirty="0"/>
          </a:p>
        </p:txBody>
      </p:sp>
      <p:sp>
        <p:nvSpPr>
          <p:cNvPr id="13" name="Text 11"/>
          <p:cNvSpPr/>
          <p:nvPr/>
        </p:nvSpPr>
        <p:spPr>
          <a:xfrm>
            <a:off x="3730752" y="4407408"/>
            <a:ext cx="2011680" cy="320040"/>
          </a:xfrm>
          <a:prstGeom prst="rect">
            <a:avLst/>
          </a:prstGeom>
          <a:noFill/>
          <a:ln/>
        </p:spPr>
        <p:txBody>
          <a:bodyPr wrap="square" lIns="0" tIns="0" rIns="0" bIns="0" rtlCol="0" anchor="ctr"/>
          <a:lstStyle/>
          <a:p>
            <a:pPr indent="0" marL="0">
              <a:buNone/>
            </a:pPr>
            <a:r>
              <a:rPr lang="en-US" sz="1600" b="1" dirty="0">
                <a:solidFill>
                  <a:srgbClr val="17211B"/>
                </a:solidFill>
                <a:latin typeface="Cambria" pitchFamily="34" charset="0"/>
                <a:ea typeface="Cambria" pitchFamily="34" charset="-122"/>
                <a:cs typeface="Cambria" pitchFamily="34" charset="-120"/>
              </a:rPr>
              <a:t>Discover</a:t>
            </a:r>
            <a:endParaRPr lang="en-US" sz="1600" dirty="0"/>
          </a:p>
        </p:txBody>
      </p:sp>
      <p:sp>
        <p:nvSpPr>
          <p:cNvPr id="14" name="Text 12"/>
          <p:cNvSpPr/>
          <p:nvPr/>
        </p:nvSpPr>
        <p:spPr>
          <a:xfrm>
            <a:off x="3730752" y="4700016"/>
            <a:ext cx="201168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Browse by college &amp; society</a:t>
            </a:r>
            <a:endParaRPr lang="en-US" sz="1000" dirty="0"/>
          </a:p>
        </p:txBody>
      </p:sp>
      <p:sp>
        <p:nvSpPr>
          <p:cNvPr id="15" name="Shape 13"/>
          <p:cNvSpPr/>
          <p:nvPr/>
        </p:nvSpPr>
        <p:spPr>
          <a:xfrm>
            <a:off x="6291072" y="1874520"/>
            <a:ext cx="2615184" cy="3200400"/>
          </a:xfrm>
          <a:prstGeom prst="roundRect">
            <a:avLst>
              <a:gd name="adj" fmla="val 3147"/>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6" name="Shape 14"/>
          <p:cNvSpPr/>
          <p:nvPr/>
        </p:nvSpPr>
        <p:spPr>
          <a:xfrm>
            <a:off x="6592824" y="2121408"/>
            <a:ext cx="2011680" cy="2194560"/>
          </a:xfrm>
          <a:prstGeom prst="roundRect">
            <a:avLst>
              <a:gd name="adj" fmla="val 5909"/>
            </a:avLst>
          </a:prstGeom>
          <a:solidFill>
            <a:srgbClr val="E8F5EE"/>
          </a:solidFill>
          <a:ln w="12700">
            <a:solidFill>
              <a:srgbClr val="DDE6E0"/>
            </a:solidFill>
            <a:prstDash val="solid"/>
          </a:ln>
        </p:spPr>
      </p:sp>
      <p:sp>
        <p:nvSpPr>
          <p:cNvPr id="17" name="Text 15"/>
          <p:cNvSpPr/>
          <p:nvPr/>
        </p:nvSpPr>
        <p:spPr>
          <a:xfrm>
            <a:off x="6592824" y="2121408"/>
            <a:ext cx="2011680" cy="2194560"/>
          </a:xfrm>
          <a:prstGeom prst="rect">
            <a:avLst/>
          </a:prstGeom>
          <a:noFill/>
          <a:ln/>
        </p:spPr>
        <p:txBody>
          <a:bodyPr wrap="square" lIns="0" tIns="0" rIns="0" bIns="0" rtlCol="0" anchor="ctr"/>
          <a:lstStyle/>
          <a:p>
            <a:pPr algn="ctr" indent="0" marL="0">
              <a:buNone/>
            </a:pPr>
            <a:r>
              <a:rPr lang="en-US" sz="1100" dirty="0">
                <a:solidFill>
                  <a:srgbClr val="69A984"/>
                </a:solidFill>
                <a:latin typeface="Calibri" pitchFamily="34" charset="0"/>
                <a:ea typeface="Calibri" pitchFamily="34" charset="-122"/>
                <a:cs typeface="Calibri" pitchFamily="34" charset="-120"/>
              </a:rPr>
              <a:t>[ screenshot ]</a:t>
            </a:r>
            <a:endParaRPr lang="en-US" sz="1100" dirty="0"/>
          </a:p>
        </p:txBody>
      </p:sp>
      <p:sp>
        <p:nvSpPr>
          <p:cNvPr id="18" name="Text 16"/>
          <p:cNvSpPr/>
          <p:nvPr/>
        </p:nvSpPr>
        <p:spPr>
          <a:xfrm>
            <a:off x="6592824" y="4407408"/>
            <a:ext cx="2011680" cy="320040"/>
          </a:xfrm>
          <a:prstGeom prst="rect">
            <a:avLst/>
          </a:prstGeom>
          <a:noFill/>
          <a:ln/>
        </p:spPr>
        <p:txBody>
          <a:bodyPr wrap="square" lIns="0" tIns="0" rIns="0" bIns="0" rtlCol="0" anchor="ctr"/>
          <a:lstStyle/>
          <a:p>
            <a:pPr indent="0" marL="0">
              <a:buNone/>
            </a:pPr>
            <a:r>
              <a:rPr lang="en-US" sz="1600" b="1" dirty="0">
                <a:solidFill>
                  <a:srgbClr val="17211B"/>
                </a:solidFill>
                <a:latin typeface="Cambria" pitchFamily="34" charset="0"/>
                <a:ea typeface="Cambria" pitchFamily="34" charset="-122"/>
                <a:cs typeface="Cambria" pitchFamily="34" charset="-120"/>
              </a:rPr>
              <a:t>Give</a:t>
            </a:r>
            <a:endParaRPr lang="en-US" sz="1600" dirty="0"/>
          </a:p>
        </p:txBody>
      </p:sp>
      <p:sp>
        <p:nvSpPr>
          <p:cNvPr id="19" name="Text 17"/>
          <p:cNvSpPr/>
          <p:nvPr/>
        </p:nvSpPr>
        <p:spPr>
          <a:xfrm>
            <a:off x="6592824" y="4700016"/>
            <a:ext cx="201168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£10 in 20 seconds, guest checkout</a:t>
            </a:r>
            <a:endParaRPr lang="en-US" sz="1000" dirty="0"/>
          </a:p>
        </p:txBody>
      </p:sp>
      <p:sp>
        <p:nvSpPr>
          <p:cNvPr id="20" name="Shape 18"/>
          <p:cNvSpPr/>
          <p:nvPr/>
        </p:nvSpPr>
        <p:spPr>
          <a:xfrm>
            <a:off x="9153144" y="1874520"/>
            <a:ext cx="2615184" cy="3200400"/>
          </a:xfrm>
          <a:prstGeom prst="roundRect">
            <a:avLst>
              <a:gd name="adj" fmla="val 3147"/>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1" name="Shape 19"/>
          <p:cNvSpPr/>
          <p:nvPr/>
        </p:nvSpPr>
        <p:spPr>
          <a:xfrm>
            <a:off x="9454896" y="2121408"/>
            <a:ext cx="2011680" cy="2194560"/>
          </a:xfrm>
          <a:prstGeom prst="roundRect">
            <a:avLst>
              <a:gd name="adj" fmla="val 5909"/>
            </a:avLst>
          </a:prstGeom>
          <a:solidFill>
            <a:srgbClr val="E8F5EE"/>
          </a:solidFill>
          <a:ln w="12700">
            <a:solidFill>
              <a:srgbClr val="DDE6E0"/>
            </a:solidFill>
            <a:prstDash val="solid"/>
          </a:ln>
        </p:spPr>
      </p:sp>
      <p:sp>
        <p:nvSpPr>
          <p:cNvPr id="22" name="Text 20"/>
          <p:cNvSpPr/>
          <p:nvPr/>
        </p:nvSpPr>
        <p:spPr>
          <a:xfrm>
            <a:off x="9454896" y="2121408"/>
            <a:ext cx="2011680" cy="2194560"/>
          </a:xfrm>
          <a:prstGeom prst="rect">
            <a:avLst/>
          </a:prstGeom>
          <a:noFill/>
          <a:ln/>
        </p:spPr>
        <p:txBody>
          <a:bodyPr wrap="square" lIns="0" tIns="0" rIns="0" bIns="0" rtlCol="0" anchor="ctr"/>
          <a:lstStyle/>
          <a:p>
            <a:pPr algn="ctr" indent="0" marL="0">
              <a:buNone/>
            </a:pPr>
            <a:r>
              <a:rPr lang="en-US" sz="1100" dirty="0">
                <a:solidFill>
                  <a:srgbClr val="69A984"/>
                </a:solidFill>
                <a:latin typeface="Calibri" pitchFamily="34" charset="0"/>
                <a:ea typeface="Calibri" pitchFamily="34" charset="-122"/>
                <a:cs typeface="Calibri" pitchFamily="34" charset="-120"/>
              </a:rPr>
              <a:t>[ screenshot ]</a:t>
            </a:r>
            <a:endParaRPr lang="en-US" sz="1100" dirty="0"/>
          </a:p>
        </p:txBody>
      </p:sp>
      <p:sp>
        <p:nvSpPr>
          <p:cNvPr id="23" name="Text 21"/>
          <p:cNvSpPr/>
          <p:nvPr/>
        </p:nvSpPr>
        <p:spPr>
          <a:xfrm>
            <a:off x="9454896" y="4407408"/>
            <a:ext cx="2011680" cy="320040"/>
          </a:xfrm>
          <a:prstGeom prst="rect">
            <a:avLst/>
          </a:prstGeom>
          <a:noFill/>
          <a:ln/>
        </p:spPr>
        <p:txBody>
          <a:bodyPr wrap="square" lIns="0" tIns="0" rIns="0" bIns="0" rtlCol="0" anchor="ctr"/>
          <a:lstStyle/>
          <a:p>
            <a:pPr indent="0" marL="0">
              <a:buNone/>
            </a:pPr>
            <a:r>
              <a:rPr lang="en-US" sz="1600" b="1" dirty="0">
                <a:solidFill>
                  <a:srgbClr val="17211B"/>
                </a:solidFill>
                <a:latin typeface="Cambria" pitchFamily="34" charset="0"/>
                <a:ea typeface="Cambria" pitchFamily="34" charset="-122"/>
                <a:cs typeface="Cambria" pitchFamily="34" charset="-120"/>
              </a:rPr>
              <a:t>Prove</a:t>
            </a:r>
            <a:endParaRPr lang="en-US" sz="1600" dirty="0"/>
          </a:p>
        </p:txBody>
      </p:sp>
      <p:sp>
        <p:nvSpPr>
          <p:cNvPr id="24" name="Text 22"/>
          <p:cNvSpPr/>
          <p:nvPr/>
        </p:nvSpPr>
        <p:spPr>
          <a:xfrm>
            <a:off x="9454896" y="4700016"/>
            <a:ext cx="201168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Receipts, photos, closure statement</a:t>
            </a:r>
            <a:endParaRPr lang="en-US" sz="1000" dirty="0"/>
          </a:p>
        </p:txBody>
      </p:sp>
      <p:sp>
        <p:nvSpPr>
          <p:cNvPr id="25" name="Shape 23"/>
          <p:cNvSpPr/>
          <p:nvPr/>
        </p:nvSpPr>
        <p:spPr>
          <a:xfrm>
            <a:off x="566928" y="5440680"/>
            <a:ext cx="11064240" cy="731520"/>
          </a:xfrm>
          <a:prstGeom prst="roundRect">
            <a:avLst>
              <a:gd name="adj" fmla="val 11250"/>
            </a:avLst>
          </a:prstGeom>
          <a:solidFill>
            <a:srgbClr val="E8F5EE"/>
          </a:solidFill>
          <a:ln/>
        </p:spPr>
      </p:sp>
      <p:sp>
        <p:nvSpPr>
          <p:cNvPr id="26" name="Text 24"/>
          <p:cNvSpPr/>
          <p:nvPr/>
        </p:nvSpPr>
        <p:spPr>
          <a:xfrm>
            <a:off x="914400" y="5440680"/>
            <a:ext cx="10424160" cy="731520"/>
          </a:xfrm>
          <a:prstGeom prst="rect">
            <a:avLst/>
          </a:prstGeom>
          <a:noFill/>
          <a:ln/>
        </p:spPr>
        <p:txBody>
          <a:bodyPr wrap="square" lIns="0" tIns="0" rIns="0" bIns="0" rtlCol="0" anchor="ctr"/>
          <a:lstStyle/>
          <a:p>
            <a:pPr indent="0" marL="0">
              <a:buNone/>
            </a:pPr>
            <a:r>
              <a:rPr lang="en-US" sz="1300" b="1" dirty="0">
                <a:solidFill>
                  <a:srgbClr val="126E49"/>
                </a:solidFill>
                <a:latin typeface="Calibri" pitchFamily="34" charset="0"/>
                <a:ea typeface="Calibri" pitchFamily="34" charset="-122"/>
                <a:cs typeface="Calibri" pitchFamily="34" charset="-120"/>
              </a:rPr>
              <a:t>Tested with real users.  </a:t>
            </a:r>
            <a:pPr indent="0" marL="0">
              <a:buNone/>
            </a:pPr>
            <a:r>
              <a:rPr lang="en-US" sz="1250" dirty="0">
                <a:solidFill>
                  <a:srgbClr val="56615A"/>
                </a:solidFill>
                <a:latin typeface="Calibri" pitchFamily="34" charset="0"/>
                <a:ea typeface="Calibri" pitchFamily="34" charset="-122"/>
                <a:cs typeface="Calibri" pitchFamily="34" charset="-120"/>
              </a:rPr>
              <a:t>Most-praised features: the itemised cost breakdown, the receipt-style campaign card, and being able to see the fee before you pay.</a:t>
            </a:r>
            <a:endParaRPr lang="en-US" sz="1300" dirty="0"/>
          </a:p>
        </p:txBody>
      </p:sp>
      <p:sp>
        <p:nvSpPr>
          <p:cNvPr id="27" name="Text 25"/>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Replace the four placeholders with real screenshots before pitching. Storyboard and click-by-click script: see the companion pitch script.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POSITIONING</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We do not compete with colleges. We feed them.</a:t>
            </a:r>
            <a:endParaRPr lang="en-US" sz="3400" dirty="0"/>
          </a:p>
        </p:txBody>
      </p:sp>
      <p:sp>
        <p:nvSpPr>
          <p:cNvPr id="5" name="Shape 3"/>
          <p:cNvSpPr/>
          <p:nvPr/>
        </p:nvSpPr>
        <p:spPr>
          <a:xfrm>
            <a:off x="1298448" y="2084832"/>
            <a:ext cx="2231136" cy="2231136"/>
          </a:xfrm>
          <a:prstGeom prst="ellipse">
            <a:avLst/>
          </a:prstGeom>
          <a:solidFill>
            <a:srgbClr val="168456">
              <a:alpha val="50000"/>
            </a:srgbClr>
          </a:solidFill>
          <a:ln w="19050">
            <a:solidFill>
              <a:srgbClr val="168456"/>
            </a:solidFill>
            <a:prstDash val="solid"/>
          </a:ln>
        </p:spPr>
      </p:sp>
      <p:sp>
        <p:nvSpPr>
          <p:cNvPr id="6" name="Shape 4"/>
          <p:cNvSpPr/>
          <p:nvPr/>
        </p:nvSpPr>
        <p:spPr>
          <a:xfrm>
            <a:off x="2944368" y="2084832"/>
            <a:ext cx="2231136" cy="2231136"/>
          </a:xfrm>
          <a:prstGeom prst="ellipse">
            <a:avLst/>
          </a:prstGeom>
          <a:solidFill>
            <a:srgbClr val="69A984">
              <a:alpha val="50000"/>
            </a:srgbClr>
          </a:solidFill>
          <a:ln w="19050">
            <a:solidFill>
              <a:srgbClr val="69A984"/>
            </a:solidFill>
            <a:prstDash val="solid"/>
          </a:ln>
        </p:spPr>
      </p:sp>
      <p:sp>
        <p:nvSpPr>
          <p:cNvPr id="7" name="Shape 5"/>
          <p:cNvSpPr/>
          <p:nvPr/>
        </p:nvSpPr>
        <p:spPr>
          <a:xfrm>
            <a:off x="2121408" y="3401568"/>
            <a:ext cx="2231136" cy="2231136"/>
          </a:xfrm>
          <a:prstGeom prst="ellipse">
            <a:avLst/>
          </a:prstGeom>
          <a:solidFill>
            <a:srgbClr val="126E49">
              <a:alpha val="50000"/>
            </a:srgbClr>
          </a:solidFill>
          <a:ln w="19050">
            <a:solidFill>
              <a:srgbClr val="126E49"/>
            </a:solidFill>
            <a:prstDash val="solid"/>
          </a:ln>
        </p:spPr>
      </p:sp>
      <p:sp>
        <p:nvSpPr>
          <p:cNvPr id="8" name="Text 6"/>
          <p:cNvSpPr/>
          <p:nvPr/>
        </p:nvSpPr>
        <p:spPr>
          <a:xfrm>
            <a:off x="1298448" y="2514600"/>
            <a:ext cx="2231136" cy="475488"/>
          </a:xfrm>
          <a:prstGeom prst="rect">
            <a:avLst/>
          </a:prstGeom>
          <a:noFill/>
          <a:ln/>
        </p:spPr>
        <p:txBody>
          <a:bodyPr wrap="square" lIns="0" tIns="0" rIns="0" bIns="0" rtlCol="0" anchor="ctr"/>
          <a:lstStyle/>
          <a:p>
            <a:pPr algn="ctr" indent="0" marL="0">
              <a:lnSpc>
                <a:spcPts val="1300"/>
              </a:lnSpc>
              <a:buNone/>
            </a:pPr>
            <a:r>
              <a:rPr lang="en-US" sz="1200" b="1" dirty="0">
                <a:solidFill>
                  <a:srgbClr val="17211B"/>
                </a:solidFill>
                <a:latin typeface="Calibri" pitchFamily="34" charset="0"/>
                <a:ea typeface="Calibri" pitchFamily="34" charset="-122"/>
                <a:cs typeface="Calibri" pitchFamily="34" charset="-120"/>
              </a:rPr>
              <a:t>STUDENTS
</a:t>
            </a:r>
            <a:endParaRPr lang="en-US" sz="1200" dirty="0"/>
          </a:p>
          <a:p>
            <a:pPr algn="ctr" indent="0" marL="0">
              <a:lnSpc>
                <a:spcPts val="1300"/>
              </a:lnSpc>
              <a:buNone/>
            </a:pPr>
            <a:r>
              <a:rPr lang="en-US" sz="1000" dirty="0">
                <a:solidFill>
                  <a:srgbClr val="17211B"/>
                </a:solidFill>
                <a:latin typeface="Calibri" pitchFamily="34" charset="0"/>
                <a:ea typeface="Calibri" pitchFamily="34" charset="-122"/>
                <a:cs typeface="Calibri" pitchFamily="34" charset="-120"/>
              </a:rPr>
              <a:t>pay £0</a:t>
            </a:r>
            <a:endParaRPr lang="en-US" sz="1200" dirty="0"/>
          </a:p>
        </p:txBody>
      </p:sp>
      <p:sp>
        <p:nvSpPr>
          <p:cNvPr id="9" name="Text 7"/>
          <p:cNvSpPr/>
          <p:nvPr/>
        </p:nvSpPr>
        <p:spPr>
          <a:xfrm>
            <a:off x="2944368" y="2514600"/>
            <a:ext cx="2231136" cy="475488"/>
          </a:xfrm>
          <a:prstGeom prst="rect">
            <a:avLst/>
          </a:prstGeom>
          <a:noFill/>
          <a:ln/>
        </p:spPr>
        <p:txBody>
          <a:bodyPr wrap="square" lIns="0" tIns="0" rIns="0" bIns="0" rtlCol="0" anchor="ctr"/>
          <a:lstStyle/>
          <a:p>
            <a:pPr algn="ctr" indent="0" marL="0">
              <a:lnSpc>
                <a:spcPts val="1300"/>
              </a:lnSpc>
              <a:buNone/>
            </a:pPr>
            <a:r>
              <a:rPr lang="en-US" sz="1200" b="1" dirty="0">
                <a:solidFill>
                  <a:srgbClr val="17211B"/>
                </a:solidFill>
                <a:latin typeface="Calibri" pitchFamily="34" charset="0"/>
                <a:ea typeface="Calibri" pitchFamily="34" charset="-122"/>
                <a:cs typeface="Calibri" pitchFamily="34" charset="-120"/>
              </a:rPr>
              <a:t>ALUMNI
</a:t>
            </a:r>
            <a:endParaRPr lang="en-US" sz="1200" dirty="0"/>
          </a:p>
          <a:p>
            <a:pPr algn="ctr" indent="0" marL="0">
              <a:lnSpc>
                <a:spcPts val="1300"/>
              </a:lnSpc>
              <a:buNone/>
            </a:pPr>
            <a:r>
              <a:rPr lang="en-US" sz="1000" dirty="0">
                <a:solidFill>
                  <a:srgbClr val="17211B"/>
                </a:solidFill>
                <a:latin typeface="Calibri" pitchFamily="34" charset="0"/>
                <a:ea typeface="Calibri" pitchFamily="34" charset="-122"/>
                <a:cs typeface="Calibri" pitchFamily="34" charset="-120"/>
              </a:rPr>
              <a:t>pay the fee</a:t>
            </a:r>
            <a:endParaRPr lang="en-US" sz="1200" dirty="0"/>
          </a:p>
        </p:txBody>
      </p:sp>
      <p:sp>
        <p:nvSpPr>
          <p:cNvPr id="10" name="Text 8"/>
          <p:cNvSpPr/>
          <p:nvPr/>
        </p:nvSpPr>
        <p:spPr>
          <a:xfrm>
            <a:off x="2121408" y="4892040"/>
            <a:ext cx="2231136" cy="475488"/>
          </a:xfrm>
          <a:prstGeom prst="rect">
            <a:avLst/>
          </a:prstGeom>
          <a:noFill/>
          <a:ln/>
        </p:spPr>
        <p:txBody>
          <a:bodyPr wrap="square" lIns="0" tIns="0" rIns="0" bIns="0" rtlCol="0" anchor="ctr"/>
          <a:lstStyle/>
          <a:p>
            <a:pPr algn="ctr" indent="0" marL="0">
              <a:lnSpc>
                <a:spcPts val="1300"/>
              </a:lnSpc>
              <a:buNone/>
            </a:pPr>
            <a:r>
              <a:rPr lang="en-US" sz="1200" b="1" dirty="0">
                <a:solidFill>
                  <a:srgbClr val="17211B"/>
                </a:solidFill>
                <a:latin typeface="Calibri" pitchFamily="34" charset="0"/>
                <a:ea typeface="Calibri" pitchFamily="34" charset="-122"/>
                <a:cs typeface="Calibri" pitchFamily="34" charset="-120"/>
              </a:rPr>
              <a:t>COLLEGES
</a:t>
            </a:r>
            <a:endParaRPr lang="en-US" sz="1200" dirty="0"/>
          </a:p>
          <a:p>
            <a:pPr algn="ctr" indent="0" marL="0">
              <a:lnSpc>
                <a:spcPts val="1300"/>
              </a:lnSpc>
              <a:buNone/>
            </a:pPr>
            <a:r>
              <a:rPr lang="en-US" sz="1000" dirty="0">
                <a:solidFill>
                  <a:srgbClr val="17211B"/>
                </a:solidFill>
                <a:latin typeface="Calibri" pitchFamily="34" charset="0"/>
                <a:ea typeface="Calibri" pitchFamily="34" charset="-122"/>
                <a:cs typeface="Calibri" pitchFamily="34" charset="-120"/>
              </a:rPr>
              <a:t>pay £0</a:t>
            </a:r>
            <a:endParaRPr lang="en-US" sz="1200" dirty="0"/>
          </a:p>
        </p:txBody>
      </p:sp>
      <p:sp>
        <p:nvSpPr>
          <p:cNvPr id="11" name="Text 9"/>
          <p:cNvSpPr/>
          <p:nvPr/>
        </p:nvSpPr>
        <p:spPr>
          <a:xfrm>
            <a:off x="2688336" y="3639312"/>
            <a:ext cx="1463040" cy="603504"/>
          </a:xfrm>
          <a:prstGeom prst="rect">
            <a:avLst/>
          </a:prstGeom>
          <a:noFill/>
          <a:ln/>
        </p:spPr>
        <p:txBody>
          <a:bodyPr wrap="square" lIns="0" tIns="0" rIns="0" bIns="0" rtlCol="0" anchor="ctr"/>
          <a:lstStyle/>
          <a:p>
            <a:pPr algn="ctr" indent="0" marL="0">
              <a:lnSpc>
                <a:spcPts val="1250"/>
              </a:lnSpc>
              <a:buNone/>
            </a:pPr>
            <a:r>
              <a:rPr lang="en-US" sz="1050" b="1" dirty="0">
                <a:solidFill>
                  <a:srgbClr val="FFFFFF"/>
                </a:solidFill>
                <a:latin typeface="Cambria" pitchFamily="34" charset="0"/>
                <a:ea typeface="Cambria" pitchFamily="34" charset="-122"/>
                <a:cs typeface="Cambria" pitchFamily="34" charset="-120"/>
              </a:rPr>
              <a:t>ONE</a:t>
            </a:r>
            <a:endParaRPr lang="en-US" sz="1050" dirty="0"/>
          </a:p>
          <a:p>
            <a:pPr algn="ctr" indent="0" marL="0">
              <a:lnSpc>
                <a:spcPts val="1250"/>
              </a:lnSpc>
              <a:buNone/>
            </a:pPr>
            <a:r>
              <a:rPr lang="en-US" sz="1050" b="1" dirty="0">
                <a:solidFill>
                  <a:srgbClr val="FFFFFF"/>
                </a:solidFill>
                <a:latin typeface="Cambria" pitchFamily="34" charset="0"/>
                <a:ea typeface="Cambria" pitchFamily="34" charset="-122"/>
                <a:cs typeface="Cambria" pitchFamily="34" charset="-120"/>
              </a:rPr>
              <a:t>COMMUNITY</a:t>
            </a:r>
            <a:endParaRPr lang="en-US" sz="1050" dirty="0"/>
          </a:p>
        </p:txBody>
      </p:sp>
      <p:sp>
        <p:nvSpPr>
          <p:cNvPr id="12" name="Shape 10"/>
          <p:cNvSpPr/>
          <p:nvPr/>
        </p:nvSpPr>
        <p:spPr>
          <a:xfrm>
            <a:off x="6629400" y="1965960"/>
            <a:ext cx="5001768" cy="932688"/>
          </a:xfrm>
          <a:prstGeom prst="roundRect">
            <a:avLst>
              <a:gd name="adj" fmla="val 882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3" name="Shape 11"/>
          <p:cNvSpPr/>
          <p:nvPr/>
        </p:nvSpPr>
        <p:spPr>
          <a:xfrm>
            <a:off x="6876288" y="2249424"/>
            <a:ext cx="365760" cy="365760"/>
          </a:xfrm>
          <a:prstGeom prst="ellipse">
            <a:avLst/>
          </a:prstGeom>
          <a:solidFill>
            <a:srgbClr val="E8F5EE"/>
          </a:solidFill>
          <a:ln/>
        </p:spPr>
      </p:sp>
      <p:sp>
        <p:nvSpPr>
          <p:cNvPr id="14" name="Text 12"/>
          <p:cNvSpPr/>
          <p:nvPr/>
        </p:nvSpPr>
        <p:spPr>
          <a:xfrm>
            <a:off x="6876288" y="2249424"/>
            <a:ext cx="365760" cy="365760"/>
          </a:xfrm>
          <a:prstGeom prst="rect">
            <a:avLst/>
          </a:prstGeom>
          <a:noFill/>
          <a:ln/>
        </p:spPr>
        <p:txBody>
          <a:bodyPr wrap="square" lIns="0" tIns="0" rIns="0" bIns="0" rtlCol="0" anchor="ctr"/>
          <a:lstStyle/>
          <a:p>
            <a:pPr algn="ctr" indent="0" marL="0">
              <a:buNone/>
            </a:pPr>
            <a:r>
              <a:rPr lang="en-US" sz="1300" b="1" dirty="0">
                <a:solidFill>
                  <a:srgbClr val="168456"/>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7370064" y="2093976"/>
            <a:ext cx="4023360" cy="292608"/>
          </a:xfrm>
          <a:prstGeom prst="rect">
            <a:avLst/>
          </a:prstGeom>
          <a:noFill/>
          <a:ln/>
        </p:spPr>
        <p:txBody>
          <a:bodyPr wrap="square" lIns="0" tIns="0" rIns="0" bIns="0" rtlCol="0" anchor="ctr"/>
          <a:lstStyle/>
          <a:p>
            <a:pPr indent="0" marL="0">
              <a:buNone/>
            </a:pPr>
            <a:r>
              <a:rPr lang="en-US" sz="1300" b="1" dirty="0">
                <a:solidFill>
                  <a:srgbClr val="17211B"/>
                </a:solidFill>
                <a:latin typeface="Calibri" pitchFamily="34" charset="0"/>
                <a:ea typeface="Calibri" pitchFamily="34" charset="-122"/>
                <a:cs typeface="Calibri" pitchFamily="34" charset="-120"/>
              </a:rPr>
              <a:t>Different gift size</a:t>
            </a:r>
            <a:endParaRPr lang="en-US" sz="1300" dirty="0"/>
          </a:p>
        </p:txBody>
      </p:sp>
      <p:sp>
        <p:nvSpPr>
          <p:cNvPr id="16" name="Text 14"/>
          <p:cNvSpPr/>
          <p:nvPr/>
        </p:nvSpPr>
        <p:spPr>
          <a:xfrm>
            <a:off x="7370064" y="2368296"/>
            <a:ext cx="4069080" cy="457200"/>
          </a:xfrm>
          <a:prstGeom prst="rect">
            <a:avLst/>
          </a:prstGeom>
          <a:noFill/>
          <a:ln/>
        </p:spPr>
        <p:txBody>
          <a:bodyPr wrap="square" lIns="0" tIns="0" rIns="0" bIns="0" rtlCol="0" anchor="ctr"/>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They chase £10,000+. We handle £5–£2,000. Zero overlap.</a:t>
            </a:r>
            <a:endParaRPr lang="en-US" sz="1050" dirty="0"/>
          </a:p>
        </p:txBody>
      </p:sp>
      <p:sp>
        <p:nvSpPr>
          <p:cNvPr id="17" name="Shape 15"/>
          <p:cNvSpPr/>
          <p:nvPr/>
        </p:nvSpPr>
        <p:spPr>
          <a:xfrm>
            <a:off x="6629400" y="3017520"/>
            <a:ext cx="5001768" cy="932688"/>
          </a:xfrm>
          <a:prstGeom prst="roundRect">
            <a:avLst>
              <a:gd name="adj" fmla="val 882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8" name="Shape 16"/>
          <p:cNvSpPr/>
          <p:nvPr/>
        </p:nvSpPr>
        <p:spPr>
          <a:xfrm>
            <a:off x="6876288" y="3300984"/>
            <a:ext cx="365760" cy="365760"/>
          </a:xfrm>
          <a:prstGeom prst="ellipse">
            <a:avLst/>
          </a:prstGeom>
          <a:solidFill>
            <a:srgbClr val="E8F5EE"/>
          </a:solidFill>
          <a:ln/>
        </p:spPr>
      </p:sp>
      <p:sp>
        <p:nvSpPr>
          <p:cNvPr id="19" name="Text 17"/>
          <p:cNvSpPr/>
          <p:nvPr/>
        </p:nvSpPr>
        <p:spPr>
          <a:xfrm>
            <a:off x="6876288" y="3300984"/>
            <a:ext cx="365760" cy="365760"/>
          </a:xfrm>
          <a:prstGeom prst="rect">
            <a:avLst/>
          </a:prstGeom>
          <a:noFill/>
          <a:ln/>
        </p:spPr>
        <p:txBody>
          <a:bodyPr wrap="square" lIns="0" tIns="0" rIns="0" bIns="0" rtlCol="0" anchor="ctr"/>
          <a:lstStyle/>
          <a:p>
            <a:pPr algn="ctr" indent="0" marL="0">
              <a:buNone/>
            </a:pPr>
            <a:r>
              <a:rPr lang="en-US" sz="1300" b="1" dirty="0">
                <a:solidFill>
                  <a:srgbClr val="168456"/>
                </a:solidFill>
                <a:latin typeface="Calibri" pitchFamily="34" charset="0"/>
                <a:ea typeface="Calibri" pitchFamily="34" charset="-122"/>
                <a:cs typeface="Calibri" pitchFamily="34" charset="-120"/>
              </a:rPr>
              <a:t>✓</a:t>
            </a:r>
            <a:endParaRPr lang="en-US" sz="1300" dirty="0"/>
          </a:p>
        </p:txBody>
      </p:sp>
      <p:sp>
        <p:nvSpPr>
          <p:cNvPr id="20" name="Text 18"/>
          <p:cNvSpPr/>
          <p:nvPr/>
        </p:nvSpPr>
        <p:spPr>
          <a:xfrm>
            <a:off x="7370064" y="3145536"/>
            <a:ext cx="4023360" cy="292608"/>
          </a:xfrm>
          <a:prstGeom prst="rect">
            <a:avLst/>
          </a:prstGeom>
          <a:noFill/>
          <a:ln/>
        </p:spPr>
        <p:txBody>
          <a:bodyPr wrap="square" lIns="0" tIns="0" rIns="0" bIns="0" rtlCol="0" anchor="ctr"/>
          <a:lstStyle/>
          <a:p>
            <a:pPr indent="0" marL="0">
              <a:buNone/>
            </a:pPr>
            <a:r>
              <a:rPr lang="en-US" sz="1300" b="1" dirty="0">
                <a:solidFill>
                  <a:srgbClr val="17211B"/>
                </a:solidFill>
                <a:latin typeface="Calibri" pitchFamily="34" charset="0"/>
                <a:ea typeface="Calibri" pitchFamily="34" charset="-122"/>
                <a:cs typeface="Calibri" pitchFamily="34" charset="-120"/>
              </a:rPr>
              <a:t>Different donor</a:t>
            </a:r>
            <a:endParaRPr lang="en-US" sz="1300" dirty="0"/>
          </a:p>
        </p:txBody>
      </p:sp>
      <p:sp>
        <p:nvSpPr>
          <p:cNvPr id="21" name="Text 19"/>
          <p:cNvSpPr/>
          <p:nvPr/>
        </p:nvSpPr>
        <p:spPr>
          <a:xfrm>
            <a:off x="7370064" y="3419856"/>
            <a:ext cx="4069080" cy="457200"/>
          </a:xfrm>
          <a:prstGeom prst="rect">
            <a:avLst/>
          </a:prstGeom>
          <a:noFill/>
          <a:ln/>
        </p:spPr>
        <p:txBody>
          <a:bodyPr wrap="square" lIns="0" tIns="0" rIns="0" bIns="0" rtlCol="0" anchor="ctr"/>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They deliberately don't ask under-30s. That's our entire user base.</a:t>
            </a:r>
            <a:endParaRPr lang="en-US" sz="1050" dirty="0"/>
          </a:p>
        </p:txBody>
      </p:sp>
      <p:sp>
        <p:nvSpPr>
          <p:cNvPr id="22" name="Shape 20"/>
          <p:cNvSpPr/>
          <p:nvPr/>
        </p:nvSpPr>
        <p:spPr>
          <a:xfrm>
            <a:off x="6629400" y="4069080"/>
            <a:ext cx="5001768" cy="932688"/>
          </a:xfrm>
          <a:prstGeom prst="roundRect">
            <a:avLst>
              <a:gd name="adj" fmla="val 882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3" name="Shape 21"/>
          <p:cNvSpPr/>
          <p:nvPr/>
        </p:nvSpPr>
        <p:spPr>
          <a:xfrm>
            <a:off x="6876288" y="4352544"/>
            <a:ext cx="365760" cy="365760"/>
          </a:xfrm>
          <a:prstGeom prst="ellipse">
            <a:avLst/>
          </a:prstGeom>
          <a:solidFill>
            <a:srgbClr val="E8F5EE"/>
          </a:solidFill>
          <a:ln/>
        </p:spPr>
      </p:sp>
      <p:sp>
        <p:nvSpPr>
          <p:cNvPr id="24" name="Text 22"/>
          <p:cNvSpPr/>
          <p:nvPr/>
        </p:nvSpPr>
        <p:spPr>
          <a:xfrm>
            <a:off x="6876288" y="4352544"/>
            <a:ext cx="365760" cy="365760"/>
          </a:xfrm>
          <a:prstGeom prst="rect">
            <a:avLst/>
          </a:prstGeom>
          <a:noFill/>
          <a:ln/>
        </p:spPr>
        <p:txBody>
          <a:bodyPr wrap="square" lIns="0" tIns="0" rIns="0" bIns="0" rtlCol="0" anchor="ctr"/>
          <a:lstStyle/>
          <a:p>
            <a:pPr algn="ctr" indent="0" marL="0">
              <a:buNone/>
            </a:pPr>
            <a:r>
              <a:rPr lang="en-US" sz="1300" b="1" dirty="0">
                <a:solidFill>
                  <a:srgbClr val="168456"/>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7370064" y="4197096"/>
            <a:ext cx="4023360" cy="292608"/>
          </a:xfrm>
          <a:prstGeom prst="rect">
            <a:avLst/>
          </a:prstGeom>
          <a:noFill/>
          <a:ln/>
        </p:spPr>
        <p:txBody>
          <a:bodyPr wrap="square" lIns="0" tIns="0" rIns="0" bIns="0" rtlCol="0" anchor="ctr"/>
          <a:lstStyle/>
          <a:p>
            <a:pPr indent="0" marL="0">
              <a:buNone/>
            </a:pPr>
            <a:r>
              <a:rPr lang="en-US" sz="1300" b="1" dirty="0">
                <a:solidFill>
                  <a:srgbClr val="17211B"/>
                </a:solidFill>
                <a:latin typeface="Calibri" pitchFamily="34" charset="0"/>
                <a:ea typeface="Calibri" pitchFamily="34" charset="-122"/>
                <a:cs typeface="Calibri" pitchFamily="34" charset="-120"/>
              </a:rPr>
              <a:t>Different cause</a:t>
            </a:r>
            <a:endParaRPr lang="en-US" sz="1300" dirty="0"/>
          </a:p>
        </p:txBody>
      </p:sp>
      <p:sp>
        <p:nvSpPr>
          <p:cNvPr id="26" name="Text 24"/>
          <p:cNvSpPr/>
          <p:nvPr/>
        </p:nvSpPr>
        <p:spPr>
          <a:xfrm>
            <a:off x="7370064" y="4471416"/>
            <a:ext cx="4069080" cy="457200"/>
          </a:xfrm>
          <a:prstGeom prst="rect">
            <a:avLst/>
          </a:prstGeom>
          <a:noFill/>
          <a:ln/>
        </p:spPr>
        <p:txBody>
          <a:bodyPr wrap="square" lIns="0" tIns="0" rIns="0" bIns="0" rtlCol="0" anchor="ctr"/>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They fund buildings and fellowships. We fund a lab coat and a coach to Glasgow.</a:t>
            </a:r>
            <a:endParaRPr lang="en-US" sz="1050" dirty="0"/>
          </a:p>
        </p:txBody>
      </p:sp>
      <p:sp>
        <p:nvSpPr>
          <p:cNvPr id="27" name="Shape 25"/>
          <p:cNvSpPr/>
          <p:nvPr/>
        </p:nvSpPr>
        <p:spPr>
          <a:xfrm>
            <a:off x="6629400" y="5120640"/>
            <a:ext cx="5001768" cy="932688"/>
          </a:xfrm>
          <a:prstGeom prst="roundRect">
            <a:avLst>
              <a:gd name="adj" fmla="val 882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8" name="Shape 26"/>
          <p:cNvSpPr/>
          <p:nvPr/>
        </p:nvSpPr>
        <p:spPr>
          <a:xfrm>
            <a:off x="6876288" y="5404104"/>
            <a:ext cx="365760" cy="365760"/>
          </a:xfrm>
          <a:prstGeom prst="ellipse">
            <a:avLst/>
          </a:prstGeom>
          <a:solidFill>
            <a:srgbClr val="E8F5EE"/>
          </a:solidFill>
          <a:ln/>
        </p:spPr>
      </p:sp>
      <p:sp>
        <p:nvSpPr>
          <p:cNvPr id="29" name="Text 27"/>
          <p:cNvSpPr/>
          <p:nvPr/>
        </p:nvSpPr>
        <p:spPr>
          <a:xfrm>
            <a:off x="6876288" y="5404104"/>
            <a:ext cx="365760" cy="365760"/>
          </a:xfrm>
          <a:prstGeom prst="rect">
            <a:avLst/>
          </a:prstGeom>
          <a:noFill/>
          <a:ln/>
        </p:spPr>
        <p:txBody>
          <a:bodyPr wrap="square" lIns="0" tIns="0" rIns="0" bIns="0" rtlCol="0" anchor="ctr"/>
          <a:lstStyle/>
          <a:p>
            <a:pPr algn="ctr" indent="0" marL="0">
              <a:buNone/>
            </a:pPr>
            <a:r>
              <a:rPr lang="en-US" sz="1300" b="1" dirty="0">
                <a:solidFill>
                  <a:srgbClr val="168456"/>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7370064" y="5248656"/>
            <a:ext cx="4023360" cy="292608"/>
          </a:xfrm>
          <a:prstGeom prst="rect">
            <a:avLst/>
          </a:prstGeom>
          <a:noFill/>
          <a:ln/>
        </p:spPr>
        <p:txBody>
          <a:bodyPr wrap="square" lIns="0" tIns="0" rIns="0" bIns="0" rtlCol="0" anchor="ctr"/>
          <a:lstStyle/>
          <a:p>
            <a:pPr indent="0" marL="0">
              <a:buNone/>
            </a:pPr>
            <a:r>
              <a:rPr lang="en-US" sz="1300" b="1" dirty="0">
                <a:solidFill>
                  <a:srgbClr val="17211B"/>
                </a:solidFill>
                <a:latin typeface="Calibri" pitchFamily="34" charset="0"/>
                <a:ea typeface="Calibri" pitchFamily="34" charset="-122"/>
                <a:cs typeface="Calibri" pitchFamily="34" charset="-120"/>
              </a:rPr>
              <a:t>We hand them the pipeline</a:t>
            </a:r>
            <a:endParaRPr lang="en-US" sz="1300" dirty="0"/>
          </a:p>
        </p:txBody>
      </p:sp>
      <p:sp>
        <p:nvSpPr>
          <p:cNvPr id="31" name="Text 29"/>
          <p:cNvSpPr/>
          <p:nvPr/>
        </p:nvSpPr>
        <p:spPr>
          <a:xfrm>
            <a:off x="7370064" y="5522976"/>
            <a:ext cx="4069080" cy="457200"/>
          </a:xfrm>
          <a:prstGeom prst="rect">
            <a:avLst/>
          </a:prstGeom>
          <a:noFill/>
          <a:ln/>
        </p:spPr>
        <p:txBody>
          <a:bodyPr wrap="square" lIns="0" tIns="0" rIns="0" bIns="0" rtlCol="0" anchor="ctr"/>
          <a:lstStyle/>
          <a:p>
            <a:pPr indent="0" marL="0">
              <a:lnSpc>
                <a:spcPts val="1300"/>
              </a:lnSpc>
              <a:buNone/>
            </a:pPr>
            <a:r>
              <a:rPr lang="en-US" sz="1050" dirty="0">
                <a:solidFill>
                  <a:srgbClr val="56615A"/>
                </a:solidFill>
                <a:latin typeface="Calibri" pitchFamily="34" charset="0"/>
                <a:ea typeface="Calibri" pitchFamily="34" charset="-122"/>
                <a:cs typeface="Calibri" pitchFamily="34" charset="-120"/>
              </a:rPr>
              <a:t>Every first-time £10 giver we create is a future major donor — with the giving habit already formed.</a:t>
            </a:r>
            <a:endParaRPr lang="en-US" sz="1050" dirty="0"/>
          </a:p>
        </p:txBody>
      </p:sp>
      <p:sp>
        <p:nvSpPr>
          <p:cNvPr id="32" name="Shape 30"/>
          <p:cNvSpPr/>
          <p:nvPr/>
        </p:nvSpPr>
        <p:spPr>
          <a:xfrm>
            <a:off x="566928" y="5623560"/>
            <a:ext cx="5760720" cy="822960"/>
          </a:xfrm>
          <a:prstGeom prst="roundRect">
            <a:avLst>
              <a:gd name="adj" fmla="val 10000"/>
            </a:avLst>
          </a:prstGeom>
          <a:solidFill>
            <a:srgbClr val="0E1F17"/>
          </a:solidFill>
          <a:ln/>
        </p:spPr>
      </p:sp>
      <p:sp>
        <p:nvSpPr>
          <p:cNvPr id="33" name="Text 31"/>
          <p:cNvSpPr/>
          <p:nvPr/>
        </p:nvSpPr>
        <p:spPr>
          <a:xfrm>
            <a:off x="868680" y="5623560"/>
            <a:ext cx="5212080" cy="822960"/>
          </a:xfrm>
          <a:prstGeom prst="rect">
            <a:avLst/>
          </a:prstGeom>
          <a:noFill/>
          <a:ln/>
        </p:spPr>
        <p:txBody>
          <a:bodyPr wrap="square" lIns="0" tIns="0" rIns="0" bIns="0" rtlCol="0" anchor="ctr"/>
          <a:lstStyle/>
          <a:p>
            <a:pPr indent="0" marL="0">
              <a:lnSpc>
                <a:spcPts val="1400"/>
              </a:lnSpc>
              <a:buNone/>
            </a:pPr>
            <a:r>
              <a:rPr lang="en-US" sz="1200" i="1" dirty="0">
                <a:solidFill>
                  <a:srgbClr val="FFFFFF"/>
                </a:solidFill>
                <a:latin typeface="Calibri" pitchFamily="34" charset="0"/>
                <a:ea typeface="Calibri" pitchFamily="34" charset="-122"/>
                <a:cs typeface="Calibri" pitchFamily="34" charset="-120"/>
              </a:rPr>
              <a:t>“Get young alumni onto the ladder who wouldn't otherwise give.”
</a:t>
            </a:r>
            <a:endParaRPr lang="en-US" sz="1200" dirty="0"/>
          </a:p>
          <a:p>
            <a:pPr indent="0" marL="0">
              <a:lnSpc>
                <a:spcPts val="1400"/>
              </a:lnSpc>
              <a:buNone/>
            </a:pPr>
            <a:r>
              <a:rPr lang="en-US" sz="850" dirty="0">
                <a:solidFill>
                  <a:srgbClr val="69A984"/>
                </a:solidFill>
                <a:latin typeface="Calibri" pitchFamily="34" charset="0"/>
                <a:ea typeface="Calibri" pitchFamily="34" charset="-122"/>
                <a:cs typeface="Calibri" pitchFamily="34" charset="-120"/>
              </a:rPr>
              <a:t>Director of Development, 10,000-alumni Oxford college — describing our business, unprompted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WHY NOBODY HAS THIS</a:t>
            </a:r>
            <a:endParaRPr lang="en-US" sz="1000" dirty="0"/>
          </a:p>
        </p:txBody>
      </p:sp>
      <p:sp>
        <p:nvSpPr>
          <p:cNvPr id="4" name="Text 2"/>
          <p:cNvSpPr/>
          <p:nvPr/>
        </p:nvSpPr>
        <p:spPr>
          <a:xfrm>
            <a:off x="548640" y="786384"/>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Everyone solves one column. We solve all six.</a:t>
            </a:r>
            <a:endParaRPr lang="en-US" sz="3400" dirty="0"/>
          </a:p>
        </p:txBody>
      </p:sp>
      <p:sp>
        <p:nvSpPr>
          <p:cNvPr id="5" name="Text 3"/>
          <p:cNvSpPr/>
          <p:nvPr/>
        </p:nvSpPr>
        <p:spPr>
          <a:xfrm>
            <a:off x="340156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Built for</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£10–£50 gifts</a:t>
            </a:r>
            <a:endParaRPr lang="en-US" sz="950" dirty="0"/>
          </a:p>
        </p:txBody>
      </p:sp>
      <p:sp>
        <p:nvSpPr>
          <p:cNvPr id="6" name="Text 4"/>
          <p:cNvSpPr/>
          <p:nvPr/>
        </p:nvSpPr>
        <p:spPr>
          <a:xfrm>
            <a:off x="481888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Item-level</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receipts</a:t>
            </a:r>
            <a:endParaRPr lang="en-US" sz="950" dirty="0"/>
          </a:p>
        </p:txBody>
      </p:sp>
      <p:sp>
        <p:nvSpPr>
          <p:cNvPr id="7" name="Text 5"/>
          <p:cNvSpPr/>
          <p:nvPr/>
        </p:nvSpPr>
        <p:spPr>
          <a:xfrm>
            <a:off x="623620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Free to the</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institution</a:t>
            </a:r>
            <a:endParaRPr lang="en-US" sz="950" dirty="0"/>
          </a:p>
        </p:txBody>
      </p:sp>
      <p:sp>
        <p:nvSpPr>
          <p:cNvPr id="8" name="Text 6"/>
          <p:cNvSpPr/>
          <p:nvPr/>
        </p:nvSpPr>
        <p:spPr>
          <a:xfrm>
            <a:off x="765352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Community</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outlives campaign</a:t>
            </a:r>
            <a:endParaRPr lang="en-US" sz="950" dirty="0"/>
          </a:p>
        </p:txBody>
      </p:sp>
      <p:sp>
        <p:nvSpPr>
          <p:cNvPr id="9" name="Text 7"/>
          <p:cNvSpPr/>
          <p:nvPr/>
        </p:nvSpPr>
        <p:spPr>
          <a:xfrm>
            <a:off x="907084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Student can</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start in minutes</a:t>
            </a:r>
            <a:endParaRPr lang="en-US" sz="950" dirty="0"/>
          </a:p>
        </p:txBody>
      </p:sp>
      <p:sp>
        <p:nvSpPr>
          <p:cNvPr id="10" name="Text 8"/>
          <p:cNvSpPr/>
          <p:nvPr/>
        </p:nvSpPr>
        <p:spPr>
          <a:xfrm>
            <a:off x="10488168" y="1755648"/>
            <a:ext cx="1417320" cy="749808"/>
          </a:xfrm>
          <a:prstGeom prst="rect">
            <a:avLst/>
          </a:prstGeom>
          <a:noFill/>
          <a:ln/>
        </p:spPr>
        <p:txBody>
          <a:bodyPr wrap="square" lIns="0" tIns="0" rIns="0" bIns="0" rtlCol="0" anchor="b"/>
          <a:lstStyle/>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Discovery across</a:t>
            </a:r>
            <a:endParaRPr lang="en-US" sz="950" dirty="0"/>
          </a:p>
          <a:p>
            <a:pPr algn="ctr" indent="0" marL="0">
              <a:lnSpc>
                <a:spcPts val="1150"/>
              </a:lnSpc>
              <a:buNone/>
            </a:pPr>
            <a:r>
              <a:rPr lang="en-US" sz="950" b="1" dirty="0">
                <a:solidFill>
                  <a:srgbClr val="56615A"/>
                </a:solidFill>
                <a:latin typeface="Calibri" pitchFamily="34" charset="0"/>
                <a:ea typeface="Calibri" pitchFamily="34" charset="-122"/>
                <a:cs typeface="Calibri" pitchFamily="34" charset="-120"/>
              </a:rPr>
              <a:t>all institutions</a:t>
            </a:r>
            <a:endParaRPr lang="en-US" sz="950" dirty="0"/>
          </a:p>
        </p:txBody>
      </p:sp>
      <p:sp>
        <p:nvSpPr>
          <p:cNvPr id="11" name="Shape 9"/>
          <p:cNvSpPr/>
          <p:nvPr/>
        </p:nvSpPr>
        <p:spPr>
          <a:xfrm>
            <a:off x="566928" y="2578608"/>
            <a:ext cx="11338560" cy="603504"/>
          </a:xfrm>
          <a:prstGeom prst="roundRect">
            <a:avLst>
              <a:gd name="adj" fmla="val 12121"/>
            </a:avLst>
          </a:prstGeom>
          <a:solidFill>
            <a:srgbClr val="168456"/>
          </a:solidFill>
          <a:ln/>
        </p:spPr>
      </p:sp>
      <p:sp>
        <p:nvSpPr>
          <p:cNvPr id="12" name="Text 10"/>
          <p:cNvSpPr/>
          <p:nvPr/>
        </p:nvSpPr>
        <p:spPr>
          <a:xfrm>
            <a:off x="822960" y="2578608"/>
            <a:ext cx="2514600" cy="60350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Dono</a:t>
            </a:r>
            <a:endParaRPr lang="en-US" sz="1500" dirty="0"/>
          </a:p>
        </p:txBody>
      </p:sp>
      <p:sp>
        <p:nvSpPr>
          <p:cNvPr id="13" name="Shape 11"/>
          <p:cNvSpPr/>
          <p:nvPr/>
        </p:nvSpPr>
        <p:spPr>
          <a:xfrm>
            <a:off x="3954780" y="2724912"/>
            <a:ext cx="310896" cy="310896"/>
          </a:xfrm>
          <a:prstGeom prst="ellipse">
            <a:avLst/>
          </a:prstGeom>
          <a:solidFill>
            <a:srgbClr val="FFFFFF"/>
          </a:solidFill>
          <a:ln/>
        </p:spPr>
      </p:sp>
      <p:sp>
        <p:nvSpPr>
          <p:cNvPr id="14" name="Text 12"/>
          <p:cNvSpPr/>
          <p:nvPr/>
        </p:nvSpPr>
        <p:spPr>
          <a:xfrm>
            <a:off x="395478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5372100" y="2724912"/>
            <a:ext cx="310896" cy="310896"/>
          </a:xfrm>
          <a:prstGeom prst="ellipse">
            <a:avLst/>
          </a:prstGeom>
          <a:solidFill>
            <a:srgbClr val="FFFFFF"/>
          </a:solidFill>
          <a:ln/>
        </p:spPr>
      </p:sp>
      <p:sp>
        <p:nvSpPr>
          <p:cNvPr id="16" name="Text 14"/>
          <p:cNvSpPr/>
          <p:nvPr/>
        </p:nvSpPr>
        <p:spPr>
          <a:xfrm>
            <a:off x="537210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6789420" y="2724912"/>
            <a:ext cx="310896" cy="310896"/>
          </a:xfrm>
          <a:prstGeom prst="ellipse">
            <a:avLst/>
          </a:prstGeom>
          <a:solidFill>
            <a:srgbClr val="FFFFFF"/>
          </a:solidFill>
          <a:ln/>
        </p:spPr>
      </p:sp>
      <p:sp>
        <p:nvSpPr>
          <p:cNvPr id="18" name="Text 16"/>
          <p:cNvSpPr/>
          <p:nvPr/>
        </p:nvSpPr>
        <p:spPr>
          <a:xfrm>
            <a:off x="678942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8206740" y="2724912"/>
            <a:ext cx="310896" cy="310896"/>
          </a:xfrm>
          <a:prstGeom prst="ellipse">
            <a:avLst/>
          </a:prstGeom>
          <a:solidFill>
            <a:srgbClr val="FFFFFF"/>
          </a:solidFill>
          <a:ln/>
        </p:spPr>
      </p:sp>
      <p:sp>
        <p:nvSpPr>
          <p:cNvPr id="20" name="Text 18"/>
          <p:cNvSpPr/>
          <p:nvPr/>
        </p:nvSpPr>
        <p:spPr>
          <a:xfrm>
            <a:off x="820674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9624060" y="2724912"/>
            <a:ext cx="310896" cy="310896"/>
          </a:xfrm>
          <a:prstGeom prst="ellipse">
            <a:avLst/>
          </a:prstGeom>
          <a:solidFill>
            <a:srgbClr val="FFFFFF"/>
          </a:solidFill>
          <a:ln/>
        </p:spPr>
      </p:sp>
      <p:sp>
        <p:nvSpPr>
          <p:cNvPr id="22" name="Text 20"/>
          <p:cNvSpPr/>
          <p:nvPr/>
        </p:nvSpPr>
        <p:spPr>
          <a:xfrm>
            <a:off x="962406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11041380" y="2724912"/>
            <a:ext cx="310896" cy="310896"/>
          </a:xfrm>
          <a:prstGeom prst="ellipse">
            <a:avLst/>
          </a:prstGeom>
          <a:solidFill>
            <a:srgbClr val="FFFFFF"/>
          </a:solidFill>
          <a:ln/>
        </p:spPr>
      </p:sp>
      <p:sp>
        <p:nvSpPr>
          <p:cNvPr id="24" name="Text 22"/>
          <p:cNvSpPr/>
          <p:nvPr/>
        </p:nvSpPr>
        <p:spPr>
          <a:xfrm>
            <a:off x="11041380" y="2724912"/>
            <a:ext cx="310896" cy="310896"/>
          </a:xfrm>
          <a:prstGeom prst="rect">
            <a:avLst/>
          </a:prstGeom>
          <a:noFill/>
          <a:ln/>
        </p:spPr>
        <p:txBody>
          <a:bodyPr wrap="square" lIns="0" tIns="0" rIns="0" bIns="0" rtlCol="0" anchor="ctr"/>
          <a:lstStyle/>
          <a:p>
            <a:pPr algn="ctr" indent="0" marL="0">
              <a:buNone/>
            </a:pPr>
            <a:r>
              <a:rPr lang="en-US" sz="1200" b="1" dirty="0">
                <a:solidFill>
                  <a:srgbClr val="168456"/>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566928" y="3246120"/>
            <a:ext cx="11338560" cy="603504"/>
          </a:xfrm>
          <a:prstGeom prst="roundRect">
            <a:avLst>
              <a:gd name="adj" fmla="val 12121"/>
            </a:avLst>
          </a:prstGeom>
          <a:solidFill>
            <a:srgbClr val="FFFFFF"/>
          </a:solidFill>
          <a:ln w="12700">
            <a:solidFill>
              <a:srgbClr val="DDE6E0"/>
            </a:solidFill>
            <a:prstDash val="solid"/>
          </a:ln>
        </p:spPr>
      </p:sp>
      <p:sp>
        <p:nvSpPr>
          <p:cNvPr id="26" name="Text 24"/>
          <p:cNvSpPr/>
          <p:nvPr/>
        </p:nvSpPr>
        <p:spPr>
          <a:xfrm>
            <a:off x="822960" y="3246120"/>
            <a:ext cx="2514600" cy="603504"/>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College development office</a:t>
            </a:r>
            <a:endParaRPr lang="en-US" sz="1250" dirty="0"/>
          </a:p>
        </p:txBody>
      </p:sp>
      <p:sp>
        <p:nvSpPr>
          <p:cNvPr id="27" name="Shape 25"/>
          <p:cNvSpPr/>
          <p:nvPr/>
        </p:nvSpPr>
        <p:spPr>
          <a:xfrm>
            <a:off x="3954780" y="3392424"/>
            <a:ext cx="310896" cy="310896"/>
          </a:xfrm>
          <a:prstGeom prst="ellipse">
            <a:avLst/>
          </a:prstGeom>
          <a:solidFill>
            <a:srgbClr val="E3E8E5"/>
          </a:solidFill>
          <a:ln/>
        </p:spPr>
      </p:sp>
      <p:sp>
        <p:nvSpPr>
          <p:cNvPr id="28" name="Text 26"/>
          <p:cNvSpPr/>
          <p:nvPr/>
        </p:nvSpPr>
        <p:spPr>
          <a:xfrm>
            <a:off x="3954780" y="3392424"/>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5372100" y="3392424"/>
            <a:ext cx="310896" cy="310896"/>
          </a:xfrm>
          <a:prstGeom prst="ellipse">
            <a:avLst/>
          </a:prstGeom>
          <a:solidFill>
            <a:srgbClr val="69A984"/>
          </a:solidFill>
          <a:ln/>
        </p:spPr>
      </p:sp>
      <p:sp>
        <p:nvSpPr>
          <p:cNvPr id="30" name="Text 28"/>
          <p:cNvSpPr/>
          <p:nvPr/>
        </p:nvSpPr>
        <p:spPr>
          <a:xfrm>
            <a:off x="5372100" y="33741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Shape 29"/>
          <p:cNvSpPr/>
          <p:nvPr/>
        </p:nvSpPr>
        <p:spPr>
          <a:xfrm>
            <a:off x="6789420" y="3392424"/>
            <a:ext cx="310896" cy="310896"/>
          </a:xfrm>
          <a:prstGeom prst="ellipse">
            <a:avLst/>
          </a:prstGeom>
          <a:solidFill>
            <a:srgbClr val="168456"/>
          </a:solidFill>
          <a:ln/>
        </p:spPr>
      </p:sp>
      <p:sp>
        <p:nvSpPr>
          <p:cNvPr id="32" name="Text 30"/>
          <p:cNvSpPr/>
          <p:nvPr/>
        </p:nvSpPr>
        <p:spPr>
          <a:xfrm>
            <a:off x="6789420" y="3392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8206740" y="3392424"/>
            <a:ext cx="310896" cy="310896"/>
          </a:xfrm>
          <a:prstGeom prst="ellipse">
            <a:avLst/>
          </a:prstGeom>
          <a:solidFill>
            <a:srgbClr val="168456"/>
          </a:solidFill>
          <a:ln/>
        </p:spPr>
      </p:sp>
      <p:sp>
        <p:nvSpPr>
          <p:cNvPr id="34" name="Text 32"/>
          <p:cNvSpPr/>
          <p:nvPr/>
        </p:nvSpPr>
        <p:spPr>
          <a:xfrm>
            <a:off x="8206740" y="3392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5" name="Shape 33"/>
          <p:cNvSpPr/>
          <p:nvPr/>
        </p:nvSpPr>
        <p:spPr>
          <a:xfrm>
            <a:off x="9624060" y="3392424"/>
            <a:ext cx="310896" cy="310896"/>
          </a:xfrm>
          <a:prstGeom prst="ellipse">
            <a:avLst/>
          </a:prstGeom>
          <a:solidFill>
            <a:srgbClr val="E3E8E5"/>
          </a:solidFill>
          <a:ln/>
        </p:spPr>
      </p:sp>
      <p:sp>
        <p:nvSpPr>
          <p:cNvPr id="36" name="Text 34"/>
          <p:cNvSpPr/>
          <p:nvPr/>
        </p:nvSpPr>
        <p:spPr>
          <a:xfrm>
            <a:off x="9624060" y="3392424"/>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11041380" y="3392424"/>
            <a:ext cx="310896" cy="310896"/>
          </a:xfrm>
          <a:prstGeom prst="ellipse">
            <a:avLst/>
          </a:prstGeom>
          <a:solidFill>
            <a:srgbClr val="E3E8E5"/>
          </a:solidFill>
          <a:ln/>
        </p:spPr>
      </p:sp>
      <p:sp>
        <p:nvSpPr>
          <p:cNvPr id="38" name="Text 36"/>
          <p:cNvSpPr/>
          <p:nvPr/>
        </p:nvSpPr>
        <p:spPr>
          <a:xfrm>
            <a:off x="11041380" y="3392424"/>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39" name="Shape 37"/>
          <p:cNvSpPr/>
          <p:nvPr/>
        </p:nvSpPr>
        <p:spPr>
          <a:xfrm>
            <a:off x="566928" y="3913632"/>
            <a:ext cx="11338560" cy="603504"/>
          </a:xfrm>
          <a:prstGeom prst="roundRect">
            <a:avLst>
              <a:gd name="adj" fmla="val 12121"/>
            </a:avLst>
          </a:prstGeom>
          <a:solidFill>
            <a:srgbClr val="FFFFFF"/>
          </a:solidFill>
          <a:ln w="12700">
            <a:solidFill>
              <a:srgbClr val="DDE6E0"/>
            </a:solidFill>
            <a:prstDash val="solid"/>
          </a:ln>
        </p:spPr>
      </p:sp>
      <p:sp>
        <p:nvSpPr>
          <p:cNvPr id="40" name="Text 38"/>
          <p:cNvSpPr/>
          <p:nvPr/>
        </p:nvSpPr>
        <p:spPr>
          <a:xfrm>
            <a:off x="822960" y="3913632"/>
            <a:ext cx="2514600" cy="603504"/>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GoFundMe / JustGiving</a:t>
            </a:r>
            <a:endParaRPr lang="en-US" sz="1250" dirty="0"/>
          </a:p>
        </p:txBody>
      </p:sp>
      <p:sp>
        <p:nvSpPr>
          <p:cNvPr id="41" name="Shape 39"/>
          <p:cNvSpPr/>
          <p:nvPr/>
        </p:nvSpPr>
        <p:spPr>
          <a:xfrm>
            <a:off x="3954780" y="4059936"/>
            <a:ext cx="310896" cy="310896"/>
          </a:xfrm>
          <a:prstGeom prst="ellipse">
            <a:avLst/>
          </a:prstGeom>
          <a:solidFill>
            <a:srgbClr val="168456"/>
          </a:solidFill>
          <a:ln/>
        </p:spPr>
      </p:sp>
      <p:sp>
        <p:nvSpPr>
          <p:cNvPr id="42" name="Text 40"/>
          <p:cNvSpPr/>
          <p:nvPr/>
        </p:nvSpPr>
        <p:spPr>
          <a:xfrm>
            <a:off x="3954780" y="4059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3" name="Shape 41"/>
          <p:cNvSpPr/>
          <p:nvPr/>
        </p:nvSpPr>
        <p:spPr>
          <a:xfrm>
            <a:off x="5372100" y="4059936"/>
            <a:ext cx="310896" cy="310896"/>
          </a:xfrm>
          <a:prstGeom prst="ellipse">
            <a:avLst/>
          </a:prstGeom>
          <a:solidFill>
            <a:srgbClr val="E3E8E5"/>
          </a:solidFill>
          <a:ln/>
        </p:spPr>
      </p:sp>
      <p:sp>
        <p:nvSpPr>
          <p:cNvPr id="44" name="Text 42"/>
          <p:cNvSpPr/>
          <p:nvPr/>
        </p:nvSpPr>
        <p:spPr>
          <a:xfrm>
            <a:off x="5372100" y="4059936"/>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6789420" y="4059936"/>
            <a:ext cx="310896" cy="310896"/>
          </a:xfrm>
          <a:prstGeom prst="ellipse">
            <a:avLst/>
          </a:prstGeom>
          <a:solidFill>
            <a:srgbClr val="168456"/>
          </a:solidFill>
          <a:ln/>
        </p:spPr>
      </p:sp>
      <p:sp>
        <p:nvSpPr>
          <p:cNvPr id="46" name="Text 44"/>
          <p:cNvSpPr/>
          <p:nvPr/>
        </p:nvSpPr>
        <p:spPr>
          <a:xfrm>
            <a:off x="6789420" y="4059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47" name="Shape 45"/>
          <p:cNvSpPr/>
          <p:nvPr/>
        </p:nvSpPr>
        <p:spPr>
          <a:xfrm>
            <a:off x="8206740" y="4059936"/>
            <a:ext cx="310896" cy="310896"/>
          </a:xfrm>
          <a:prstGeom prst="ellipse">
            <a:avLst/>
          </a:prstGeom>
          <a:solidFill>
            <a:srgbClr val="E3E8E5"/>
          </a:solidFill>
          <a:ln/>
        </p:spPr>
      </p:sp>
      <p:sp>
        <p:nvSpPr>
          <p:cNvPr id="48" name="Text 46"/>
          <p:cNvSpPr/>
          <p:nvPr/>
        </p:nvSpPr>
        <p:spPr>
          <a:xfrm>
            <a:off x="8206740" y="4059936"/>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9624060" y="4059936"/>
            <a:ext cx="310896" cy="310896"/>
          </a:xfrm>
          <a:prstGeom prst="ellipse">
            <a:avLst/>
          </a:prstGeom>
          <a:solidFill>
            <a:srgbClr val="168456"/>
          </a:solidFill>
          <a:ln/>
        </p:spPr>
      </p:sp>
      <p:sp>
        <p:nvSpPr>
          <p:cNvPr id="50" name="Text 48"/>
          <p:cNvSpPr/>
          <p:nvPr/>
        </p:nvSpPr>
        <p:spPr>
          <a:xfrm>
            <a:off x="9624060" y="40599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51" name="Shape 49"/>
          <p:cNvSpPr/>
          <p:nvPr/>
        </p:nvSpPr>
        <p:spPr>
          <a:xfrm>
            <a:off x="11041380" y="4059936"/>
            <a:ext cx="310896" cy="310896"/>
          </a:xfrm>
          <a:prstGeom prst="ellipse">
            <a:avLst/>
          </a:prstGeom>
          <a:solidFill>
            <a:srgbClr val="E3E8E5"/>
          </a:solidFill>
          <a:ln/>
        </p:spPr>
      </p:sp>
      <p:sp>
        <p:nvSpPr>
          <p:cNvPr id="52" name="Text 50"/>
          <p:cNvSpPr/>
          <p:nvPr/>
        </p:nvSpPr>
        <p:spPr>
          <a:xfrm>
            <a:off x="11041380" y="4059936"/>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53" name="Shape 51"/>
          <p:cNvSpPr/>
          <p:nvPr/>
        </p:nvSpPr>
        <p:spPr>
          <a:xfrm>
            <a:off x="566928" y="4581144"/>
            <a:ext cx="11338560" cy="603504"/>
          </a:xfrm>
          <a:prstGeom prst="roundRect">
            <a:avLst>
              <a:gd name="adj" fmla="val 12121"/>
            </a:avLst>
          </a:prstGeom>
          <a:solidFill>
            <a:srgbClr val="FFFFFF"/>
          </a:solidFill>
          <a:ln w="12700">
            <a:solidFill>
              <a:srgbClr val="DDE6E0"/>
            </a:solidFill>
            <a:prstDash val="solid"/>
          </a:ln>
        </p:spPr>
      </p:sp>
      <p:sp>
        <p:nvSpPr>
          <p:cNvPr id="54" name="Text 52"/>
          <p:cNvSpPr/>
          <p:nvPr/>
        </p:nvSpPr>
        <p:spPr>
          <a:xfrm>
            <a:off x="822960" y="4581144"/>
            <a:ext cx="2514600" cy="603504"/>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Hubbub / OxReach</a:t>
            </a:r>
            <a:endParaRPr lang="en-US" sz="1250" dirty="0"/>
          </a:p>
        </p:txBody>
      </p:sp>
      <p:sp>
        <p:nvSpPr>
          <p:cNvPr id="55" name="Shape 53"/>
          <p:cNvSpPr/>
          <p:nvPr/>
        </p:nvSpPr>
        <p:spPr>
          <a:xfrm>
            <a:off x="3954780" y="4727448"/>
            <a:ext cx="310896" cy="310896"/>
          </a:xfrm>
          <a:prstGeom prst="ellipse">
            <a:avLst/>
          </a:prstGeom>
          <a:solidFill>
            <a:srgbClr val="69A984"/>
          </a:solidFill>
          <a:ln/>
        </p:spPr>
      </p:sp>
      <p:sp>
        <p:nvSpPr>
          <p:cNvPr id="56" name="Text 54"/>
          <p:cNvSpPr/>
          <p:nvPr/>
        </p:nvSpPr>
        <p:spPr>
          <a:xfrm>
            <a:off x="3954780" y="47091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7" name="Shape 55"/>
          <p:cNvSpPr/>
          <p:nvPr/>
        </p:nvSpPr>
        <p:spPr>
          <a:xfrm>
            <a:off x="5372100" y="4727448"/>
            <a:ext cx="310896" cy="310896"/>
          </a:xfrm>
          <a:prstGeom prst="ellipse">
            <a:avLst/>
          </a:prstGeom>
          <a:solidFill>
            <a:srgbClr val="69A984"/>
          </a:solidFill>
          <a:ln/>
        </p:spPr>
      </p:sp>
      <p:sp>
        <p:nvSpPr>
          <p:cNvPr id="58" name="Text 56"/>
          <p:cNvSpPr/>
          <p:nvPr/>
        </p:nvSpPr>
        <p:spPr>
          <a:xfrm>
            <a:off x="5372100" y="47091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9" name="Shape 57"/>
          <p:cNvSpPr/>
          <p:nvPr/>
        </p:nvSpPr>
        <p:spPr>
          <a:xfrm>
            <a:off x="6789420" y="4727448"/>
            <a:ext cx="310896" cy="310896"/>
          </a:xfrm>
          <a:prstGeom prst="ellipse">
            <a:avLst/>
          </a:prstGeom>
          <a:solidFill>
            <a:srgbClr val="E3E8E5"/>
          </a:solidFill>
          <a:ln/>
        </p:spPr>
      </p:sp>
      <p:sp>
        <p:nvSpPr>
          <p:cNvPr id="60" name="Text 58"/>
          <p:cNvSpPr/>
          <p:nvPr/>
        </p:nvSpPr>
        <p:spPr>
          <a:xfrm>
            <a:off x="6789420" y="4727448"/>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8206740" y="4727448"/>
            <a:ext cx="310896" cy="310896"/>
          </a:xfrm>
          <a:prstGeom prst="ellipse">
            <a:avLst/>
          </a:prstGeom>
          <a:solidFill>
            <a:srgbClr val="E3E8E5"/>
          </a:solidFill>
          <a:ln/>
        </p:spPr>
      </p:sp>
      <p:sp>
        <p:nvSpPr>
          <p:cNvPr id="62" name="Text 60"/>
          <p:cNvSpPr/>
          <p:nvPr/>
        </p:nvSpPr>
        <p:spPr>
          <a:xfrm>
            <a:off x="8206740" y="4727448"/>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63" name="Shape 61"/>
          <p:cNvSpPr/>
          <p:nvPr/>
        </p:nvSpPr>
        <p:spPr>
          <a:xfrm>
            <a:off x="9624060" y="4727448"/>
            <a:ext cx="310896" cy="310896"/>
          </a:xfrm>
          <a:prstGeom prst="ellipse">
            <a:avLst/>
          </a:prstGeom>
          <a:solidFill>
            <a:srgbClr val="E3E8E5"/>
          </a:solidFill>
          <a:ln/>
        </p:spPr>
      </p:sp>
      <p:sp>
        <p:nvSpPr>
          <p:cNvPr id="64" name="Text 62"/>
          <p:cNvSpPr/>
          <p:nvPr/>
        </p:nvSpPr>
        <p:spPr>
          <a:xfrm>
            <a:off x="9624060" y="4727448"/>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65" name="Shape 63"/>
          <p:cNvSpPr/>
          <p:nvPr/>
        </p:nvSpPr>
        <p:spPr>
          <a:xfrm>
            <a:off x="11041380" y="4727448"/>
            <a:ext cx="310896" cy="310896"/>
          </a:xfrm>
          <a:prstGeom prst="ellipse">
            <a:avLst/>
          </a:prstGeom>
          <a:solidFill>
            <a:srgbClr val="E3E8E5"/>
          </a:solidFill>
          <a:ln/>
        </p:spPr>
      </p:sp>
      <p:sp>
        <p:nvSpPr>
          <p:cNvPr id="66" name="Text 64"/>
          <p:cNvSpPr/>
          <p:nvPr/>
        </p:nvSpPr>
        <p:spPr>
          <a:xfrm>
            <a:off x="11041380" y="4727448"/>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566928" y="5248656"/>
            <a:ext cx="11338560" cy="603504"/>
          </a:xfrm>
          <a:prstGeom prst="roundRect">
            <a:avLst>
              <a:gd name="adj" fmla="val 12121"/>
            </a:avLst>
          </a:prstGeom>
          <a:solidFill>
            <a:srgbClr val="FFFFFF"/>
          </a:solidFill>
          <a:ln w="12700">
            <a:solidFill>
              <a:srgbClr val="DDE6E0"/>
            </a:solidFill>
            <a:prstDash val="solid"/>
          </a:ln>
        </p:spPr>
      </p:sp>
      <p:sp>
        <p:nvSpPr>
          <p:cNvPr id="68" name="Text 66"/>
          <p:cNvSpPr/>
          <p:nvPr/>
        </p:nvSpPr>
        <p:spPr>
          <a:xfrm>
            <a:off x="822960" y="5248656"/>
            <a:ext cx="2514600" cy="603504"/>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Instagram + bank transfer</a:t>
            </a:r>
            <a:endParaRPr lang="en-US" sz="1250" dirty="0"/>
          </a:p>
        </p:txBody>
      </p:sp>
      <p:sp>
        <p:nvSpPr>
          <p:cNvPr id="69" name="Shape 67"/>
          <p:cNvSpPr/>
          <p:nvPr/>
        </p:nvSpPr>
        <p:spPr>
          <a:xfrm>
            <a:off x="3954780" y="5394960"/>
            <a:ext cx="310896" cy="310896"/>
          </a:xfrm>
          <a:prstGeom prst="ellipse">
            <a:avLst/>
          </a:prstGeom>
          <a:solidFill>
            <a:srgbClr val="168456"/>
          </a:solidFill>
          <a:ln/>
        </p:spPr>
      </p:sp>
      <p:sp>
        <p:nvSpPr>
          <p:cNvPr id="70" name="Text 68"/>
          <p:cNvSpPr/>
          <p:nvPr/>
        </p:nvSpPr>
        <p:spPr>
          <a:xfrm>
            <a:off x="3954780" y="5394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1" name="Shape 69"/>
          <p:cNvSpPr/>
          <p:nvPr/>
        </p:nvSpPr>
        <p:spPr>
          <a:xfrm>
            <a:off x="5372100" y="5394960"/>
            <a:ext cx="310896" cy="310896"/>
          </a:xfrm>
          <a:prstGeom prst="ellipse">
            <a:avLst/>
          </a:prstGeom>
          <a:solidFill>
            <a:srgbClr val="E3E8E5"/>
          </a:solidFill>
          <a:ln/>
        </p:spPr>
      </p:sp>
      <p:sp>
        <p:nvSpPr>
          <p:cNvPr id="72" name="Text 70"/>
          <p:cNvSpPr/>
          <p:nvPr/>
        </p:nvSpPr>
        <p:spPr>
          <a:xfrm>
            <a:off x="5372100" y="5394960"/>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73" name="Shape 71"/>
          <p:cNvSpPr/>
          <p:nvPr/>
        </p:nvSpPr>
        <p:spPr>
          <a:xfrm>
            <a:off x="6789420" y="5394960"/>
            <a:ext cx="310896" cy="310896"/>
          </a:xfrm>
          <a:prstGeom prst="ellipse">
            <a:avLst/>
          </a:prstGeom>
          <a:solidFill>
            <a:srgbClr val="168456"/>
          </a:solidFill>
          <a:ln/>
        </p:spPr>
      </p:sp>
      <p:sp>
        <p:nvSpPr>
          <p:cNvPr id="74" name="Text 72"/>
          <p:cNvSpPr/>
          <p:nvPr/>
        </p:nvSpPr>
        <p:spPr>
          <a:xfrm>
            <a:off x="6789420" y="5394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5" name="Shape 73"/>
          <p:cNvSpPr/>
          <p:nvPr/>
        </p:nvSpPr>
        <p:spPr>
          <a:xfrm>
            <a:off x="8206740" y="5394960"/>
            <a:ext cx="310896" cy="310896"/>
          </a:xfrm>
          <a:prstGeom prst="ellipse">
            <a:avLst/>
          </a:prstGeom>
          <a:solidFill>
            <a:srgbClr val="E3E8E5"/>
          </a:solidFill>
          <a:ln/>
        </p:spPr>
      </p:sp>
      <p:sp>
        <p:nvSpPr>
          <p:cNvPr id="76" name="Text 74"/>
          <p:cNvSpPr/>
          <p:nvPr/>
        </p:nvSpPr>
        <p:spPr>
          <a:xfrm>
            <a:off x="8206740" y="5394960"/>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77" name="Shape 75"/>
          <p:cNvSpPr/>
          <p:nvPr/>
        </p:nvSpPr>
        <p:spPr>
          <a:xfrm>
            <a:off x="9624060" y="5394960"/>
            <a:ext cx="310896" cy="310896"/>
          </a:xfrm>
          <a:prstGeom prst="ellipse">
            <a:avLst/>
          </a:prstGeom>
          <a:solidFill>
            <a:srgbClr val="69A984"/>
          </a:solidFill>
          <a:ln/>
        </p:spPr>
      </p:sp>
      <p:sp>
        <p:nvSpPr>
          <p:cNvPr id="78" name="Text 76"/>
          <p:cNvSpPr/>
          <p:nvPr/>
        </p:nvSpPr>
        <p:spPr>
          <a:xfrm>
            <a:off x="9624060" y="53766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9" name="Shape 77"/>
          <p:cNvSpPr/>
          <p:nvPr/>
        </p:nvSpPr>
        <p:spPr>
          <a:xfrm>
            <a:off x="11041380" y="5394960"/>
            <a:ext cx="310896" cy="310896"/>
          </a:xfrm>
          <a:prstGeom prst="ellipse">
            <a:avLst/>
          </a:prstGeom>
          <a:solidFill>
            <a:srgbClr val="E3E8E5"/>
          </a:solidFill>
          <a:ln/>
        </p:spPr>
      </p:sp>
      <p:sp>
        <p:nvSpPr>
          <p:cNvPr id="80" name="Text 78"/>
          <p:cNvSpPr/>
          <p:nvPr/>
        </p:nvSpPr>
        <p:spPr>
          <a:xfrm>
            <a:off x="11041380" y="5394960"/>
            <a:ext cx="310896" cy="310896"/>
          </a:xfrm>
          <a:prstGeom prst="rect">
            <a:avLst/>
          </a:prstGeom>
          <a:noFill/>
          <a:ln/>
        </p:spPr>
        <p:txBody>
          <a:bodyPr wrap="square" lIns="0" tIns="0" rIns="0" bIns="0" rtlCol="0" anchor="ctr"/>
          <a:lstStyle/>
          <a:p>
            <a:pPr algn="ctr" indent="0" marL="0">
              <a:buNone/>
            </a:pPr>
            <a:r>
              <a:rPr lang="en-US" sz="1000" b="1" dirty="0">
                <a:solidFill>
                  <a:srgbClr val="8E9A93"/>
                </a:solidFill>
                <a:latin typeface="Calibri" pitchFamily="34" charset="0"/>
                <a:ea typeface="Calibri" pitchFamily="34" charset="-122"/>
                <a:cs typeface="Calibri" pitchFamily="34" charset="-120"/>
              </a:rPr>
              <a:t>✕</a:t>
            </a:r>
            <a:endParaRPr lang="en-US" sz="1000" dirty="0"/>
          </a:p>
        </p:txBody>
      </p:sp>
      <p:sp>
        <p:nvSpPr>
          <p:cNvPr id="81" name="Shape 79"/>
          <p:cNvSpPr/>
          <p:nvPr/>
        </p:nvSpPr>
        <p:spPr>
          <a:xfrm>
            <a:off x="566928" y="5998464"/>
            <a:ext cx="11064240" cy="603504"/>
          </a:xfrm>
          <a:prstGeom prst="roundRect">
            <a:avLst>
              <a:gd name="adj" fmla="val 13636"/>
            </a:avLst>
          </a:prstGeom>
          <a:solidFill>
            <a:srgbClr val="E8F5EE"/>
          </a:solidFill>
          <a:ln/>
        </p:spPr>
      </p:sp>
      <p:sp>
        <p:nvSpPr>
          <p:cNvPr id="82" name="Text 80"/>
          <p:cNvSpPr/>
          <p:nvPr/>
        </p:nvSpPr>
        <p:spPr>
          <a:xfrm>
            <a:off x="914400" y="5998464"/>
            <a:ext cx="10424160" cy="603504"/>
          </a:xfrm>
          <a:prstGeom prst="rect">
            <a:avLst/>
          </a:prstGeom>
          <a:noFill/>
          <a:ln/>
        </p:spPr>
        <p:txBody>
          <a:bodyPr wrap="square" lIns="0" tIns="0" rIns="0" bIns="0" rtlCol="0" anchor="ctr"/>
          <a:lstStyle/>
          <a:p>
            <a:pPr indent="0" marL="0">
              <a:buNone/>
            </a:pPr>
            <a:r>
              <a:rPr lang="en-US" sz="1250" b="1" dirty="0">
                <a:solidFill>
                  <a:srgbClr val="126E49"/>
                </a:solidFill>
                <a:latin typeface="Calibri" pitchFamily="34" charset="0"/>
                <a:ea typeface="Calibri" pitchFamily="34" charset="-122"/>
                <a:cs typeface="Calibri" pitchFamily="34" charset="-120"/>
              </a:rPr>
              <a:t>Oxford already tried this.  </a:t>
            </a:r>
            <a:pPr indent="0" marL="0">
              <a:buNone/>
            </a:pPr>
            <a:r>
              <a:rPr lang="en-US" sz="1200" dirty="0">
                <a:solidFill>
                  <a:srgbClr val="56615A"/>
                </a:solidFill>
                <a:latin typeface="Calibri" pitchFamily="34" charset="0"/>
                <a:ea typeface="Calibri" pitchFamily="34" charset="-122"/>
                <a:cs typeface="Calibri" pitchFamily="34" charset="-120"/>
              </a:rPr>
              <a:t>OxReach, built with a consultancy, listed six projects ever — four of them from professors. It wasn't renewed. It was built for the institution, not for students.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F17"/>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1B3A2B"/>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69A984"/>
                </a:solidFill>
                <a:latin typeface="Calibri" pitchFamily="34" charset="0"/>
                <a:ea typeface="Calibri" pitchFamily="34" charset="-122"/>
                <a:cs typeface="Calibri" pitchFamily="34" charset="-120"/>
              </a:rPr>
              <a:t>WHY NOW</a:t>
            </a:r>
            <a:endParaRPr lang="en-US" sz="1000" dirty="0"/>
          </a:p>
        </p:txBody>
      </p:sp>
      <p:sp>
        <p:nvSpPr>
          <p:cNvPr id="4" name="Text 2"/>
          <p:cNvSpPr/>
          <p:nvPr/>
        </p:nvSpPr>
        <p:spPr>
          <a:xfrm>
            <a:off x="548640" y="786384"/>
            <a:ext cx="106070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old way of finding small donors is dying.</a:t>
            </a:r>
            <a:endParaRPr lang="en-US" sz="3400" dirty="0"/>
          </a:p>
        </p:txBody>
      </p:sp>
      <p:sp>
        <p:nvSpPr>
          <p:cNvPr id="5" name="Text 3"/>
          <p:cNvSpPr/>
          <p:nvPr/>
        </p:nvSpPr>
        <p:spPr>
          <a:xfrm>
            <a:off x="566928" y="1627632"/>
            <a:ext cx="10424160" cy="457200"/>
          </a:xfrm>
          <a:prstGeom prst="rect">
            <a:avLst/>
          </a:prstGeom>
          <a:noFill/>
          <a:ln/>
        </p:spPr>
        <p:txBody>
          <a:bodyPr wrap="square" lIns="0" tIns="0" rIns="0" bIns="0" rtlCol="0" anchor="ctr"/>
          <a:lstStyle/>
          <a:p>
            <a:pPr indent="0" marL="0">
              <a:buNone/>
            </a:pPr>
            <a:r>
              <a:rPr lang="en-US" sz="1500" dirty="0">
                <a:solidFill>
                  <a:srgbClr val="69A984"/>
                </a:solidFill>
                <a:latin typeface="Calibri" pitchFamily="34" charset="0"/>
                <a:ea typeface="Calibri" pitchFamily="34" charset="-122"/>
                <a:cs typeface="Calibri" pitchFamily="34" charset="-120"/>
              </a:rPr>
              <a:t>Four things had to break at once. They just did.</a:t>
            </a:r>
            <a:endParaRPr lang="en-US" sz="1500" dirty="0"/>
          </a:p>
        </p:txBody>
      </p:sp>
      <p:sp>
        <p:nvSpPr>
          <p:cNvPr id="6" name="Shape 4"/>
          <p:cNvSpPr/>
          <p:nvPr/>
        </p:nvSpPr>
        <p:spPr>
          <a:xfrm>
            <a:off x="566928" y="2212848"/>
            <a:ext cx="5440680" cy="1737360"/>
          </a:xfrm>
          <a:prstGeom prst="roundRect">
            <a:avLst>
              <a:gd name="adj" fmla="val 4737"/>
            </a:avLst>
          </a:prstGeom>
          <a:solidFill>
            <a:srgbClr val="173224"/>
          </a:solidFill>
          <a:ln w="12700">
            <a:solidFill>
              <a:srgbClr val="274736"/>
            </a:solidFill>
            <a:prstDash val="solid"/>
          </a:ln>
        </p:spPr>
      </p:sp>
      <p:sp>
        <p:nvSpPr>
          <p:cNvPr id="7" name="Shape 5"/>
          <p:cNvSpPr/>
          <p:nvPr/>
        </p:nvSpPr>
        <p:spPr>
          <a:xfrm>
            <a:off x="566928" y="2212848"/>
            <a:ext cx="5440680" cy="1737360"/>
          </a:xfrm>
          <a:prstGeom prst="roundRect">
            <a:avLst>
              <a:gd name="adj" fmla="val 4737"/>
            </a:avLst>
          </a:prstGeom>
          <a:solidFill>
            <a:srgbClr val="183325"/>
          </a:solidFill>
          <a:ln w="12700">
            <a:solidFill>
              <a:srgbClr val="2A4C39"/>
            </a:solidFill>
            <a:prstDash val="solid"/>
          </a:ln>
        </p:spPr>
      </p:sp>
      <p:sp>
        <p:nvSpPr>
          <p:cNvPr id="8" name="Text 6"/>
          <p:cNvSpPr/>
          <p:nvPr/>
        </p:nvSpPr>
        <p:spPr>
          <a:xfrm>
            <a:off x="886968" y="2432304"/>
            <a:ext cx="640080" cy="36576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01</a:t>
            </a:r>
            <a:endParaRPr lang="en-US" sz="1800" dirty="0"/>
          </a:p>
        </p:txBody>
      </p:sp>
      <p:sp>
        <p:nvSpPr>
          <p:cNvPr id="9" name="Text 7"/>
          <p:cNvSpPr/>
          <p:nvPr/>
        </p:nvSpPr>
        <p:spPr>
          <a:xfrm>
            <a:off x="1527048" y="2414016"/>
            <a:ext cx="420624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telethon is collapsing</a:t>
            </a:r>
            <a:endParaRPr lang="en-US" sz="1700" dirty="0"/>
          </a:p>
        </p:txBody>
      </p:sp>
      <p:sp>
        <p:nvSpPr>
          <p:cNvPr id="10" name="Text 8"/>
          <p:cNvSpPr/>
          <p:nvPr/>
        </p:nvSpPr>
        <p:spPr>
          <a:xfrm>
            <a:off x="1527048" y="2816352"/>
            <a:ext cx="4251960" cy="960120"/>
          </a:xfrm>
          <a:prstGeom prst="rect">
            <a:avLst/>
          </a:prstGeom>
          <a:noFill/>
          <a:ln/>
        </p:spPr>
        <p:txBody>
          <a:bodyPr wrap="square" lIns="0" tIns="0" rIns="0" bIns="0" rtlCol="0" anchor="ctr"/>
          <a:lstStyle/>
          <a:p>
            <a:pPr indent="0" marL="0">
              <a:lnSpc>
                <a:spcPts val="1400"/>
              </a:lnSpc>
              <a:buNone/>
            </a:pPr>
            <a:r>
              <a:rPr lang="en-US" sz="1100" dirty="0">
                <a:solidFill>
                  <a:srgbClr val="AFC9BB"/>
                </a:solidFill>
                <a:latin typeface="Calibri" pitchFamily="34" charset="0"/>
                <a:ea typeface="Calibri" pitchFamily="34" charset="-122"/>
                <a:cs typeface="Calibri" pitchFamily="34" charset="-120"/>
              </a:rPr>
              <a:t>£30–50k cost for £10–15k net. Colleges are shutting them down. Scam awareness and AI voice-cloning are finishing the job. This was the only channel that acquired small donors.</a:t>
            </a:r>
            <a:endParaRPr lang="en-US" sz="1100" dirty="0"/>
          </a:p>
        </p:txBody>
      </p:sp>
      <p:sp>
        <p:nvSpPr>
          <p:cNvPr id="11" name="Shape 9"/>
          <p:cNvSpPr/>
          <p:nvPr/>
        </p:nvSpPr>
        <p:spPr>
          <a:xfrm>
            <a:off x="6190488" y="2212848"/>
            <a:ext cx="5440680" cy="1737360"/>
          </a:xfrm>
          <a:prstGeom prst="roundRect">
            <a:avLst>
              <a:gd name="adj" fmla="val 4737"/>
            </a:avLst>
          </a:prstGeom>
          <a:solidFill>
            <a:srgbClr val="173224"/>
          </a:solidFill>
          <a:ln w="12700">
            <a:solidFill>
              <a:srgbClr val="274736"/>
            </a:solidFill>
            <a:prstDash val="solid"/>
          </a:ln>
        </p:spPr>
      </p:sp>
      <p:sp>
        <p:nvSpPr>
          <p:cNvPr id="12" name="Shape 10"/>
          <p:cNvSpPr/>
          <p:nvPr/>
        </p:nvSpPr>
        <p:spPr>
          <a:xfrm>
            <a:off x="6190488" y="2212848"/>
            <a:ext cx="5440680" cy="1737360"/>
          </a:xfrm>
          <a:prstGeom prst="roundRect">
            <a:avLst>
              <a:gd name="adj" fmla="val 4737"/>
            </a:avLst>
          </a:prstGeom>
          <a:solidFill>
            <a:srgbClr val="183325"/>
          </a:solidFill>
          <a:ln w="12700">
            <a:solidFill>
              <a:srgbClr val="2A4C39"/>
            </a:solidFill>
            <a:prstDash val="solid"/>
          </a:ln>
        </p:spPr>
      </p:sp>
      <p:sp>
        <p:nvSpPr>
          <p:cNvPr id="13" name="Text 11"/>
          <p:cNvSpPr/>
          <p:nvPr/>
        </p:nvSpPr>
        <p:spPr>
          <a:xfrm>
            <a:off x="6510528" y="2432304"/>
            <a:ext cx="640080" cy="36576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02</a:t>
            </a:r>
            <a:endParaRPr lang="en-US" sz="1800" dirty="0"/>
          </a:p>
        </p:txBody>
      </p:sp>
      <p:sp>
        <p:nvSpPr>
          <p:cNvPr id="14" name="Text 12"/>
          <p:cNvSpPr/>
          <p:nvPr/>
        </p:nvSpPr>
        <p:spPr>
          <a:xfrm>
            <a:off x="7150608" y="2414016"/>
            <a:ext cx="420624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Email no longer lands</a:t>
            </a:r>
            <a:endParaRPr lang="en-US" sz="1700" dirty="0"/>
          </a:p>
        </p:txBody>
      </p:sp>
      <p:sp>
        <p:nvSpPr>
          <p:cNvPr id="15" name="Text 13"/>
          <p:cNvSpPr/>
          <p:nvPr/>
        </p:nvSpPr>
        <p:spPr>
          <a:xfrm>
            <a:off x="7150608" y="2816352"/>
            <a:ext cx="4251960" cy="960120"/>
          </a:xfrm>
          <a:prstGeom prst="rect">
            <a:avLst/>
          </a:prstGeom>
          <a:noFill/>
          <a:ln/>
        </p:spPr>
        <p:txBody>
          <a:bodyPr wrap="square" lIns="0" tIns="0" rIns="0" bIns="0" rtlCol="0" anchor="ctr"/>
          <a:lstStyle/>
          <a:p>
            <a:pPr indent="0" marL="0">
              <a:lnSpc>
                <a:spcPts val="1400"/>
              </a:lnSpc>
              <a:buNone/>
            </a:pPr>
            <a:r>
              <a:rPr lang="en-US" sz="1100" dirty="0">
                <a:solidFill>
                  <a:srgbClr val="AFC9BB"/>
                </a:solidFill>
                <a:latin typeface="Calibri" pitchFamily="34" charset="0"/>
                <a:ea typeface="Calibri" pitchFamily="34" charset="-122"/>
                <a:cs typeface="Calibri" pitchFamily="34" charset="-120"/>
              </a:rPr>
              <a:t>Auto-filtered to promotions, open rates falling. Every development office we spoke to said the same.</a:t>
            </a:r>
            <a:endParaRPr lang="en-US" sz="1100" dirty="0"/>
          </a:p>
        </p:txBody>
      </p:sp>
      <p:sp>
        <p:nvSpPr>
          <p:cNvPr id="16" name="Shape 14"/>
          <p:cNvSpPr/>
          <p:nvPr/>
        </p:nvSpPr>
        <p:spPr>
          <a:xfrm>
            <a:off x="566928" y="4178808"/>
            <a:ext cx="5440680" cy="1737360"/>
          </a:xfrm>
          <a:prstGeom prst="roundRect">
            <a:avLst>
              <a:gd name="adj" fmla="val 4737"/>
            </a:avLst>
          </a:prstGeom>
          <a:solidFill>
            <a:srgbClr val="173224"/>
          </a:solidFill>
          <a:ln w="12700">
            <a:solidFill>
              <a:srgbClr val="274736"/>
            </a:solidFill>
            <a:prstDash val="solid"/>
          </a:ln>
        </p:spPr>
      </p:sp>
      <p:sp>
        <p:nvSpPr>
          <p:cNvPr id="17" name="Shape 15"/>
          <p:cNvSpPr/>
          <p:nvPr/>
        </p:nvSpPr>
        <p:spPr>
          <a:xfrm>
            <a:off x="566928" y="4178808"/>
            <a:ext cx="5440680" cy="1737360"/>
          </a:xfrm>
          <a:prstGeom prst="roundRect">
            <a:avLst>
              <a:gd name="adj" fmla="val 4737"/>
            </a:avLst>
          </a:prstGeom>
          <a:solidFill>
            <a:srgbClr val="183325"/>
          </a:solidFill>
          <a:ln w="12700">
            <a:solidFill>
              <a:srgbClr val="2A4C39"/>
            </a:solidFill>
            <a:prstDash val="solid"/>
          </a:ln>
        </p:spPr>
      </p:sp>
      <p:sp>
        <p:nvSpPr>
          <p:cNvPr id="18" name="Text 16"/>
          <p:cNvSpPr/>
          <p:nvPr/>
        </p:nvSpPr>
        <p:spPr>
          <a:xfrm>
            <a:off x="886968" y="4398264"/>
            <a:ext cx="640080" cy="36576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03</a:t>
            </a:r>
            <a:endParaRPr lang="en-US" sz="1800" dirty="0"/>
          </a:p>
        </p:txBody>
      </p:sp>
      <p:sp>
        <p:nvSpPr>
          <p:cNvPr id="19" name="Text 17"/>
          <p:cNvSpPr/>
          <p:nvPr/>
        </p:nvSpPr>
        <p:spPr>
          <a:xfrm>
            <a:off x="1527048" y="4379976"/>
            <a:ext cx="420624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Trust now requires proof</a:t>
            </a:r>
            <a:endParaRPr lang="en-US" sz="1700" dirty="0"/>
          </a:p>
        </p:txBody>
      </p:sp>
      <p:sp>
        <p:nvSpPr>
          <p:cNvPr id="20" name="Text 18"/>
          <p:cNvSpPr/>
          <p:nvPr/>
        </p:nvSpPr>
        <p:spPr>
          <a:xfrm>
            <a:off x="1527048" y="4782312"/>
            <a:ext cx="4251960" cy="960120"/>
          </a:xfrm>
          <a:prstGeom prst="rect">
            <a:avLst/>
          </a:prstGeom>
          <a:noFill/>
          <a:ln/>
        </p:spPr>
        <p:txBody>
          <a:bodyPr wrap="square" lIns="0" tIns="0" rIns="0" bIns="0" rtlCol="0" anchor="ctr"/>
          <a:lstStyle/>
          <a:p>
            <a:pPr indent="0" marL="0">
              <a:lnSpc>
                <a:spcPts val="1400"/>
              </a:lnSpc>
              <a:buNone/>
            </a:pPr>
            <a:r>
              <a:rPr lang="en-US" sz="1100" dirty="0">
                <a:solidFill>
                  <a:srgbClr val="AFC9BB"/>
                </a:solidFill>
                <a:latin typeface="Calibri" pitchFamily="34" charset="0"/>
                <a:ea typeface="Calibri" pitchFamily="34" charset="-122"/>
                <a:cs typeface="Calibri" pitchFamily="34" charset="-120"/>
              </a:rPr>
              <a:t>Four in ten Britons doubt their money arrives. Giving fell £1.4bn in a year. Transparency has become the product, not a feature.</a:t>
            </a:r>
            <a:endParaRPr lang="en-US" sz="1100" dirty="0"/>
          </a:p>
        </p:txBody>
      </p:sp>
      <p:sp>
        <p:nvSpPr>
          <p:cNvPr id="21" name="Shape 19"/>
          <p:cNvSpPr/>
          <p:nvPr/>
        </p:nvSpPr>
        <p:spPr>
          <a:xfrm>
            <a:off x="6190488" y="4178808"/>
            <a:ext cx="5440680" cy="1737360"/>
          </a:xfrm>
          <a:prstGeom prst="roundRect">
            <a:avLst>
              <a:gd name="adj" fmla="val 4737"/>
            </a:avLst>
          </a:prstGeom>
          <a:solidFill>
            <a:srgbClr val="173224"/>
          </a:solidFill>
          <a:ln w="12700">
            <a:solidFill>
              <a:srgbClr val="274736"/>
            </a:solidFill>
            <a:prstDash val="solid"/>
          </a:ln>
        </p:spPr>
      </p:sp>
      <p:sp>
        <p:nvSpPr>
          <p:cNvPr id="22" name="Shape 20"/>
          <p:cNvSpPr/>
          <p:nvPr/>
        </p:nvSpPr>
        <p:spPr>
          <a:xfrm>
            <a:off x="6190488" y="4178808"/>
            <a:ext cx="5440680" cy="1737360"/>
          </a:xfrm>
          <a:prstGeom prst="roundRect">
            <a:avLst>
              <a:gd name="adj" fmla="val 4737"/>
            </a:avLst>
          </a:prstGeom>
          <a:solidFill>
            <a:srgbClr val="183325"/>
          </a:solidFill>
          <a:ln w="12700">
            <a:solidFill>
              <a:srgbClr val="2A4C39"/>
            </a:solidFill>
            <a:prstDash val="solid"/>
          </a:ln>
        </p:spPr>
      </p:sp>
      <p:sp>
        <p:nvSpPr>
          <p:cNvPr id="23" name="Text 21"/>
          <p:cNvSpPr/>
          <p:nvPr/>
        </p:nvSpPr>
        <p:spPr>
          <a:xfrm>
            <a:off x="6510528" y="4398264"/>
            <a:ext cx="640080" cy="365760"/>
          </a:xfrm>
          <a:prstGeom prst="rect">
            <a:avLst/>
          </a:prstGeom>
          <a:noFill/>
          <a:ln/>
        </p:spPr>
        <p:txBody>
          <a:bodyPr wrap="square" lIns="0" tIns="0" rIns="0" bIns="0"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04</a:t>
            </a:r>
            <a:endParaRPr lang="en-US" sz="1800" dirty="0"/>
          </a:p>
        </p:txBody>
      </p:sp>
      <p:sp>
        <p:nvSpPr>
          <p:cNvPr id="24" name="Text 22"/>
          <p:cNvSpPr/>
          <p:nvPr/>
        </p:nvSpPr>
        <p:spPr>
          <a:xfrm>
            <a:off x="7150608" y="4379976"/>
            <a:ext cx="4206240" cy="402336"/>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£5 gifts finally work</a:t>
            </a:r>
            <a:endParaRPr lang="en-US" sz="1700" dirty="0"/>
          </a:p>
        </p:txBody>
      </p:sp>
      <p:sp>
        <p:nvSpPr>
          <p:cNvPr id="25" name="Text 23"/>
          <p:cNvSpPr/>
          <p:nvPr/>
        </p:nvSpPr>
        <p:spPr>
          <a:xfrm>
            <a:off x="7150608" y="4782312"/>
            <a:ext cx="4251960" cy="960120"/>
          </a:xfrm>
          <a:prstGeom prst="rect">
            <a:avLst/>
          </a:prstGeom>
          <a:noFill/>
          <a:ln/>
        </p:spPr>
        <p:txBody>
          <a:bodyPr wrap="square" lIns="0" tIns="0" rIns="0" bIns="0" rtlCol="0" anchor="ctr"/>
          <a:lstStyle/>
          <a:p>
            <a:pPr indent="0" marL="0">
              <a:lnSpc>
                <a:spcPts val="1400"/>
              </a:lnSpc>
              <a:buNone/>
            </a:pPr>
            <a:r>
              <a:rPr lang="en-US" sz="1100" dirty="0">
                <a:solidFill>
                  <a:srgbClr val="AFC9BB"/>
                </a:solidFill>
                <a:latin typeface="Calibri" pitchFamily="34" charset="0"/>
                <a:ea typeface="Calibri" pitchFamily="34" charset="-122"/>
                <a:cs typeface="Calibri" pitchFamily="34" charset="-120"/>
              </a:rPr>
              <a:t>Stripe Connect and mobile wallets made micro-donations economic. A college cannot administer a £15 restricted gift. We can, at zero marginal cost.</a:t>
            </a:r>
            <a:endParaRPr lang="en-US" sz="1100" dirty="0"/>
          </a:p>
        </p:txBody>
      </p:sp>
      <p:sp>
        <p:nvSpPr>
          <p:cNvPr id="26" name="Text 24"/>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568"/>
                </a:solidFill>
                <a:latin typeface="Calibri" pitchFamily="34" charset="0"/>
                <a:ea typeface="Calibri" pitchFamily="34" charset="-122"/>
                <a:cs typeface="Calibri" pitchFamily="34" charset="-120"/>
              </a:rPr>
              <a:t>Sources: Dono interviews with 11 Oxford college development offices; CAF UK Giving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TRACTION</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We didn't guess. We asked the whole market.</a:t>
            </a:r>
            <a:endParaRPr lang="en-US" sz="3400" dirty="0"/>
          </a:p>
        </p:txBody>
      </p:sp>
      <p:sp>
        <p:nvSpPr>
          <p:cNvPr id="5" name="Shape 3"/>
          <p:cNvSpPr/>
          <p:nvPr/>
        </p:nvSpPr>
        <p:spPr>
          <a:xfrm>
            <a:off x="566928" y="1920240"/>
            <a:ext cx="2560320"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6" name="Text 4"/>
          <p:cNvSpPr/>
          <p:nvPr/>
        </p:nvSpPr>
        <p:spPr>
          <a:xfrm>
            <a:off x="822960" y="2048256"/>
            <a:ext cx="2103120" cy="566928"/>
          </a:xfrm>
          <a:prstGeom prst="rect">
            <a:avLst/>
          </a:prstGeom>
          <a:noFill/>
          <a:ln/>
        </p:spPr>
        <p:txBody>
          <a:bodyPr wrap="square" lIns="0" tIns="0" rIns="0" bIns="0" rtlCol="0" anchor="ctr"/>
          <a:lstStyle/>
          <a:p>
            <a:pPr algn="l" indent="0" marL="0">
              <a:buNone/>
            </a:pPr>
            <a:r>
              <a:rPr lang="en-US" sz="3400" b="1" dirty="0">
                <a:solidFill>
                  <a:srgbClr val="168456"/>
                </a:solidFill>
                <a:latin typeface="Cambria" pitchFamily="34" charset="0"/>
                <a:ea typeface="Cambria" pitchFamily="34" charset="-122"/>
                <a:cs typeface="Cambria" pitchFamily="34" charset="-120"/>
              </a:rPr>
              <a:t>11</a:t>
            </a:r>
            <a:endParaRPr lang="en-US" sz="3400" dirty="0"/>
          </a:p>
        </p:txBody>
      </p:sp>
      <p:sp>
        <p:nvSpPr>
          <p:cNvPr id="7" name="Text 5"/>
          <p:cNvSpPr/>
          <p:nvPr/>
        </p:nvSpPr>
        <p:spPr>
          <a:xfrm>
            <a:off x="822960" y="2578608"/>
            <a:ext cx="2103120" cy="658368"/>
          </a:xfrm>
          <a:prstGeom prst="rect">
            <a:avLst/>
          </a:prstGeom>
          <a:noFill/>
          <a:ln/>
        </p:spPr>
        <p:txBody>
          <a:bodyPr wrap="square" lIns="0" tIns="0" rIns="0" bIns="0" rtlCol="0" anchor="t"/>
          <a:lstStyle/>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Oxford college development</a:t>
            </a:r>
            <a:endParaRPr lang="en-US" sz="1050" dirty="0"/>
          </a:p>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offices interviewed</a:t>
            </a:r>
            <a:endParaRPr lang="en-US" sz="1050" dirty="0"/>
          </a:p>
        </p:txBody>
      </p:sp>
      <p:sp>
        <p:nvSpPr>
          <p:cNvPr id="8" name="Shape 6"/>
          <p:cNvSpPr/>
          <p:nvPr/>
        </p:nvSpPr>
        <p:spPr>
          <a:xfrm>
            <a:off x="3364992" y="1920240"/>
            <a:ext cx="2560320"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9" name="Text 7"/>
          <p:cNvSpPr/>
          <p:nvPr/>
        </p:nvSpPr>
        <p:spPr>
          <a:xfrm>
            <a:off x="3621024" y="2048256"/>
            <a:ext cx="2103120" cy="566928"/>
          </a:xfrm>
          <a:prstGeom prst="rect">
            <a:avLst/>
          </a:prstGeom>
          <a:noFill/>
          <a:ln/>
        </p:spPr>
        <p:txBody>
          <a:bodyPr wrap="square" lIns="0" tIns="0" rIns="0" bIns="0" rtlCol="0" anchor="ctr"/>
          <a:lstStyle/>
          <a:p>
            <a:pPr algn="l" indent="0" marL="0">
              <a:buNone/>
            </a:pPr>
            <a:r>
              <a:rPr lang="en-US" sz="3400" b="1" dirty="0">
                <a:solidFill>
                  <a:srgbClr val="168456"/>
                </a:solidFill>
                <a:latin typeface="Cambria" pitchFamily="34" charset="0"/>
                <a:ea typeface="Cambria" pitchFamily="34" charset="-122"/>
                <a:cs typeface="Cambria" pitchFamily="34" charset="-120"/>
              </a:rPr>
              <a:t>60k+</a:t>
            </a:r>
            <a:endParaRPr lang="en-US" sz="3400" dirty="0"/>
          </a:p>
        </p:txBody>
      </p:sp>
      <p:sp>
        <p:nvSpPr>
          <p:cNvPr id="10" name="Text 8"/>
          <p:cNvSpPr/>
          <p:nvPr/>
        </p:nvSpPr>
        <p:spPr>
          <a:xfrm>
            <a:off x="3621024" y="2578608"/>
            <a:ext cx="2103120" cy="658368"/>
          </a:xfrm>
          <a:prstGeom prst="rect">
            <a:avLst/>
          </a:prstGeom>
          <a:noFill/>
          <a:ln/>
        </p:spPr>
        <p:txBody>
          <a:bodyPr wrap="square" lIns="0" tIns="0" rIns="0" bIns="0" rtlCol="0" anchor="t"/>
          <a:lstStyle/>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alumni represented by</a:t>
            </a:r>
            <a:endParaRPr lang="en-US" sz="1050" dirty="0"/>
          </a:p>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those institutions</a:t>
            </a:r>
            <a:endParaRPr lang="en-US" sz="1050" dirty="0"/>
          </a:p>
        </p:txBody>
      </p:sp>
      <p:sp>
        <p:nvSpPr>
          <p:cNvPr id="11" name="Shape 9"/>
          <p:cNvSpPr/>
          <p:nvPr/>
        </p:nvSpPr>
        <p:spPr>
          <a:xfrm>
            <a:off x="6163056" y="1920240"/>
            <a:ext cx="2560320"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2" name="Text 10"/>
          <p:cNvSpPr/>
          <p:nvPr/>
        </p:nvSpPr>
        <p:spPr>
          <a:xfrm>
            <a:off x="6419088" y="2048256"/>
            <a:ext cx="2103120" cy="566928"/>
          </a:xfrm>
          <a:prstGeom prst="rect">
            <a:avLst/>
          </a:prstGeom>
          <a:noFill/>
          <a:ln/>
        </p:spPr>
        <p:txBody>
          <a:bodyPr wrap="square" lIns="0" tIns="0" rIns="0" bIns="0" rtlCol="0" anchor="ctr"/>
          <a:lstStyle/>
          <a:p>
            <a:pPr algn="l" indent="0" marL="0">
              <a:buNone/>
            </a:pPr>
            <a:r>
              <a:rPr lang="en-US" sz="3400" b="1" dirty="0">
                <a:solidFill>
                  <a:srgbClr val="168456"/>
                </a:solidFill>
                <a:latin typeface="Cambria" pitchFamily="34" charset="0"/>
                <a:ea typeface="Cambria" pitchFamily="34" charset="-122"/>
                <a:cs typeface="Cambria" pitchFamily="34" charset="-120"/>
              </a:rPr>
              <a:t>23</a:t>
            </a:r>
            <a:endParaRPr lang="en-US" sz="3400" dirty="0"/>
          </a:p>
        </p:txBody>
      </p:sp>
      <p:sp>
        <p:nvSpPr>
          <p:cNvPr id="13" name="Text 11"/>
          <p:cNvSpPr/>
          <p:nvPr/>
        </p:nvSpPr>
        <p:spPr>
          <a:xfrm>
            <a:off x="6419088" y="2578608"/>
            <a:ext cx="2103120" cy="658368"/>
          </a:xfrm>
          <a:prstGeom prst="rect">
            <a:avLst/>
          </a:prstGeom>
          <a:noFill/>
          <a:ln/>
        </p:spPr>
        <p:txBody>
          <a:bodyPr wrap="square" lIns="0" tIns="0" rIns="0" bIns="0" rtlCol="0" anchor="t"/>
          <a:lstStyle/>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students surveyed, with</a:t>
            </a:r>
            <a:endParaRPr lang="en-US" sz="1050" dirty="0"/>
          </a:p>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follow-up interviews</a:t>
            </a:r>
            <a:endParaRPr lang="en-US" sz="1050" dirty="0"/>
          </a:p>
        </p:txBody>
      </p:sp>
      <p:sp>
        <p:nvSpPr>
          <p:cNvPr id="14" name="Shape 12"/>
          <p:cNvSpPr/>
          <p:nvPr/>
        </p:nvSpPr>
        <p:spPr>
          <a:xfrm>
            <a:off x="8961120" y="1920240"/>
            <a:ext cx="2560320" cy="1417320"/>
          </a:xfrm>
          <a:prstGeom prst="roundRect">
            <a:avLst>
              <a:gd name="adj" fmla="val 580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5" name="Text 13"/>
          <p:cNvSpPr/>
          <p:nvPr/>
        </p:nvSpPr>
        <p:spPr>
          <a:xfrm>
            <a:off x="9217152" y="2048256"/>
            <a:ext cx="2103120" cy="566928"/>
          </a:xfrm>
          <a:prstGeom prst="rect">
            <a:avLst/>
          </a:prstGeom>
          <a:noFill/>
          <a:ln/>
        </p:spPr>
        <p:txBody>
          <a:bodyPr wrap="square" lIns="0" tIns="0" rIns="0" bIns="0" rtlCol="0" anchor="ctr"/>
          <a:lstStyle/>
          <a:p>
            <a:pPr algn="l" indent="0" marL="0">
              <a:buNone/>
            </a:pPr>
            <a:r>
              <a:rPr lang="en-US" sz="3400" b="1" dirty="0">
                <a:solidFill>
                  <a:srgbClr val="168456"/>
                </a:solidFill>
                <a:latin typeface="Cambria" pitchFamily="34" charset="0"/>
                <a:ea typeface="Cambria" pitchFamily="34" charset="-122"/>
                <a:cs typeface="Cambria" pitchFamily="34" charset="-120"/>
              </a:rPr>
              <a:t>1</a:t>
            </a:r>
            <a:endParaRPr lang="en-US" sz="3400" dirty="0"/>
          </a:p>
        </p:txBody>
      </p:sp>
      <p:sp>
        <p:nvSpPr>
          <p:cNvPr id="16" name="Text 14"/>
          <p:cNvSpPr/>
          <p:nvPr/>
        </p:nvSpPr>
        <p:spPr>
          <a:xfrm>
            <a:off x="9217152" y="2578608"/>
            <a:ext cx="2103120" cy="658368"/>
          </a:xfrm>
          <a:prstGeom prst="rect">
            <a:avLst/>
          </a:prstGeom>
          <a:noFill/>
          <a:ln/>
        </p:spPr>
        <p:txBody>
          <a:bodyPr wrap="square" lIns="0" tIns="0" rIns="0" bIns="0" rtlCol="0" anchor="t"/>
          <a:lstStyle/>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live campaign running now</a:t>
            </a:r>
            <a:endParaRPr lang="en-US" sz="1050" dirty="0"/>
          </a:p>
          <a:p>
            <a:pPr algn="l" indent="0" marL="0">
              <a:lnSpc>
                <a:spcPts val="1500"/>
              </a:lnSpc>
              <a:buNone/>
            </a:pPr>
            <a:r>
              <a:rPr lang="en-US" sz="1050" dirty="0">
                <a:solidFill>
                  <a:srgbClr val="56615A"/>
                </a:solidFill>
                <a:latin typeface="Calibri" pitchFamily="34" charset="0"/>
                <a:ea typeface="Calibri" pitchFamily="34" charset="-122"/>
                <a:cs typeface="Calibri" pitchFamily="34" charset="-120"/>
              </a:rPr>
              <a:t>(India Society, Ram-Leela)</a:t>
            </a:r>
            <a:endParaRPr lang="en-US" sz="1050" dirty="0"/>
          </a:p>
        </p:txBody>
      </p:sp>
      <p:sp>
        <p:nvSpPr>
          <p:cNvPr id="17" name="Shape 15"/>
          <p:cNvSpPr/>
          <p:nvPr/>
        </p:nvSpPr>
        <p:spPr>
          <a:xfrm>
            <a:off x="566928" y="3703320"/>
            <a:ext cx="6766560" cy="758952"/>
          </a:xfrm>
          <a:prstGeom prst="roundRect">
            <a:avLst>
              <a:gd name="adj" fmla="val 10843"/>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8" name="Shape 16"/>
          <p:cNvSpPr/>
          <p:nvPr/>
        </p:nvSpPr>
        <p:spPr>
          <a:xfrm>
            <a:off x="804672" y="3922776"/>
            <a:ext cx="329184" cy="329184"/>
          </a:xfrm>
          <a:prstGeom prst="ellipse">
            <a:avLst/>
          </a:prstGeom>
          <a:solidFill>
            <a:srgbClr val="168456"/>
          </a:solidFill>
          <a:ln/>
        </p:spPr>
      </p:sp>
      <p:sp>
        <p:nvSpPr>
          <p:cNvPr id="19" name="Text 17"/>
          <p:cNvSpPr/>
          <p:nvPr/>
        </p:nvSpPr>
        <p:spPr>
          <a:xfrm>
            <a:off x="804672" y="39227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261872" y="3785616"/>
            <a:ext cx="5852160" cy="274320"/>
          </a:xfrm>
          <a:prstGeom prst="rect">
            <a:avLst/>
          </a:prstGeom>
          <a:noFill/>
          <a:ln/>
        </p:spPr>
        <p:txBody>
          <a:bodyPr wrap="square" lIns="0" tIns="0" rIns="0" bIns="0" rtlCol="0" anchor="ctr"/>
          <a:lstStyle/>
          <a:p>
            <a:pPr indent="0" marL="0">
              <a:buNone/>
            </a:pPr>
            <a:r>
              <a:rPr lang="en-US" sz="1250" b="1" dirty="0">
                <a:solidFill>
                  <a:srgbClr val="17211B"/>
                </a:solidFill>
                <a:latin typeface="Calibri" pitchFamily="34" charset="0"/>
                <a:ea typeface="Calibri" pitchFamily="34" charset="-122"/>
                <a:cs typeface="Calibri" pitchFamily="34" charset="-120"/>
              </a:rPr>
              <a:t>Product is built and live</a:t>
            </a:r>
            <a:endParaRPr lang="en-US" sz="1250" dirty="0"/>
          </a:p>
        </p:txBody>
      </p:sp>
      <p:sp>
        <p:nvSpPr>
          <p:cNvPr id="21" name="Text 19"/>
          <p:cNvSpPr/>
          <p:nvPr/>
        </p:nvSpPr>
        <p:spPr>
          <a:xfrm>
            <a:off x="1261872" y="4032504"/>
            <a:ext cx="585216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Not a mockup. Stripe Connect payments, human campaign review, society verification and an admin moderation portal are all shipped.</a:t>
            </a:r>
            <a:endParaRPr lang="en-US" sz="1000" dirty="0"/>
          </a:p>
        </p:txBody>
      </p:sp>
      <p:sp>
        <p:nvSpPr>
          <p:cNvPr id="22" name="Shape 20"/>
          <p:cNvSpPr/>
          <p:nvPr/>
        </p:nvSpPr>
        <p:spPr>
          <a:xfrm>
            <a:off x="566928" y="4562856"/>
            <a:ext cx="6766560" cy="758952"/>
          </a:xfrm>
          <a:prstGeom prst="roundRect">
            <a:avLst>
              <a:gd name="adj" fmla="val 10843"/>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3" name="Shape 21"/>
          <p:cNvSpPr/>
          <p:nvPr/>
        </p:nvSpPr>
        <p:spPr>
          <a:xfrm>
            <a:off x="804672" y="4782312"/>
            <a:ext cx="329184" cy="329184"/>
          </a:xfrm>
          <a:prstGeom prst="ellipse">
            <a:avLst/>
          </a:prstGeom>
          <a:solidFill>
            <a:srgbClr val="168456"/>
          </a:solidFill>
          <a:ln/>
        </p:spPr>
      </p:sp>
      <p:sp>
        <p:nvSpPr>
          <p:cNvPr id="24" name="Text 22"/>
          <p:cNvSpPr/>
          <p:nvPr/>
        </p:nvSpPr>
        <p:spPr>
          <a:xfrm>
            <a:off x="804672" y="47823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1261872" y="4645152"/>
            <a:ext cx="5852160" cy="274320"/>
          </a:xfrm>
          <a:prstGeom prst="rect">
            <a:avLst/>
          </a:prstGeom>
          <a:noFill/>
          <a:ln/>
        </p:spPr>
        <p:txBody>
          <a:bodyPr wrap="square" lIns="0" tIns="0" rIns="0" bIns="0" rtlCol="0" anchor="ctr"/>
          <a:lstStyle/>
          <a:p>
            <a:pPr indent="0" marL="0">
              <a:buNone/>
            </a:pPr>
            <a:r>
              <a:rPr lang="en-US" sz="1250" b="1" dirty="0">
                <a:solidFill>
                  <a:srgbClr val="17211B"/>
                </a:solidFill>
                <a:latin typeface="Calibri" pitchFamily="34" charset="0"/>
                <a:ea typeface="Calibri" pitchFamily="34" charset="-122"/>
                <a:cs typeface="Calibri" pitchFamily="34" charset="-120"/>
              </a:rPr>
              <a:t>A college is waiting on us</a:t>
            </a:r>
            <a:endParaRPr lang="en-US" sz="1250" dirty="0"/>
          </a:p>
        </p:txBody>
      </p:sp>
      <p:sp>
        <p:nvSpPr>
          <p:cNvPr id="26" name="Text 24"/>
          <p:cNvSpPr/>
          <p:nvPr/>
        </p:nvSpPr>
        <p:spPr>
          <a:xfrm>
            <a:off x="1261872" y="4892040"/>
            <a:ext cx="585216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One college told us plainly they'll join once they can see it working somewhere else. Colleges copy colleges — the first one is the only hard one.</a:t>
            </a:r>
            <a:endParaRPr lang="en-US" sz="1000" dirty="0"/>
          </a:p>
        </p:txBody>
      </p:sp>
      <p:sp>
        <p:nvSpPr>
          <p:cNvPr id="27" name="Shape 25"/>
          <p:cNvSpPr/>
          <p:nvPr/>
        </p:nvSpPr>
        <p:spPr>
          <a:xfrm>
            <a:off x="566928" y="5422392"/>
            <a:ext cx="6766560" cy="758952"/>
          </a:xfrm>
          <a:prstGeom prst="roundRect">
            <a:avLst>
              <a:gd name="adj" fmla="val 10843"/>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8" name="Shape 26"/>
          <p:cNvSpPr/>
          <p:nvPr/>
        </p:nvSpPr>
        <p:spPr>
          <a:xfrm>
            <a:off x="804672" y="5641848"/>
            <a:ext cx="329184" cy="329184"/>
          </a:xfrm>
          <a:prstGeom prst="ellipse">
            <a:avLst/>
          </a:prstGeom>
          <a:solidFill>
            <a:srgbClr val="168456"/>
          </a:solidFill>
          <a:ln/>
        </p:spPr>
      </p:sp>
      <p:sp>
        <p:nvSpPr>
          <p:cNvPr id="29" name="Text 27"/>
          <p:cNvSpPr/>
          <p:nvPr/>
        </p:nvSpPr>
        <p:spPr>
          <a:xfrm>
            <a:off x="804672" y="56418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1261872" y="5504688"/>
            <a:ext cx="5852160" cy="274320"/>
          </a:xfrm>
          <a:prstGeom prst="rect">
            <a:avLst/>
          </a:prstGeom>
          <a:noFill/>
          <a:ln/>
        </p:spPr>
        <p:txBody>
          <a:bodyPr wrap="square" lIns="0" tIns="0" rIns="0" bIns="0" rtlCol="0" anchor="ctr"/>
          <a:lstStyle/>
          <a:p>
            <a:pPr indent="0" marL="0">
              <a:buNone/>
            </a:pPr>
            <a:r>
              <a:rPr lang="en-US" sz="1250" b="1" dirty="0">
                <a:solidFill>
                  <a:srgbClr val="17211B"/>
                </a:solidFill>
                <a:latin typeface="Calibri" pitchFamily="34" charset="0"/>
                <a:ea typeface="Calibri" pitchFamily="34" charset="-122"/>
                <a:cs typeface="Calibri" pitchFamily="34" charset="-120"/>
              </a:rPr>
              <a:t>Institutional groundwork done</a:t>
            </a:r>
            <a:endParaRPr lang="en-US" sz="1250" dirty="0"/>
          </a:p>
        </p:txBody>
      </p:sp>
      <p:sp>
        <p:nvSpPr>
          <p:cNvPr id="31" name="Text 29"/>
          <p:cNvSpPr/>
          <p:nvPr/>
        </p:nvSpPr>
        <p:spPr>
          <a:xfrm>
            <a:off x="1261872" y="5751576"/>
            <a:ext cx="5852160" cy="384048"/>
          </a:xfrm>
          <a:prstGeom prst="rect">
            <a:avLst/>
          </a:prstGeom>
          <a:noFill/>
          <a:ln/>
        </p:spPr>
        <p:txBody>
          <a:bodyPr wrap="square" lIns="0" tIns="0" rIns="0" bIns="0" rtlCol="0" anchor="ctr"/>
          <a:lstStyle/>
          <a:p>
            <a:pPr indent="0" marL="0">
              <a:lnSpc>
                <a:spcPts val="1250"/>
              </a:lnSpc>
              <a:buNone/>
            </a:pPr>
            <a:r>
              <a:rPr lang="en-US" sz="1000" dirty="0">
                <a:solidFill>
                  <a:srgbClr val="56615A"/>
                </a:solidFill>
                <a:latin typeface="Calibri" pitchFamily="34" charset="0"/>
                <a:ea typeface="Calibri" pitchFamily="34" charset="-122"/>
                <a:cs typeface="Calibri" pitchFamily="34" charset="-120"/>
              </a:rPr>
              <a:t>Nine legal and policy documents drafted, business banking live, and the payments architecture reviewed against FCA scope before writing a line of checkout code.</a:t>
            </a:r>
            <a:endParaRPr lang="en-US" sz="1000" dirty="0"/>
          </a:p>
        </p:txBody>
      </p:sp>
      <p:sp>
        <p:nvSpPr>
          <p:cNvPr id="32" name="Text 30"/>
          <p:cNvSpPr/>
          <p:nvPr/>
        </p:nvSpPr>
        <p:spPr>
          <a:xfrm>
            <a:off x="7589520" y="3703320"/>
            <a:ext cx="4023360" cy="274320"/>
          </a:xfrm>
          <a:prstGeom prst="rect">
            <a:avLst/>
          </a:prstGeom>
          <a:noFill/>
          <a:ln/>
        </p:spPr>
        <p:txBody>
          <a:bodyPr wrap="square" lIns="0" tIns="0" rIns="0" bIns="0" rtlCol="0" anchor="ctr"/>
          <a:lstStyle/>
          <a:p>
            <a:pPr indent="0" marL="0">
              <a:buNone/>
            </a:pPr>
            <a:r>
              <a:rPr lang="en-US" sz="1000" b="1" spc="130" kern="0" dirty="0">
                <a:solidFill>
                  <a:srgbClr val="69A984"/>
                </a:solidFill>
                <a:latin typeface="Calibri" pitchFamily="34" charset="0"/>
                <a:ea typeface="Calibri" pitchFamily="34" charset="-122"/>
                <a:cs typeface="Calibri" pitchFamily="34" charset="-120"/>
              </a:rPr>
              <a:t>WHAT THEY TOLD US</a:t>
            </a:r>
            <a:endParaRPr lang="en-US" sz="1000" dirty="0"/>
          </a:p>
        </p:txBody>
      </p:sp>
      <p:sp>
        <p:nvSpPr>
          <p:cNvPr id="33" name="Text 31"/>
          <p:cNvSpPr/>
          <p:nvPr/>
        </p:nvSpPr>
        <p:spPr>
          <a:xfrm>
            <a:off x="7589520" y="3977640"/>
            <a:ext cx="4041648" cy="621792"/>
          </a:xfrm>
          <a:prstGeom prst="rect">
            <a:avLst/>
          </a:prstGeom>
          <a:noFill/>
          <a:ln/>
        </p:spPr>
        <p:txBody>
          <a:bodyPr wrap="square" lIns="0" tIns="0" rIns="0" bIns="0" rtlCol="0" anchor="ctr"/>
          <a:lstStyle/>
          <a:p>
            <a:pPr indent="0" marL="0">
              <a:lnSpc>
                <a:spcPts val="1300"/>
              </a:lnSpc>
              <a:buNone/>
            </a:pPr>
            <a:r>
              <a:rPr lang="en-US" sz="1100" b="1" i="1" dirty="0">
                <a:solidFill>
                  <a:srgbClr val="126E49"/>
                </a:solidFill>
                <a:latin typeface="Calibri" pitchFamily="34" charset="0"/>
                <a:ea typeface="Calibri" pitchFamily="34" charset="-122"/>
                <a:cs typeface="Calibri" pitchFamily="34" charset="-120"/>
              </a:rPr>
              <a:t>“Hubbub is expensive. Dono is free for colleges.”
</a:t>
            </a:r>
            <a:endParaRPr lang="en-US" sz="1100" dirty="0"/>
          </a:p>
          <a:p>
            <a:pPr indent="0" marL="0">
              <a:lnSpc>
                <a:spcPts val="1300"/>
              </a:lnSpc>
              <a:buNone/>
            </a:pPr>
            <a:r>
              <a:rPr lang="en-US" sz="850" dirty="0">
                <a:solidFill>
                  <a:srgbClr val="56615A"/>
                </a:solidFill>
                <a:latin typeface="Calibri" pitchFamily="34" charset="0"/>
                <a:ea typeface="Calibri" pitchFamily="34" charset="-122"/>
                <a:cs typeface="Calibri" pitchFamily="34" charset="-120"/>
              </a:rPr>
              <a:t>Oxford college, pitch meeting</a:t>
            </a:r>
            <a:endParaRPr lang="en-US" sz="1100" dirty="0"/>
          </a:p>
        </p:txBody>
      </p:sp>
      <p:sp>
        <p:nvSpPr>
          <p:cNvPr id="34" name="Text 32"/>
          <p:cNvSpPr/>
          <p:nvPr/>
        </p:nvSpPr>
        <p:spPr>
          <a:xfrm>
            <a:off x="7589520" y="4599432"/>
            <a:ext cx="4041648" cy="621792"/>
          </a:xfrm>
          <a:prstGeom prst="rect">
            <a:avLst/>
          </a:prstGeom>
          <a:noFill/>
          <a:ln/>
        </p:spPr>
        <p:txBody>
          <a:bodyPr wrap="square" lIns="0" tIns="0" rIns="0" bIns="0" rtlCol="0" anchor="ctr"/>
          <a:lstStyle/>
          <a:p>
            <a:pPr indent="0" marL="0">
              <a:lnSpc>
                <a:spcPts val="1300"/>
              </a:lnSpc>
              <a:buNone/>
            </a:pPr>
            <a:r>
              <a:rPr lang="en-US" sz="1100" b="1" i="1" dirty="0">
                <a:solidFill>
                  <a:srgbClr val="126E49"/>
                </a:solidFill>
                <a:latin typeface="Calibri" pitchFamily="34" charset="0"/>
                <a:ea typeface="Calibri" pitchFamily="34" charset="-122"/>
                <a:cs typeface="Calibri" pitchFamily="34" charset="-120"/>
              </a:rPr>
              <a:t>“Small donors become big donors.”
</a:t>
            </a:r>
            <a:endParaRPr lang="en-US" sz="1100" dirty="0"/>
          </a:p>
          <a:p>
            <a:pPr indent="0" marL="0">
              <a:lnSpc>
                <a:spcPts val="1300"/>
              </a:lnSpc>
              <a:buNone/>
            </a:pPr>
            <a:r>
              <a:rPr lang="en-US" sz="850" dirty="0">
                <a:solidFill>
                  <a:srgbClr val="56615A"/>
                </a:solidFill>
                <a:latin typeface="Calibri" pitchFamily="34" charset="0"/>
                <a:ea typeface="Calibri" pitchFamily="34" charset="-122"/>
                <a:cs typeface="Calibri" pitchFamily="34" charset="-120"/>
              </a:rPr>
              <a:t>Development office, 9,100-alumni college</a:t>
            </a:r>
            <a:endParaRPr lang="en-US" sz="1100" dirty="0"/>
          </a:p>
        </p:txBody>
      </p:sp>
      <p:sp>
        <p:nvSpPr>
          <p:cNvPr id="35" name="Text 33"/>
          <p:cNvSpPr/>
          <p:nvPr/>
        </p:nvSpPr>
        <p:spPr>
          <a:xfrm>
            <a:off x="7589520" y="5221224"/>
            <a:ext cx="4041648" cy="621792"/>
          </a:xfrm>
          <a:prstGeom prst="rect">
            <a:avLst/>
          </a:prstGeom>
          <a:noFill/>
          <a:ln/>
        </p:spPr>
        <p:txBody>
          <a:bodyPr wrap="square" lIns="0" tIns="0" rIns="0" bIns="0" rtlCol="0" anchor="ctr"/>
          <a:lstStyle/>
          <a:p>
            <a:pPr indent="0" marL="0">
              <a:lnSpc>
                <a:spcPts val="1300"/>
              </a:lnSpc>
              <a:buNone/>
            </a:pPr>
            <a:r>
              <a:rPr lang="en-US" sz="1100" b="1" i="1" dirty="0">
                <a:solidFill>
                  <a:srgbClr val="126E49"/>
                </a:solidFill>
                <a:latin typeface="Calibri" pitchFamily="34" charset="0"/>
                <a:ea typeface="Calibri" pitchFamily="34" charset="-122"/>
                <a:cs typeface="Calibri" pitchFamily="34" charset="-120"/>
              </a:rPr>
              <a:t>“Small donations function as test gifts.”
</a:t>
            </a:r>
            <a:endParaRPr lang="en-US" sz="1100" dirty="0"/>
          </a:p>
          <a:p>
            <a:pPr indent="0" marL="0">
              <a:lnSpc>
                <a:spcPts val="1300"/>
              </a:lnSpc>
              <a:buNone/>
            </a:pPr>
            <a:r>
              <a:rPr lang="en-US" sz="850" dirty="0">
                <a:solidFill>
                  <a:srgbClr val="56615A"/>
                </a:solidFill>
                <a:latin typeface="Calibri" pitchFamily="34" charset="0"/>
                <a:ea typeface="Calibri" pitchFamily="34" charset="-122"/>
                <a:cs typeface="Calibri" pitchFamily="34" charset="-120"/>
              </a:rPr>
              <a:t>Head of Donor Relations, Oxford college</a:t>
            </a:r>
            <a:endParaRPr lang="en-US" sz="1100" dirty="0"/>
          </a:p>
        </p:txBody>
      </p:sp>
      <p:sp>
        <p:nvSpPr>
          <p:cNvPr id="36" name="Text 34"/>
          <p:cNvSpPr/>
          <p:nvPr/>
        </p:nvSpPr>
        <p:spPr>
          <a:xfrm>
            <a:off x="7589520" y="5843016"/>
            <a:ext cx="4041648" cy="621792"/>
          </a:xfrm>
          <a:prstGeom prst="rect">
            <a:avLst/>
          </a:prstGeom>
          <a:noFill/>
          <a:ln/>
        </p:spPr>
        <p:txBody>
          <a:bodyPr wrap="square" lIns="0" tIns="0" rIns="0" bIns="0" rtlCol="0" anchor="ctr"/>
          <a:lstStyle/>
          <a:p>
            <a:pPr indent="0" marL="0">
              <a:lnSpc>
                <a:spcPts val="1300"/>
              </a:lnSpc>
              <a:buNone/>
            </a:pPr>
            <a:r>
              <a:rPr lang="en-US" sz="1100" b="1" i="1" dirty="0">
                <a:solidFill>
                  <a:srgbClr val="126E49"/>
                </a:solidFill>
                <a:latin typeface="Calibri" pitchFamily="34" charset="0"/>
                <a:ea typeface="Calibri" pitchFamily="34" charset="-122"/>
                <a:cs typeface="Calibri" pitchFamily="34" charset="-120"/>
              </a:rPr>
              <a:t>“My college officially endorsing it.”
</a:t>
            </a:r>
            <a:endParaRPr lang="en-US" sz="1100" dirty="0"/>
          </a:p>
          <a:p>
            <a:pPr indent="0" marL="0">
              <a:lnSpc>
                <a:spcPts val="1300"/>
              </a:lnSpc>
              <a:buNone/>
            </a:pPr>
            <a:r>
              <a:rPr lang="en-US" sz="850" dirty="0">
                <a:solidFill>
                  <a:srgbClr val="56615A"/>
                </a:solidFill>
                <a:latin typeface="Calibri" pitchFamily="34" charset="0"/>
                <a:ea typeface="Calibri" pitchFamily="34" charset="-122"/>
                <a:cs typeface="Calibri" pitchFamily="34" charset="-120"/>
              </a:rPr>
              <a:t>Top trust factor — 12 of 23 students</a:t>
            </a:r>
            <a:endParaRPr lang="en-US" sz="1100" dirty="0"/>
          </a:p>
        </p:txBody>
      </p:sp>
      <p:sp>
        <p:nvSpPr>
          <p:cNvPr id="37" name="Text 35"/>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Sources: Dono development-office interview programme, Jul 2026; Dono student survey (n=23). Institutions anonymised at their request.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BUSINESS MODEL</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The donor covers the fee. Everyone else pays nothing.</a:t>
            </a:r>
            <a:endParaRPr lang="en-US" sz="3400" dirty="0"/>
          </a:p>
        </p:txBody>
      </p:sp>
      <p:sp>
        <p:nvSpPr>
          <p:cNvPr id="5" name="Shape 3"/>
          <p:cNvSpPr/>
          <p:nvPr/>
        </p:nvSpPr>
        <p:spPr>
          <a:xfrm>
            <a:off x="566928" y="1965960"/>
            <a:ext cx="4754880" cy="3108960"/>
          </a:xfrm>
          <a:prstGeom prst="roundRect">
            <a:avLst>
              <a:gd name="adj" fmla="val 2647"/>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6" name="Text 4"/>
          <p:cNvSpPr/>
          <p:nvPr/>
        </p:nvSpPr>
        <p:spPr>
          <a:xfrm>
            <a:off x="868680" y="2194560"/>
            <a:ext cx="4114800" cy="274320"/>
          </a:xfrm>
          <a:prstGeom prst="rect">
            <a:avLst/>
          </a:prstGeom>
          <a:noFill/>
          <a:ln/>
        </p:spPr>
        <p:txBody>
          <a:bodyPr wrap="square" lIns="0" tIns="0" rIns="0" bIns="0" rtlCol="0" anchor="ctr"/>
          <a:lstStyle/>
          <a:p>
            <a:pPr indent="0" marL="0">
              <a:buNone/>
            </a:pPr>
            <a:r>
              <a:rPr lang="en-US" sz="1000" b="1" spc="130" kern="0" dirty="0">
                <a:solidFill>
                  <a:srgbClr val="69A984"/>
                </a:solidFill>
                <a:latin typeface="Calibri" pitchFamily="34" charset="0"/>
                <a:ea typeface="Calibri" pitchFamily="34" charset="-122"/>
                <a:cs typeface="Calibri" pitchFamily="34" charset="-120"/>
              </a:rPr>
              <a:t>A £10 DONATION</a:t>
            </a:r>
            <a:endParaRPr lang="en-US" sz="1000" dirty="0"/>
          </a:p>
        </p:txBody>
      </p:sp>
      <p:sp>
        <p:nvSpPr>
          <p:cNvPr id="7" name="Text 5"/>
          <p:cNvSpPr/>
          <p:nvPr/>
        </p:nvSpPr>
        <p:spPr>
          <a:xfrm>
            <a:off x="868680" y="2606040"/>
            <a:ext cx="2926080" cy="411480"/>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Donation to campaign</a:t>
            </a:r>
            <a:endParaRPr lang="en-US" sz="1250" dirty="0"/>
          </a:p>
        </p:txBody>
      </p:sp>
      <p:sp>
        <p:nvSpPr>
          <p:cNvPr id="8" name="Text 6"/>
          <p:cNvSpPr/>
          <p:nvPr/>
        </p:nvSpPr>
        <p:spPr>
          <a:xfrm>
            <a:off x="3657600" y="2606040"/>
            <a:ext cx="1371600" cy="411480"/>
          </a:xfrm>
          <a:prstGeom prst="rect">
            <a:avLst/>
          </a:prstGeom>
          <a:noFill/>
          <a:ln/>
        </p:spPr>
        <p:txBody>
          <a:bodyPr wrap="square" lIns="0" tIns="0" rIns="0" bIns="0" rtlCol="0" anchor="ctr"/>
          <a:lstStyle/>
          <a:p>
            <a:pPr algn="r" indent="0" marL="0">
              <a:buNone/>
            </a:pPr>
            <a:r>
              <a:rPr lang="en-US" sz="1250" dirty="0">
                <a:solidFill>
                  <a:srgbClr val="56615A"/>
                </a:solidFill>
                <a:latin typeface="Calibri" pitchFamily="34" charset="0"/>
                <a:ea typeface="Calibri" pitchFamily="34" charset="-122"/>
                <a:cs typeface="Calibri" pitchFamily="34" charset="-120"/>
              </a:rPr>
              <a:t>£10.00</a:t>
            </a:r>
            <a:endParaRPr lang="en-US" sz="1250" dirty="0"/>
          </a:p>
        </p:txBody>
      </p:sp>
      <p:sp>
        <p:nvSpPr>
          <p:cNvPr id="9" name="Shape 7"/>
          <p:cNvSpPr/>
          <p:nvPr/>
        </p:nvSpPr>
        <p:spPr>
          <a:xfrm>
            <a:off x="868680" y="3035808"/>
            <a:ext cx="4160520" cy="0"/>
          </a:xfrm>
          <a:prstGeom prst="line">
            <a:avLst/>
          </a:prstGeom>
          <a:noFill/>
          <a:ln w="12700">
            <a:solidFill>
              <a:srgbClr val="DDE6E0"/>
            </a:solidFill>
            <a:prstDash val="solid"/>
          </a:ln>
        </p:spPr>
      </p:sp>
      <p:sp>
        <p:nvSpPr>
          <p:cNvPr id="10" name="Text 8"/>
          <p:cNvSpPr/>
          <p:nvPr/>
        </p:nvSpPr>
        <p:spPr>
          <a:xfrm>
            <a:off x="868680" y="3118104"/>
            <a:ext cx="2926080" cy="411480"/>
          </a:xfrm>
          <a:prstGeom prst="rect">
            <a:avLst/>
          </a:prstGeom>
          <a:noFill/>
          <a:ln/>
        </p:spPr>
        <p:txBody>
          <a:bodyPr wrap="square" lIns="0" tIns="0" rIns="0" bIns="0" rtlCol="0" anchor="ctr"/>
          <a:lstStyle/>
          <a:p>
            <a:pPr indent="0" marL="0">
              <a:buNone/>
            </a:pPr>
            <a:r>
              <a:rPr lang="en-US" sz="1250" dirty="0">
                <a:solidFill>
                  <a:srgbClr val="17211B"/>
                </a:solidFill>
                <a:latin typeface="Calibri" pitchFamily="34" charset="0"/>
                <a:ea typeface="Calibri" pitchFamily="34" charset="-122"/>
                <a:cs typeface="Calibri" pitchFamily="34" charset="-120"/>
              </a:rPr>
              <a:t>Payment processing</a:t>
            </a:r>
            <a:endParaRPr lang="en-US" sz="1250" dirty="0"/>
          </a:p>
        </p:txBody>
      </p:sp>
      <p:sp>
        <p:nvSpPr>
          <p:cNvPr id="11" name="Text 9"/>
          <p:cNvSpPr/>
          <p:nvPr/>
        </p:nvSpPr>
        <p:spPr>
          <a:xfrm>
            <a:off x="3657600" y="3118104"/>
            <a:ext cx="1371600" cy="411480"/>
          </a:xfrm>
          <a:prstGeom prst="rect">
            <a:avLst/>
          </a:prstGeom>
          <a:noFill/>
          <a:ln/>
        </p:spPr>
        <p:txBody>
          <a:bodyPr wrap="square" lIns="0" tIns="0" rIns="0" bIns="0" rtlCol="0" anchor="ctr"/>
          <a:lstStyle/>
          <a:p>
            <a:pPr algn="r" indent="0" marL="0">
              <a:buNone/>
            </a:pPr>
            <a:r>
              <a:rPr lang="en-US" sz="1250" dirty="0">
                <a:solidFill>
                  <a:srgbClr val="56615A"/>
                </a:solidFill>
                <a:latin typeface="Calibri" pitchFamily="34" charset="0"/>
                <a:ea typeface="Calibri" pitchFamily="34" charset="-122"/>
                <a:cs typeface="Calibri" pitchFamily="34" charset="-120"/>
              </a:rPr>
              <a:t>at cost</a:t>
            </a:r>
            <a:endParaRPr lang="en-US" sz="1250" dirty="0"/>
          </a:p>
        </p:txBody>
      </p:sp>
      <p:sp>
        <p:nvSpPr>
          <p:cNvPr id="12" name="Shape 10"/>
          <p:cNvSpPr/>
          <p:nvPr/>
        </p:nvSpPr>
        <p:spPr>
          <a:xfrm>
            <a:off x="868680" y="3547872"/>
            <a:ext cx="4160520" cy="0"/>
          </a:xfrm>
          <a:prstGeom prst="line">
            <a:avLst/>
          </a:prstGeom>
          <a:noFill/>
          <a:ln w="12700">
            <a:solidFill>
              <a:srgbClr val="DDE6E0"/>
            </a:solidFill>
            <a:prstDash val="solid"/>
          </a:ln>
        </p:spPr>
      </p:sp>
      <p:sp>
        <p:nvSpPr>
          <p:cNvPr id="13" name="Text 11"/>
          <p:cNvSpPr/>
          <p:nvPr/>
        </p:nvSpPr>
        <p:spPr>
          <a:xfrm>
            <a:off x="868680" y="3630168"/>
            <a:ext cx="2926080" cy="411480"/>
          </a:xfrm>
          <a:prstGeom prst="rect">
            <a:avLst/>
          </a:prstGeom>
          <a:noFill/>
          <a:ln/>
        </p:spPr>
        <p:txBody>
          <a:bodyPr wrap="square" lIns="0" tIns="0" rIns="0" bIns="0" rtlCol="0" anchor="ctr"/>
          <a:lstStyle/>
          <a:p>
            <a:pPr indent="0" marL="0">
              <a:buNone/>
            </a:pPr>
            <a:r>
              <a:rPr lang="en-US" sz="1250" b="1" dirty="0">
                <a:solidFill>
                  <a:srgbClr val="17211B"/>
                </a:solidFill>
                <a:latin typeface="Calibri" pitchFamily="34" charset="0"/>
                <a:ea typeface="Calibri" pitchFamily="34" charset="-122"/>
                <a:cs typeface="Calibri" pitchFamily="34" charset="-120"/>
              </a:rPr>
              <a:t>Dono fee  (3.5%)</a:t>
            </a:r>
            <a:endParaRPr lang="en-US" sz="1250" dirty="0"/>
          </a:p>
        </p:txBody>
      </p:sp>
      <p:sp>
        <p:nvSpPr>
          <p:cNvPr id="14" name="Text 12"/>
          <p:cNvSpPr/>
          <p:nvPr/>
        </p:nvSpPr>
        <p:spPr>
          <a:xfrm>
            <a:off x="3657600" y="3630168"/>
            <a:ext cx="1371600" cy="411480"/>
          </a:xfrm>
          <a:prstGeom prst="rect">
            <a:avLst/>
          </a:prstGeom>
          <a:noFill/>
          <a:ln/>
        </p:spPr>
        <p:txBody>
          <a:bodyPr wrap="square" lIns="0" tIns="0" rIns="0" bIns="0" rtlCol="0" anchor="ctr"/>
          <a:lstStyle/>
          <a:p>
            <a:pPr algn="r" indent="0" marL="0">
              <a:buNone/>
            </a:pPr>
            <a:r>
              <a:rPr lang="en-US" sz="1250" b="1" dirty="0">
                <a:solidFill>
                  <a:srgbClr val="56615A"/>
                </a:solidFill>
                <a:latin typeface="Calibri" pitchFamily="34" charset="0"/>
                <a:ea typeface="Calibri" pitchFamily="34" charset="-122"/>
                <a:cs typeface="Calibri" pitchFamily="34" charset="-120"/>
              </a:rPr>
              <a:t>£0.35</a:t>
            </a:r>
            <a:endParaRPr lang="en-US" sz="1250" dirty="0"/>
          </a:p>
        </p:txBody>
      </p:sp>
      <p:sp>
        <p:nvSpPr>
          <p:cNvPr id="15" name="Shape 13"/>
          <p:cNvSpPr/>
          <p:nvPr/>
        </p:nvSpPr>
        <p:spPr>
          <a:xfrm>
            <a:off x="868680" y="4059936"/>
            <a:ext cx="4160520" cy="0"/>
          </a:xfrm>
          <a:prstGeom prst="line">
            <a:avLst/>
          </a:prstGeom>
          <a:noFill/>
          <a:ln w="12700">
            <a:solidFill>
              <a:srgbClr val="DDE6E0"/>
            </a:solidFill>
            <a:prstDash val="solid"/>
          </a:ln>
        </p:spPr>
      </p:sp>
      <p:sp>
        <p:nvSpPr>
          <p:cNvPr id="16" name="Text 14"/>
          <p:cNvSpPr/>
          <p:nvPr/>
        </p:nvSpPr>
        <p:spPr>
          <a:xfrm>
            <a:off x="868680" y="4142232"/>
            <a:ext cx="2926080" cy="411480"/>
          </a:xfrm>
          <a:prstGeom prst="rect">
            <a:avLst/>
          </a:prstGeom>
          <a:noFill/>
          <a:ln/>
        </p:spPr>
        <p:txBody>
          <a:bodyPr wrap="square" lIns="0" tIns="0" rIns="0" bIns="0" rtlCol="0" anchor="ctr"/>
          <a:lstStyle/>
          <a:p>
            <a:pPr indent="0" marL="0">
              <a:buNone/>
            </a:pPr>
            <a:r>
              <a:rPr lang="en-US" sz="1400" b="1" dirty="0">
                <a:solidFill>
                  <a:srgbClr val="126E49"/>
                </a:solidFill>
                <a:latin typeface="Calibri" pitchFamily="34" charset="0"/>
                <a:ea typeface="Calibri" pitchFamily="34" charset="-122"/>
                <a:cs typeface="Calibri" pitchFamily="34" charset="-120"/>
              </a:rPr>
              <a:t>Student receives</a:t>
            </a:r>
            <a:endParaRPr lang="en-US" sz="1400" dirty="0"/>
          </a:p>
        </p:txBody>
      </p:sp>
      <p:sp>
        <p:nvSpPr>
          <p:cNvPr id="17" name="Text 15"/>
          <p:cNvSpPr/>
          <p:nvPr/>
        </p:nvSpPr>
        <p:spPr>
          <a:xfrm>
            <a:off x="3657600" y="4142232"/>
            <a:ext cx="1371600" cy="411480"/>
          </a:xfrm>
          <a:prstGeom prst="rect">
            <a:avLst/>
          </a:prstGeom>
          <a:noFill/>
          <a:ln/>
        </p:spPr>
        <p:txBody>
          <a:bodyPr wrap="square" lIns="0" tIns="0" rIns="0" bIns="0" rtlCol="0" anchor="ctr"/>
          <a:lstStyle/>
          <a:p>
            <a:pPr algn="r" indent="0" marL="0">
              <a:buNone/>
            </a:pPr>
            <a:r>
              <a:rPr lang="en-US" sz="1400" b="1" dirty="0">
                <a:solidFill>
                  <a:srgbClr val="126E49"/>
                </a:solidFill>
                <a:latin typeface="Calibri" pitchFamily="34" charset="0"/>
                <a:ea typeface="Calibri" pitchFamily="34" charset="-122"/>
                <a:cs typeface="Calibri" pitchFamily="34" charset="-120"/>
              </a:rPr>
              <a:t>£10.00</a:t>
            </a:r>
            <a:endParaRPr lang="en-US" sz="1400" dirty="0"/>
          </a:p>
        </p:txBody>
      </p:sp>
      <p:sp>
        <p:nvSpPr>
          <p:cNvPr id="18" name="Shape 16"/>
          <p:cNvSpPr/>
          <p:nvPr/>
        </p:nvSpPr>
        <p:spPr>
          <a:xfrm>
            <a:off x="868680" y="4645152"/>
            <a:ext cx="4160520" cy="329184"/>
          </a:xfrm>
          <a:prstGeom prst="roundRect">
            <a:avLst>
              <a:gd name="adj" fmla="val 50000"/>
            </a:avLst>
          </a:prstGeom>
          <a:solidFill>
            <a:srgbClr val="E8F5EE"/>
          </a:solidFill>
          <a:ln/>
        </p:spPr>
      </p:sp>
      <p:sp>
        <p:nvSpPr>
          <p:cNvPr id="19" name="Text 17"/>
          <p:cNvSpPr/>
          <p:nvPr/>
        </p:nvSpPr>
        <p:spPr>
          <a:xfrm>
            <a:off x="868680" y="4645152"/>
            <a:ext cx="4160520" cy="329184"/>
          </a:xfrm>
          <a:prstGeom prst="rect">
            <a:avLst/>
          </a:prstGeom>
          <a:noFill/>
          <a:ln/>
        </p:spPr>
        <p:txBody>
          <a:bodyPr wrap="square" lIns="0" tIns="0" rIns="0" bIns="0" rtlCol="0" anchor="ctr"/>
          <a:lstStyle/>
          <a:p>
            <a:pPr algn="ctr" indent="0" marL="0">
              <a:buNone/>
            </a:pPr>
            <a:r>
              <a:rPr lang="en-US" sz="1050" b="1" dirty="0">
                <a:solidFill>
                  <a:srgbClr val="126E49"/>
                </a:solidFill>
                <a:latin typeface="Calibri" pitchFamily="34" charset="0"/>
                <a:ea typeface="Calibri" pitchFamily="34" charset="-122"/>
                <a:cs typeface="Calibri" pitchFamily="34" charset="-120"/>
              </a:rPr>
              <a:t>Donor pays £10.35. Student gets the full £10.</a:t>
            </a:r>
            <a:endParaRPr lang="en-US" sz="1050" dirty="0"/>
          </a:p>
        </p:txBody>
      </p:sp>
      <p:sp>
        <p:nvSpPr>
          <p:cNvPr id="20" name="Shape 18"/>
          <p:cNvSpPr/>
          <p:nvPr/>
        </p:nvSpPr>
        <p:spPr>
          <a:xfrm>
            <a:off x="5577840" y="1965960"/>
            <a:ext cx="6053328" cy="969264"/>
          </a:xfrm>
          <a:prstGeom prst="roundRect">
            <a:avLst>
              <a:gd name="adj" fmla="val 8491"/>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1" name="Text 19"/>
          <p:cNvSpPr/>
          <p:nvPr/>
        </p:nvSpPr>
        <p:spPr>
          <a:xfrm>
            <a:off x="5870448" y="2066544"/>
            <a:ext cx="5486400" cy="274320"/>
          </a:xfrm>
          <a:prstGeom prst="rect">
            <a:avLst/>
          </a:prstGeom>
          <a:noFill/>
          <a:ln/>
        </p:spPr>
        <p:txBody>
          <a:bodyPr wrap="square" lIns="0" tIns="0" rIns="0" bIns="0" rtlCol="0" anchor="ctr"/>
          <a:lstStyle/>
          <a:p>
            <a:pPr indent="0" marL="0">
              <a:buNone/>
            </a:pPr>
            <a:r>
              <a:rPr lang="en-US" sz="1300" b="1" dirty="0">
                <a:solidFill>
                  <a:srgbClr val="126E49"/>
                </a:solidFill>
                <a:latin typeface="Calibri" pitchFamily="34" charset="0"/>
                <a:ea typeface="Calibri" pitchFamily="34" charset="-122"/>
                <a:cs typeface="Calibri" pitchFamily="34" charset="-120"/>
              </a:rPr>
              <a:t>Why the donor pays</a:t>
            </a:r>
            <a:endParaRPr lang="en-US" sz="1300" dirty="0"/>
          </a:p>
        </p:txBody>
      </p:sp>
      <p:sp>
        <p:nvSpPr>
          <p:cNvPr id="22" name="Text 20"/>
          <p:cNvSpPr/>
          <p:nvPr/>
        </p:nvSpPr>
        <p:spPr>
          <a:xfrm>
            <a:off x="5870448" y="2331720"/>
            <a:ext cx="5486400" cy="548640"/>
          </a:xfrm>
          <a:prstGeom prst="rect">
            <a:avLst/>
          </a:prstGeom>
          <a:noFill/>
          <a:ln/>
        </p:spPr>
        <p:txBody>
          <a:bodyPr wrap="square" lIns="0" tIns="0" rIns="0" bIns="0" rtlCol="0" anchor="ctr"/>
          <a:lstStyle/>
          <a:p>
            <a:pPr indent="0" marL="0">
              <a:lnSpc>
                <a:spcPts val="1250"/>
              </a:lnSpc>
              <a:buNone/>
            </a:pPr>
            <a:r>
              <a:rPr lang="en-US" sz="1020" dirty="0">
                <a:solidFill>
                  <a:srgbClr val="56615A"/>
                </a:solidFill>
                <a:latin typeface="Calibri" pitchFamily="34" charset="0"/>
                <a:ea typeface="Calibri" pitchFamily="34" charset="-122"/>
                <a:cs typeface="Calibri" pitchFamily="34" charset="-120"/>
              </a:rPr>
              <a:t>Already the norm here: two Oxford colleges run donor-covers-the-fee checkouts today, one saving £3,000 a year. Students told us a platform skimming their money would put them off — so we don't.</a:t>
            </a:r>
            <a:endParaRPr lang="en-US" sz="1020" dirty="0"/>
          </a:p>
        </p:txBody>
      </p:sp>
      <p:sp>
        <p:nvSpPr>
          <p:cNvPr id="23" name="Shape 21"/>
          <p:cNvSpPr/>
          <p:nvPr/>
        </p:nvSpPr>
        <p:spPr>
          <a:xfrm>
            <a:off x="5577840" y="3044952"/>
            <a:ext cx="6053328" cy="969264"/>
          </a:xfrm>
          <a:prstGeom prst="roundRect">
            <a:avLst>
              <a:gd name="adj" fmla="val 8491"/>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4" name="Text 22"/>
          <p:cNvSpPr/>
          <p:nvPr/>
        </p:nvSpPr>
        <p:spPr>
          <a:xfrm>
            <a:off x="5870448" y="3145536"/>
            <a:ext cx="5486400" cy="274320"/>
          </a:xfrm>
          <a:prstGeom prst="rect">
            <a:avLst/>
          </a:prstGeom>
          <a:noFill/>
          <a:ln/>
        </p:spPr>
        <p:txBody>
          <a:bodyPr wrap="square" lIns="0" tIns="0" rIns="0" bIns="0" rtlCol="0" anchor="ctr"/>
          <a:lstStyle/>
          <a:p>
            <a:pPr indent="0" marL="0">
              <a:buNone/>
            </a:pPr>
            <a:r>
              <a:rPr lang="en-US" sz="1300" b="1" dirty="0">
                <a:solidFill>
                  <a:srgbClr val="126E49"/>
                </a:solidFill>
                <a:latin typeface="Calibri" pitchFamily="34" charset="0"/>
                <a:ea typeface="Calibri" pitchFamily="34" charset="-122"/>
                <a:cs typeface="Calibri" pitchFamily="34" charset="-120"/>
              </a:rPr>
              <a:t>Routes to market differ by side</a:t>
            </a:r>
            <a:endParaRPr lang="en-US" sz="1300" dirty="0"/>
          </a:p>
        </p:txBody>
      </p:sp>
      <p:sp>
        <p:nvSpPr>
          <p:cNvPr id="25" name="Text 23"/>
          <p:cNvSpPr/>
          <p:nvPr/>
        </p:nvSpPr>
        <p:spPr>
          <a:xfrm>
            <a:off x="5870448" y="3410712"/>
            <a:ext cx="5486400" cy="548640"/>
          </a:xfrm>
          <a:prstGeom prst="rect">
            <a:avLst/>
          </a:prstGeom>
          <a:noFill/>
          <a:ln/>
        </p:spPr>
        <p:txBody>
          <a:bodyPr wrap="square" lIns="0" tIns="0" rIns="0" bIns="0" rtlCol="0" anchor="ctr"/>
          <a:lstStyle/>
          <a:p>
            <a:pPr indent="0" marL="0">
              <a:lnSpc>
                <a:spcPts val="1250"/>
              </a:lnSpc>
              <a:buNone/>
            </a:pPr>
            <a:r>
              <a:rPr lang="en-US" sz="1020" dirty="0">
                <a:solidFill>
                  <a:srgbClr val="56615A"/>
                </a:solidFill>
                <a:latin typeface="Calibri" pitchFamily="34" charset="0"/>
                <a:ea typeface="Calibri" pitchFamily="34" charset="-122"/>
                <a:cs typeface="Calibri" pitchFamily="34" charset="-120"/>
              </a:rPr>
              <a:t>Students: society committees and word of mouth — it's already how they organise. Alumni: the campaign link itself, forwarded into groups they're already in. Colleges: one demo case, then peer imitation.</a:t>
            </a:r>
            <a:endParaRPr lang="en-US" sz="1020" dirty="0"/>
          </a:p>
        </p:txBody>
      </p:sp>
      <p:sp>
        <p:nvSpPr>
          <p:cNvPr id="26" name="Shape 24"/>
          <p:cNvSpPr/>
          <p:nvPr/>
        </p:nvSpPr>
        <p:spPr>
          <a:xfrm>
            <a:off x="5577840" y="4123944"/>
            <a:ext cx="6053328" cy="969264"/>
          </a:xfrm>
          <a:prstGeom prst="roundRect">
            <a:avLst>
              <a:gd name="adj" fmla="val 8491"/>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7" name="Text 25"/>
          <p:cNvSpPr/>
          <p:nvPr/>
        </p:nvSpPr>
        <p:spPr>
          <a:xfrm>
            <a:off x="5870448" y="4224528"/>
            <a:ext cx="5486400" cy="274320"/>
          </a:xfrm>
          <a:prstGeom prst="rect">
            <a:avLst/>
          </a:prstGeom>
          <a:noFill/>
          <a:ln/>
        </p:spPr>
        <p:txBody>
          <a:bodyPr wrap="square" lIns="0" tIns="0" rIns="0" bIns="0" rtlCol="0" anchor="ctr"/>
          <a:lstStyle/>
          <a:p>
            <a:pPr indent="0" marL="0">
              <a:buNone/>
            </a:pPr>
            <a:r>
              <a:rPr lang="en-US" sz="1300" b="1" dirty="0">
                <a:solidFill>
                  <a:srgbClr val="126E49"/>
                </a:solidFill>
                <a:latin typeface="Calibri" pitchFamily="34" charset="0"/>
                <a:ea typeface="Calibri" pitchFamily="34" charset="-122"/>
                <a:cs typeface="Calibri" pitchFamily="34" charset="-120"/>
              </a:rPr>
              <a:t>Where this compounds</a:t>
            </a:r>
            <a:endParaRPr lang="en-US" sz="1300" dirty="0"/>
          </a:p>
        </p:txBody>
      </p:sp>
      <p:sp>
        <p:nvSpPr>
          <p:cNvPr id="28" name="Text 26"/>
          <p:cNvSpPr/>
          <p:nvPr/>
        </p:nvSpPr>
        <p:spPr>
          <a:xfrm>
            <a:off x="5870448" y="4489704"/>
            <a:ext cx="5486400" cy="548640"/>
          </a:xfrm>
          <a:prstGeom prst="rect">
            <a:avLst/>
          </a:prstGeom>
          <a:noFill/>
          <a:ln/>
        </p:spPr>
        <p:txBody>
          <a:bodyPr wrap="square" lIns="0" tIns="0" rIns="0" bIns="0" rtlCol="0" anchor="ctr"/>
          <a:lstStyle/>
          <a:p>
            <a:pPr indent="0" marL="0">
              <a:lnSpc>
                <a:spcPts val="1250"/>
              </a:lnSpc>
              <a:buNone/>
            </a:pPr>
            <a:r>
              <a:rPr lang="en-US" sz="1020" dirty="0">
                <a:solidFill>
                  <a:srgbClr val="56615A"/>
                </a:solidFill>
                <a:latin typeface="Calibri" pitchFamily="34" charset="0"/>
                <a:ea typeface="Calibri" pitchFamily="34" charset="-122"/>
                <a:cs typeface="Calibri" pitchFamily="34" charset="-120"/>
              </a:rPr>
              <a:t>The fee is the floor, not the ceiling. What accrues is the only cross-institution graph of verified young donors in UK higher education — and every college is legally siloed from building it.</a:t>
            </a:r>
            <a:endParaRPr lang="en-US" sz="1020" dirty="0"/>
          </a:p>
        </p:txBody>
      </p:sp>
      <p:sp>
        <p:nvSpPr>
          <p:cNvPr id="29" name="Shape 27"/>
          <p:cNvSpPr/>
          <p:nvPr/>
        </p:nvSpPr>
        <p:spPr>
          <a:xfrm>
            <a:off x="566928" y="5321808"/>
            <a:ext cx="11064240" cy="822960"/>
          </a:xfrm>
          <a:prstGeom prst="roundRect">
            <a:avLst>
              <a:gd name="adj" fmla="val 10000"/>
            </a:avLst>
          </a:prstGeom>
          <a:solidFill>
            <a:srgbClr val="0E1F17"/>
          </a:solidFill>
          <a:ln/>
        </p:spPr>
      </p:sp>
      <p:sp>
        <p:nvSpPr>
          <p:cNvPr id="30" name="Text 28"/>
          <p:cNvSpPr/>
          <p:nvPr/>
        </p:nvSpPr>
        <p:spPr>
          <a:xfrm>
            <a:off x="566928" y="5321808"/>
            <a:ext cx="277063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Students pay £0</a:t>
            </a:r>
            <a:endParaRPr lang="en-US" sz="1500" dirty="0"/>
          </a:p>
        </p:txBody>
      </p:sp>
      <p:sp>
        <p:nvSpPr>
          <p:cNvPr id="31" name="Text 29"/>
          <p:cNvSpPr/>
          <p:nvPr/>
        </p:nvSpPr>
        <p:spPr>
          <a:xfrm>
            <a:off x="3337560" y="5321808"/>
            <a:ext cx="277063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Colleges pay £0</a:t>
            </a:r>
            <a:endParaRPr lang="en-US" sz="1500" dirty="0"/>
          </a:p>
        </p:txBody>
      </p:sp>
      <p:sp>
        <p:nvSpPr>
          <p:cNvPr id="32" name="Text 30"/>
          <p:cNvSpPr/>
          <p:nvPr/>
        </p:nvSpPr>
        <p:spPr>
          <a:xfrm>
            <a:off x="6108192" y="5321808"/>
            <a:ext cx="2770632" cy="82296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Donors pay 3.5%</a:t>
            </a:r>
            <a:endParaRPr lang="en-US" sz="1500" dirty="0"/>
          </a:p>
        </p:txBody>
      </p:sp>
      <p:sp>
        <p:nvSpPr>
          <p:cNvPr id="33" name="Text 31"/>
          <p:cNvSpPr/>
          <p:nvPr/>
        </p:nvSpPr>
        <p:spPr>
          <a:xfrm>
            <a:off x="8878824" y="5321808"/>
            <a:ext cx="2770632"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 hold £0</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ROADMAP</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We grow either way. Funding decides how fast.</a:t>
            </a:r>
            <a:endParaRPr lang="en-US" sz="3400" dirty="0"/>
          </a:p>
        </p:txBody>
      </p:sp>
      <p:graphicFrame>
        <p:nvGraphicFramePr>
          <p:cNvPr id="5" name="Chart 0" descr=""/>
          <p:cNvGraphicFramePr/>
          <p:nvPr/>
        </p:nvGraphicFramePr>
        <p:xfrm>
          <a:off x="566928" y="2011680"/>
          <a:ext cx="667512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2011680"/>
            <a:ext cx="4133088" cy="1024128"/>
          </a:xfrm>
          <a:prstGeom prst="roundRect">
            <a:avLst>
              <a:gd name="adj" fmla="val 803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7" name="Text 4"/>
          <p:cNvSpPr/>
          <p:nvPr/>
        </p:nvSpPr>
        <p:spPr>
          <a:xfrm>
            <a:off x="7754112" y="2103120"/>
            <a:ext cx="2011680" cy="237744"/>
          </a:xfrm>
          <a:prstGeom prst="rect">
            <a:avLst/>
          </a:prstGeom>
          <a:noFill/>
          <a:ln/>
        </p:spPr>
        <p:txBody>
          <a:bodyPr wrap="square" lIns="0" tIns="0" rIns="0" bIns="0" rtlCol="0" anchor="ctr"/>
          <a:lstStyle/>
          <a:p>
            <a:pPr indent="0" marL="0">
              <a:buNone/>
            </a:pPr>
            <a:r>
              <a:rPr lang="en-US" sz="950" b="1" spc="110" kern="0" dirty="0">
                <a:solidFill>
                  <a:srgbClr val="69A984"/>
                </a:solidFill>
                <a:latin typeface="Calibri" pitchFamily="34" charset="0"/>
                <a:ea typeface="Calibri" pitchFamily="34" charset="-122"/>
                <a:cs typeface="Calibri" pitchFamily="34" charset="-120"/>
              </a:rPr>
              <a:t>0–6 months</a:t>
            </a:r>
            <a:endParaRPr lang="en-US" sz="950" dirty="0"/>
          </a:p>
        </p:txBody>
      </p:sp>
      <p:sp>
        <p:nvSpPr>
          <p:cNvPr id="8" name="Shape 5"/>
          <p:cNvSpPr/>
          <p:nvPr/>
        </p:nvSpPr>
        <p:spPr>
          <a:xfrm>
            <a:off x="10195560" y="2112264"/>
            <a:ext cx="1170432" cy="237744"/>
          </a:xfrm>
          <a:prstGeom prst="roundRect">
            <a:avLst>
              <a:gd name="adj" fmla="val 50000"/>
            </a:avLst>
          </a:prstGeom>
          <a:solidFill>
            <a:srgbClr val="E8F5EE"/>
          </a:solidFill>
          <a:ln/>
        </p:spPr>
      </p:sp>
      <p:sp>
        <p:nvSpPr>
          <p:cNvPr id="9" name="Text 6"/>
          <p:cNvSpPr/>
          <p:nvPr/>
        </p:nvSpPr>
        <p:spPr>
          <a:xfrm>
            <a:off x="10195560" y="2112264"/>
            <a:ext cx="1170432" cy="237744"/>
          </a:xfrm>
          <a:prstGeom prst="rect">
            <a:avLst/>
          </a:prstGeom>
          <a:noFill/>
          <a:ln/>
        </p:spPr>
        <p:txBody>
          <a:bodyPr wrap="square" lIns="0" tIns="0" rIns="0" bIns="0" rtlCol="0" anchor="ctr"/>
          <a:lstStyle/>
          <a:p>
            <a:pPr algn="ctr" indent="0" marL="0">
              <a:buNone/>
            </a:pPr>
            <a:r>
              <a:rPr lang="en-US" sz="800" b="1" dirty="0">
                <a:solidFill>
                  <a:srgbClr val="126E49"/>
                </a:solidFill>
                <a:latin typeface="Calibri" pitchFamily="34" charset="0"/>
                <a:ea typeface="Calibri" pitchFamily="34" charset="-122"/>
                <a:cs typeface="Calibri" pitchFamily="34" charset="-120"/>
              </a:rPr>
              <a:t>OXFORD</a:t>
            </a:r>
            <a:endParaRPr lang="en-US" sz="800" dirty="0"/>
          </a:p>
        </p:txBody>
      </p:sp>
      <p:sp>
        <p:nvSpPr>
          <p:cNvPr id="10" name="Text 7"/>
          <p:cNvSpPr/>
          <p:nvPr/>
        </p:nvSpPr>
        <p:spPr>
          <a:xfrm>
            <a:off x="7754112" y="2340864"/>
            <a:ext cx="3657600" cy="274320"/>
          </a:xfrm>
          <a:prstGeom prst="rect">
            <a:avLst/>
          </a:prstGeom>
          <a:noFill/>
          <a:ln/>
        </p:spPr>
        <p:txBody>
          <a:bodyPr wrap="square" lIns="0" tIns="0" rIns="0" bIns="0" rtlCol="0" anchor="ctr"/>
          <a:lstStyle/>
          <a:p>
            <a:pPr indent="0" marL="0">
              <a:buNone/>
            </a:pPr>
            <a:r>
              <a:rPr lang="en-US" sz="1400" b="1" dirty="0">
                <a:solidFill>
                  <a:srgbClr val="17211B"/>
                </a:solidFill>
                <a:latin typeface="Cambria" pitchFamily="34" charset="0"/>
                <a:ea typeface="Cambria" pitchFamily="34" charset="-122"/>
                <a:cs typeface="Cambria" pitchFamily="34" charset="-120"/>
              </a:rPr>
              <a:t>Own one college</a:t>
            </a:r>
            <a:endParaRPr lang="en-US" sz="1400" dirty="0"/>
          </a:p>
        </p:txBody>
      </p:sp>
      <p:sp>
        <p:nvSpPr>
          <p:cNvPr id="11" name="Text 8"/>
          <p:cNvSpPr/>
          <p:nvPr/>
        </p:nvSpPr>
        <p:spPr>
          <a:xfrm>
            <a:off x="7754112" y="2606040"/>
            <a:ext cx="3657600" cy="384048"/>
          </a:xfrm>
          <a:prstGeom prst="rect">
            <a:avLst/>
          </a:prstGeom>
          <a:noFill/>
          <a:ln/>
        </p:spPr>
        <p:txBody>
          <a:bodyPr wrap="square" lIns="0" tIns="0" rIns="0" bIns="0" rtlCol="0" anchor="ctr"/>
          <a:lstStyle/>
          <a:p>
            <a:pPr indent="0" marL="0">
              <a:lnSpc>
                <a:spcPts val="1150"/>
              </a:lnSpc>
              <a:buNone/>
            </a:pPr>
            <a:r>
              <a:rPr lang="en-US" sz="950" dirty="0">
                <a:solidFill>
                  <a:srgbClr val="56615A"/>
                </a:solidFill>
                <a:latin typeface="Calibri" pitchFamily="34" charset="0"/>
                <a:ea typeface="Calibri" pitchFamily="34" charset="-122"/>
                <a:cs typeface="Calibri" pitchFamily="34" charset="-120"/>
              </a:rPr>
              <a:t>Prove the loop end to end in a single college: 20 campaigns, first repeat donors, first closure statements published.</a:t>
            </a:r>
            <a:endParaRPr lang="en-US" sz="950" dirty="0"/>
          </a:p>
        </p:txBody>
      </p:sp>
      <p:sp>
        <p:nvSpPr>
          <p:cNvPr id="12" name="Shape 9"/>
          <p:cNvSpPr/>
          <p:nvPr/>
        </p:nvSpPr>
        <p:spPr>
          <a:xfrm>
            <a:off x="7498080" y="3145536"/>
            <a:ext cx="4133088" cy="1024128"/>
          </a:xfrm>
          <a:prstGeom prst="roundRect">
            <a:avLst>
              <a:gd name="adj" fmla="val 803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3" name="Text 10"/>
          <p:cNvSpPr/>
          <p:nvPr/>
        </p:nvSpPr>
        <p:spPr>
          <a:xfrm>
            <a:off x="7754112" y="3236976"/>
            <a:ext cx="2011680" cy="237744"/>
          </a:xfrm>
          <a:prstGeom prst="rect">
            <a:avLst/>
          </a:prstGeom>
          <a:noFill/>
          <a:ln/>
        </p:spPr>
        <p:txBody>
          <a:bodyPr wrap="square" lIns="0" tIns="0" rIns="0" bIns="0" rtlCol="0" anchor="ctr"/>
          <a:lstStyle/>
          <a:p>
            <a:pPr indent="0" marL="0">
              <a:buNone/>
            </a:pPr>
            <a:r>
              <a:rPr lang="en-US" sz="950" b="1" spc="110" kern="0" dirty="0">
                <a:solidFill>
                  <a:srgbClr val="69A984"/>
                </a:solidFill>
                <a:latin typeface="Calibri" pitchFamily="34" charset="0"/>
                <a:ea typeface="Calibri" pitchFamily="34" charset="-122"/>
                <a:cs typeface="Calibri" pitchFamily="34" charset="-120"/>
              </a:rPr>
              <a:t>6–18 months</a:t>
            </a:r>
            <a:endParaRPr lang="en-US" sz="950" dirty="0"/>
          </a:p>
        </p:txBody>
      </p:sp>
      <p:sp>
        <p:nvSpPr>
          <p:cNvPr id="14" name="Shape 11"/>
          <p:cNvSpPr/>
          <p:nvPr/>
        </p:nvSpPr>
        <p:spPr>
          <a:xfrm>
            <a:off x="10195560" y="3246120"/>
            <a:ext cx="1170432" cy="237744"/>
          </a:xfrm>
          <a:prstGeom prst="roundRect">
            <a:avLst>
              <a:gd name="adj" fmla="val 50000"/>
            </a:avLst>
          </a:prstGeom>
          <a:solidFill>
            <a:srgbClr val="E8F5EE"/>
          </a:solidFill>
          <a:ln/>
        </p:spPr>
      </p:sp>
      <p:sp>
        <p:nvSpPr>
          <p:cNvPr id="15" name="Text 12"/>
          <p:cNvSpPr/>
          <p:nvPr/>
        </p:nvSpPr>
        <p:spPr>
          <a:xfrm>
            <a:off x="10195560" y="3246120"/>
            <a:ext cx="1170432" cy="237744"/>
          </a:xfrm>
          <a:prstGeom prst="rect">
            <a:avLst/>
          </a:prstGeom>
          <a:noFill/>
          <a:ln/>
        </p:spPr>
        <p:txBody>
          <a:bodyPr wrap="square" lIns="0" tIns="0" rIns="0" bIns="0" rtlCol="0" anchor="ctr"/>
          <a:lstStyle/>
          <a:p>
            <a:pPr algn="ctr" indent="0" marL="0">
              <a:buNone/>
            </a:pPr>
            <a:r>
              <a:rPr lang="en-US" sz="800" b="1" dirty="0">
                <a:solidFill>
                  <a:srgbClr val="126E49"/>
                </a:solidFill>
                <a:latin typeface="Calibri" pitchFamily="34" charset="0"/>
                <a:ea typeface="Calibri" pitchFamily="34" charset="-122"/>
                <a:cs typeface="Calibri" pitchFamily="34" charset="-120"/>
              </a:rPr>
              <a:t>OXBRIDGE</a:t>
            </a:r>
            <a:endParaRPr lang="en-US" sz="800" dirty="0"/>
          </a:p>
        </p:txBody>
      </p:sp>
      <p:sp>
        <p:nvSpPr>
          <p:cNvPr id="16" name="Text 13"/>
          <p:cNvSpPr/>
          <p:nvPr/>
        </p:nvSpPr>
        <p:spPr>
          <a:xfrm>
            <a:off x="7754112" y="3474720"/>
            <a:ext cx="3657600" cy="274320"/>
          </a:xfrm>
          <a:prstGeom prst="rect">
            <a:avLst/>
          </a:prstGeom>
          <a:noFill/>
          <a:ln/>
        </p:spPr>
        <p:txBody>
          <a:bodyPr wrap="square" lIns="0" tIns="0" rIns="0" bIns="0" rtlCol="0" anchor="ctr"/>
          <a:lstStyle/>
          <a:p>
            <a:pPr indent="0" marL="0">
              <a:buNone/>
            </a:pPr>
            <a:r>
              <a:rPr lang="en-US" sz="1400" b="1" dirty="0">
                <a:solidFill>
                  <a:srgbClr val="17211B"/>
                </a:solidFill>
                <a:latin typeface="Cambria" pitchFamily="34" charset="0"/>
                <a:ea typeface="Cambria" pitchFamily="34" charset="-122"/>
                <a:cs typeface="Cambria" pitchFamily="34" charset="-120"/>
              </a:rPr>
              <a:t>Cross the collegiate system</a:t>
            </a:r>
            <a:endParaRPr lang="en-US" sz="1400" dirty="0"/>
          </a:p>
        </p:txBody>
      </p:sp>
      <p:sp>
        <p:nvSpPr>
          <p:cNvPr id="17" name="Text 14"/>
          <p:cNvSpPr/>
          <p:nvPr/>
        </p:nvSpPr>
        <p:spPr>
          <a:xfrm>
            <a:off x="7754112" y="3739896"/>
            <a:ext cx="3657600" cy="384048"/>
          </a:xfrm>
          <a:prstGeom prst="rect">
            <a:avLst/>
          </a:prstGeom>
          <a:noFill/>
          <a:ln/>
        </p:spPr>
        <p:txBody>
          <a:bodyPr wrap="square" lIns="0" tIns="0" rIns="0" bIns="0" rtlCol="0" anchor="ctr"/>
          <a:lstStyle/>
          <a:p>
            <a:pPr indent="0" marL="0">
              <a:lnSpc>
                <a:spcPts val="1150"/>
              </a:lnSpc>
              <a:buNone/>
            </a:pPr>
            <a:r>
              <a:rPr lang="en-US" sz="950" dirty="0">
                <a:solidFill>
                  <a:srgbClr val="56615A"/>
                </a:solidFill>
                <a:latin typeface="Calibri" pitchFamily="34" charset="0"/>
                <a:ea typeface="Calibri" pitchFamily="34" charset="-122"/>
                <a:cs typeface="Calibri" pitchFamily="34" charset="-120"/>
              </a:rPr>
              <a:t>Colleges copy colleges. Target 8–10 Oxford colleges, then Cambridge — the same structure, the same alumni behaviour, no re-engineering.</a:t>
            </a:r>
            <a:endParaRPr lang="en-US" sz="950" dirty="0"/>
          </a:p>
        </p:txBody>
      </p:sp>
      <p:sp>
        <p:nvSpPr>
          <p:cNvPr id="18" name="Shape 15"/>
          <p:cNvSpPr/>
          <p:nvPr/>
        </p:nvSpPr>
        <p:spPr>
          <a:xfrm>
            <a:off x="7498080" y="4279392"/>
            <a:ext cx="4133088" cy="1024128"/>
          </a:xfrm>
          <a:prstGeom prst="roundRect">
            <a:avLst>
              <a:gd name="adj" fmla="val 8036"/>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9" name="Text 16"/>
          <p:cNvSpPr/>
          <p:nvPr/>
        </p:nvSpPr>
        <p:spPr>
          <a:xfrm>
            <a:off x="7754112" y="4370832"/>
            <a:ext cx="2011680" cy="237744"/>
          </a:xfrm>
          <a:prstGeom prst="rect">
            <a:avLst/>
          </a:prstGeom>
          <a:noFill/>
          <a:ln/>
        </p:spPr>
        <p:txBody>
          <a:bodyPr wrap="square" lIns="0" tIns="0" rIns="0" bIns="0" rtlCol="0" anchor="ctr"/>
          <a:lstStyle/>
          <a:p>
            <a:pPr indent="0" marL="0">
              <a:buNone/>
            </a:pPr>
            <a:r>
              <a:rPr lang="en-US" sz="950" b="1" spc="110" kern="0" dirty="0">
                <a:solidFill>
                  <a:srgbClr val="69A984"/>
                </a:solidFill>
                <a:latin typeface="Calibri" pitchFamily="34" charset="0"/>
                <a:ea typeface="Calibri" pitchFamily="34" charset="-122"/>
                <a:cs typeface="Calibri" pitchFamily="34" charset="-120"/>
              </a:rPr>
              <a:t>18–36 months</a:t>
            </a:r>
            <a:endParaRPr lang="en-US" sz="950" dirty="0"/>
          </a:p>
        </p:txBody>
      </p:sp>
      <p:sp>
        <p:nvSpPr>
          <p:cNvPr id="20" name="Shape 17"/>
          <p:cNvSpPr/>
          <p:nvPr/>
        </p:nvSpPr>
        <p:spPr>
          <a:xfrm>
            <a:off x="10195560" y="4379976"/>
            <a:ext cx="1170432" cy="237744"/>
          </a:xfrm>
          <a:prstGeom prst="roundRect">
            <a:avLst>
              <a:gd name="adj" fmla="val 50000"/>
            </a:avLst>
          </a:prstGeom>
          <a:solidFill>
            <a:srgbClr val="E8F5EE"/>
          </a:solidFill>
          <a:ln/>
        </p:spPr>
      </p:sp>
      <p:sp>
        <p:nvSpPr>
          <p:cNvPr id="21" name="Text 18"/>
          <p:cNvSpPr/>
          <p:nvPr/>
        </p:nvSpPr>
        <p:spPr>
          <a:xfrm>
            <a:off x="10195560" y="4379976"/>
            <a:ext cx="1170432" cy="237744"/>
          </a:xfrm>
          <a:prstGeom prst="rect">
            <a:avLst/>
          </a:prstGeom>
          <a:noFill/>
          <a:ln/>
        </p:spPr>
        <p:txBody>
          <a:bodyPr wrap="square" lIns="0" tIns="0" rIns="0" bIns="0" rtlCol="0" anchor="ctr"/>
          <a:lstStyle/>
          <a:p>
            <a:pPr algn="ctr" indent="0" marL="0">
              <a:buNone/>
            </a:pPr>
            <a:r>
              <a:rPr lang="en-US" sz="800" b="1" dirty="0">
                <a:solidFill>
                  <a:srgbClr val="126E49"/>
                </a:solidFill>
                <a:latin typeface="Calibri" pitchFamily="34" charset="0"/>
                <a:ea typeface="Calibri" pitchFamily="34" charset="-122"/>
                <a:cs typeface="Calibri" pitchFamily="34" charset="-120"/>
              </a:rPr>
              <a:t>UK + US</a:t>
            </a:r>
            <a:endParaRPr lang="en-US" sz="800" dirty="0"/>
          </a:p>
        </p:txBody>
      </p:sp>
      <p:sp>
        <p:nvSpPr>
          <p:cNvPr id="22" name="Text 19"/>
          <p:cNvSpPr/>
          <p:nvPr/>
        </p:nvSpPr>
        <p:spPr>
          <a:xfrm>
            <a:off x="7754112" y="4608576"/>
            <a:ext cx="3657600" cy="274320"/>
          </a:xfrm>
          <a:prstGeom prst="rect">
            <a:avLst/>
          </a:prstGeom>
          <a:noFill/>
          <a:ln/>
        </p:spPr>
        <p:txBody>
          <a:bodyPr wrap="square" lIns="0" tIns="0" rIns="0" bIns="0" rtlCol="0" anchor="ctr"/>
          <a:lstStyle/>
          <a:p>
            <a:pPr indent="0" marL="0">
              <a:buNone/>
            </a:pPr>
            <a:r>
              <a:rPr lang="en-US" sz="1400" b="1" dirty="0">
                <a:solidFill>
                  <a:srgbClr val="17211B"/>
                </a:solidFill>
                <a:latin typeface="Cambria" pitchFamily="34" charset="0"/>
                <a:ea typeface="Cambria" pitchFamily="34" charset="-122"/>
                <a:cs typeface="Cambria" pitchFamily="34" charset="-120"/>
              </a:rPr>
              <a:t>Leave the moat</a:t>
            </a:r>
            <a:endParaRPr lang="en-US" sz="1400" dirty="0"/>
          </a:p>
        </p:txBody>
      </p:sp>
      <p:sp>
        <p:nvSpPr>
          <p:cNvPr id="23" name="Text 20"/>
          <p:cNvSpPr/>
          <p:nvPr/>
        </p:nvSpPr>
        <p:spPr>
          <a:xfrm>
            <a:off x="7754112" y="4873752"/>
            <a:ext cx="3657600" cy="384048"/>
          </a:xfrm>
          <a:prstGeom prst="rect">
            <a:avLst/>
          </a:prstGeom>
          <a:noFill/>
          <a:ln/>
        </p:spPr>
        <p:txBody>
          <a:bodyPr wrap="square" lIns="0" tIns="0" rIns="0" bIns="0" rtlCol="0" anchor="ctr"/>
          <a:lstStyle/>
          <a:p>
            <a:pPr indent="0" marL="0">
              <a:lnSpc>
                <a:spcPts val="1150"/>
              </a:lnSpc>
              <a:buNone/>
            </a:pPr>
            <a:r>
              <a:rPr lang="en-US" sz="950" dirty="0">
                <a:solidFill>
                  <a:srgbClr val="56615A"/>
                </a:solidFill>
                <a:latin typeface="Calibri" pitchFamily="34" charset="0"/>
                <a:ea typeface="Calibri" pitchFamily="34" charset="-122"/>
                <a:cs typeface="Calibri" pitchFamily="34" charset="-120"/>
              </a:rPr>
              <a:t>UK Russell Group, then the US — where alumni giving is a cultural norm and the fraternity system is a ready-made community layer.</a:t>
            </a:r>
            <a:endParaRPr lang="en-US" sz="950" dirty="0"/>
          </a:p>
        </p:txBody>
      </p:sp>
      <p:sp>
        <p:nvSpPr>
          <p:cNvPr id="24" name="Shape 21"/>
          <p:cNvSpPr/>
          <p:nvPr/>
        </p:nvSpPr>
        <p:spPr>
          <a:xfrm>
            <a:off x="7498080" y="5440680"/>
            <a:ext cx="4133088" cy="731520"/>
          </a:xfrm>
          <a:prstGeom prst="roundRect">
            <a:avLst>
              <a:gd name="adj" fmla="val 11250"/>
            </a:avLst>
          </a:prstGeom>
          <a:solidFill>
            <a:srgbClr val="E8F5EE"/>
          </a:solidFill>
          <a:ln/>
        </p:spPr>
      </p:sp>
      <p:sp>
        <p:nvSpPr>
          <p:cNvPr id="25" name="Text 22"/>
          <p:cNvSpPr/>
          <p:nvPr/>
        </p:nvSpPr>
        <p:spPr>
          <a:xfrm>
            <a:off x="7772400" y="5440680"/>
            <a:ext cx="3657600" cy="731520"/>
          </a:xfrm>
          <a:prstGeom prst="rect">
            <a:avLst/>
          </a:prstGeom>
          <a:noFill/>
          <a:ln/>
        </p:spPr>
        <p:txBody>
          <a:bodyPr wrap="square" lIns="0" tIns="0" rIns="0" bIns="0" rtlCol="0" anchor="ctr"/>
          <a:lstStyle/>
          <a:p>
            <a:pPr indent="0" marL="0">
              <a:lnSpc>
                <a:spcPts val="1350"/>
              </a:lnSpc>
              <a:buNone/>
            </a:pPr>
            <a:r>
              <a:rPr lang="en-US" sz="1100" b="1" dirty="0">
                <a:solidFill>
                  <a:srgbClr val="126E49"/>
                </a:solidFill>
                <a:latin typeface="Calibri" pitchFamily="34" charset="0"/>
                <a:ea typeface="Calibri" pitchFamily="34" charset="-122"/>
                <a:cs typeface="Calibri" pitchFamily="34" charset="-120"/>
              </a:rPr>
              <a:t>160 UK universities. 39 Oxford colleges alone.
</a:t>
            </a:r>
            <a:endParaRPr lang="en-US" sz="1100" dirty="0"/>
          </a:p>
          <a:p>
            <a:pPr indent="0" marL="0">
              <a:lnSpc>
                <a:spcPts val="1350"/>
              </a:lnSpc>
              <a:buNone/>
            </a:pPr>
            <a:r>
              <a:rPr lang="en-US" sz="1000" dirty="0">
                <a:solidFill>
                  <a:srgbClr val="56615A"/>
                </a:solidFill>
                <a:latin typeface="Calibri" pitchFamily="34" charset="0"/>
                <a:ea typeface="Calibri" pitchFamily="34" charset="-122"/>
                <a:cs typeface="Calibri" pitchFamily="34" charset="-120"/>
              </a:rPr>
              <a:t>Same product, no localisation, no new build.</a:t>
            </a:r>
            <a:endParaRPr lang="en-US" sz="1100" dirty="0"/>
          </a:p>
        </p:txBody>
      </p:sp>
      <p:sp>
        <p:nvSpPr>
          <p:cNvPr id="26" name="Text 23"/>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8E9A93"/>
                </a:solidFill>
                <a:latin typeface="Calibri" pitchFamily="34" charset="0"/>
                <a:ea typeface="Calibri" pitchFamily="34" charset="-122"/>
                <a:cs typeface="Calibri" pitchFamily="34" charset="-120"/>
              </a:rPr>
              <a:t>Campaign-volume projections are Dono's own bottom-up model. Base case assumes organic society-to-society spread with no paid acquisition.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F17"/>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1B3A2B"/>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69A984"/>
                </a:solidFill>
                <a:latin typeface="Calibri" pitchFamily="34" charset="0"/>
                <a:ea typeface="Calibri" pitchFamily="34" charset="-122"/>
                <a:cs typeface="Calibri" pitchFamily="34" charset="-120"/>
              </a:rPr>
              <a:t>THE ASK</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we'd do with it.</a:t>
            </a:r>
            <a:endParaRPr lang="en-US" sz="3400" dirty="0"/>
          </a:p>
        </p:txBody>
      </p:sp>
      <p:sp>
        <p:nvSpPr>
          <p:cNvPr id="5" name="Text 3"/>
          <p:cNvSpPr/>
          <p:nvPr/>
        </p:nvSpPr>
        <p:spPr>
          <a:xfrm>
            <a:off x="566928" y="1691640"/>
            <a:ext cx="10424160" cy="457200"/>
          </a:xfrm>
          <a:prstGeom prst="rect">
            <a:avLst/>
          </a:prstGeom>
          <a:noFill/>
          <a:ln/>
        </p:spPr>
        <p:txBody>
          <a:bodyPr wrap="square" lIns="0" tIns="0" rIns="0" bIns="0" rtlCol="0" anchor="ctr"/>
          <a:lstStyle/>
          <a:p>
            <a:pPr indent="0" marL="0">
              <a:buNone/>
            </a:pPr>
            <a:r>
              <a:rPr lang="en-US" sz="1500" dirty="0">
                <a:solidFill>
                  <a:srgbClr val="69A984"/>
                </a:solidFill>
                <a:latin typeface="Calibri" pitchFamily="34" charset="0"/>
                <a:ea typeface="Calibri" pitchFamily="34" charset="-122"/>
                <a:cs typeface="Calibri" pitchFamily="34" charset="-120"/>
              </a:rPr>
              <a:t>We have raised nothing to date. This would be the first money into Dono.</a:t>
            </a:r>
            <a:endParaRPr lang="en-US" sz="1500" dirty="0"/>
          </a:p>
        </p:txBody>
      </p:sp>
      <p:sp>
        <p:nvSpPr>
          <p:cNvPr id="6" name="Shape 4"/>
          <p:cNvSpPr/>
          <p:nvPr/>
        </p:nvSpPr>
        <p:spPr>
          <a:xfrm>
            <a:off x="566928" y="2331720"/>
            <a:ext cx="3200400" cy="1874520"/>
          </a:xfrm>
          <a:prstGeom prst="roundRect">
            <a:avLst>
              <a:gd name="adj" fmla="val 4878"/>
            </a:avLst>
          </a:prstGeom>
          <a:solidFill>
            <a:srgbClr val="168456"/>
          </a:solidFill>
          <a:ln/>
        </p:spPr>
      </p:sp>
      <p:sp>
        <p:nvSpPr>
          <p:cNvPr id="7" name="Text 5"/>
          <p:cNvSpPr/>
          <p:nvPr/>
        </p:nvSpPr>
        <p:spPr>
          <a:xfrm>
            <a:off x="566928" y="2487168"/>
            <a:ext cx="3200400" cy="1005840"/>
          </a:xfrm>
          <a:prstGeom prst="rect">
            <a:avLst/>
          </a:prstGeom>
          <a:noFill/>
          <a:ln/>
        </p:spPr>
        <p:txBody>
          <a:bodyPr wrap="square" lIns="0" tIns="0" rIns="0" bIns="0" rtlCol="0" anchor="ctr"/>
          <a:lstStyle/>
          <a:p>
            <a:pPr algn="ctr" indent="0" marL="0">
              <a:buNone/>
            </a:pPr>
            <a:r>
              <a:rPr lang="en-US" sz="6200" b="1" dirty="0">
                <a:solidFill>
                  <a:srgbClr val="FFFFFF"/>
                </a:solidFill>
                <a:latin typeface="Cambria" pitchFamily="34" charset="0"/>
                <a:ea typeface="Cambria" pitchFamily="34" charset="-122"/>
                <a:cs typeface="Cambria" pitchFamily="34" charset="-120"/>
              </a:rPr>
              <a:t>£</a:t>
            </a:r>
            <a:endParaRPr lang="en-US" sz="6200" dirty="0"/>
          </a:p>
        </p:txBody>
      </p:sp>
      <p:sp>
        <p:nvSpPr>
          <p:cNvPr id="8" name="Text 6"/>
          <p:cNvSpPr/>
          <p:nvPr/>
        </p:nvSpPr>
        <p:spPr>
          <a:xfrm>
            <a:off x="566928" y="3429000"/>
            <a:ext cx="3200400" cy="640080"/>
          </a:xfrm>
          <a:prstGeom prst="rect">
            <a:avLst/>
          </a:prstGeom>
          <a:noFill/>
          <a:ln/>
        </p:spPr>
        <p:txBody>
          <a:bodyPr wrap="square" lIns="0" tIns="0" rIns="0" bIns="0" rtlCol="0" anchor="ctr"/>
          <a:lstStyle/>
          <a:p>
            <a:pPr algn="ctr" indent="0" marL="0">
              <a:lnSpc>
                <a:spcPts val="1500"/>
              </a:lnSpc>
              <a:buNone/>
            </a:pPr>
            <a:r>
              <a:rPr lang="en-US" sz="1200" dirty="0">
                <a:solidFill>
                  <a:srgbClr val="CFEBDD"/>
                </a:solidFill>
                <a:latin typeface="Calibri" pitchFamily="34" charset="0"/>
                <a:ea typeface="Calibri" pitchFamily="34" charset="-122"/>
                <a:cs typeface="Calibri" pitchFamily="34" charset="-120"/>
              </a:rPr>
              <a:t>to reach [milestone]</a:t>
            </a:r>
            <a:endParaRPr lang="en-US" sz="1200" dirty="0"/>
          </a:p>
          <a:p>
            <a:pPr algn="ctr" indent="0" marL="0">
              <a:lnSpc>
                <a:spcPts val="1500"/>
              </a:lnSpc>
              <a:buNone/>
            </a:pPr>
            <a:r>
              <a:rPr lang="en-US" sz="1200" dirty="0">
                <a:solidFill>
                  <a:srgbClr val="CFEBDD"/>
                </a:solidFill>
                <a:latin typeface="Calibri" pitchFamily="34" charset="0"/>
                <a:ea typeface="Calibri" pitchFamily="34" charset="-122"/>
                <a:cs typeface="Calibri" pitchFamily="34" charset="-120"/>
              </a:rPr>
              <a:t>in [n] months</a:t>
            </a:r>
            <a:endParaRPr lang="en-US" sz="1200" dirty="0"/>
          </a:p>
        </p:txBody>
      </p:sp>
      <p:sp>
        <p:nvSpPr>
          <p:cNvPr id="9" name="Shape 7"/>
          <p:cNvSpPr/>
          <p:nvPr/>
        </p:nvSpPr>
        <p:spPr>
          <a:xfrm>
            <a:off x="4023360" y="2331720"/>
            <a:ext cx="3657600" cy="1280160"/>
          </a:xfrm>
          <a:prstGeom prst="roundRect">
            <a:avLst>
              <a:gd name="adj" fmla="val 6429"/>
            </a:avLst>
          </a:prstGeom>
          <a:solidFill>
            <a:srgbClr val="183325"/>
          </a:solidFill>
          <a:ln w="12700">
            <a:solidFill>
              <a:srgbClr val="2A4C39"/>
            </a:solidFill>
            <a:prstDash val="solid"/>
          </a:ln>
        </p:spPr>
      </p:sp>
      <p:sp>
        <p:nvSpPr>
          <p:cNvPr id="10" name="Text 8"/>
          <p:cNvSpPr/>
          <p:nvPr/>
        </p:nvSpPr>
        <p:spPr>
          <a:xfrm>
            <a:off x="4297680" y="2459736"/>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Acquisition</a:t>
            </a:r>
            <a:endParaRPr lang="en-US" sz="1300" dirty="0"/>
          </a:p>
        </p:txBody>
      </p:sp>
      <p:sp>
        <p:nvSpPr>
          <p:cNvPr id="11" name="Shape 9"/>
          <p:cNvSpPr/>
          <p:nvPr/>
        </p:nvSpPr>
        <p:spPr>
          <a:xfrm>
            <a:off x="6766560" y="2478024"/>
            <a:ext cx="658368" cy="256032"/>
          </a:xfrm>
          <a:prstGeom prst="roundRect">
            <a:avLst>
              <a:gd name="adj" fmla="val 50000"/>
            </a:avLst>
          </a:prstGeom>
          <a:solidFill>
            <a:srgbClr val="244634"/>
          </a:solidFill>
          <a:ln w="12700">
            <a:solidFill>
              <a:srgbClr val="69A984"/>
            </a:solidFill>
            <a:prstDash val="solid"/>
          </a:ln>
        </p:spPr>
      </p:sp>
      <p:sp>
        <p:nvSpPr>
          <p:cNvPr id="12" name="Text 10"/>
          <p:cNvSpPr/>
          <p:nvPr/>
        </p:nvSpPr>
        <p:spPr>
          <a:xfrm>
            <a:off x="6766560" y="2478024"/>
            <a:ext cx="658368" cy="256032"/>
          </a:xfrm>
          <a:prstGeom prst="rect">
            <a:avLst/>
          </a:prstGeom>
          <a:noFill/>
          <a:ln/>
        </p:spPr>
        <p:txBody>
          <a:bodyPr wrap="square" lIns="0" tIns="0" rIns="0" bIns="0" rtlCol="0" anchor="ctr"/>
          <a:lstStyle/>
          <a:p>
            <a:pPr algn="ctr" indent="0" marL="0">
              <a:buNone/>
            </a:pPr>
            <a:r>
              <a:rPr lang="en-US" sz="900" b="1" dirty="0">
                <a:solidFill>
                  <a:srgbClr val="E8A33D"/>
                </a:solidFill>
                <a:latin typeface="Calibri" pitchFamily="34" charset="0"/>
                <a:ea typeface="Calibri" pitchFamily="34" charset="-122"/>
                <a:cs typeface="Calibri" pitchFamily="34" charset="-120"/>
              </a:rPr>
              <a:t>£ __</a:t>
            </a:r>
            <a:endParaRPr lang="en-US" sz="900" dirty="0"/>
          </a:p>
        </p:txBody>
      </p:sp>
      <p:sp>
        <p:nvSpPr>
          <p:cNvPr id="13" name="Text 11"/>
          <p:cNvSpPr/>
          <p:nvPr/>
        </p:nvSpPr>
        <p:spPr>
          <a:xfrm>
            <a:off x="4297680" y="2788920"/>
            <a:ext cx="3127248" cy="731520"/>
          </a:xfrm>
          <a:prstGeom prst="rect">
            <a:avLst/>
          </a:prstGeom>
          <a:noFill/>
          <a:ln/>
        </p:spPr>
        <p:txBody>
          <a:bodyPr wrap="square" lIns="0" tIns="0" rIns="0" bIns="0" rtlCol="0" anchor="ctr"/>
          <a:lstStyle/>
          <a:p>
            <a:pPr indent="0" marL="0">
              <a:lnSpc>
                <a:spcPts val="1250"/>
              </a:lnSpc>
              <a:buNone/>
            </a:pPr>
            <a:r>
              <a:rPr lang="en-US" sz="1000" dirty="0">
                <a:solidFill>
                  <a:srgbClr val="AFC9BB"/>
                </a:solidFill>
                <a:latin typeface="Calibri" pitchFamily="34" charset="0"/>
                <a:ea typeface="Calibri" pitchFamily="34" charset="-122"/>
                <a:cs typeface="Calibri" pitchFamily="34" charset="-120"/>
              </a:rPr>
              <a:t>The only line that bends the curve: paid student-channel marketing, campus ambassadors, and society launch support.</a:t>
            </a:r>
            <a:endParaRPr lang="en-US" sz="1000" dirty="0"/>
          </a:p>
        </p:txBody>
      </p:sp>
      <p:sp>
        <p:nvSpPr>
          <p:cNvPr id="14" name="Shape 12"/>
          <p:cNvSpPr/>
          <p:nvPr/>
        </p:nvSpPr>
        <p:spPr>
          <a:xfrm>
            <a:off x="7863840" y="2331720"/>
            <a:ext cx="3657600" cy="1280160"/>
          </a:xfrm>
          <a:prstGeom prst="roundRect">
            <a:avLst>
              <a:gd name="adj" fmla="val 6429"/>
            </a:avLst>
          </a:prstGeom>
          <a:solidFill>
            <a:srgbClr val="183325"/>
          </a:solidFill>
          <a:ln w="12700">
            <a:solidFill>
              <a:srgbClr val="2A4C39"/>
            </a:solidFill>
            <a:prstDash val="solid"/>
          </a:ln>
        </p:spPr>
      </p:sp>
      <p:sp>
        <p:nvSpPr>
          <p:cNvPr id="15" name="Text 13"/>
          <p:cNvSpPr/>
          <p:nvPr/>
        </p:nvSpPr>
        <p:spPr>
          <a:xfrm>
            <a:off x="8138160" y="2459736"/>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Legal &amp; incorporation</a:t>
            </a:r>
            <a:endParaRPr lang="en-US" sz="1300" dirty="0"/>
          </a:p>
        </p:txBody>
      </p:sp>
      <p:sp>
        <p:nvSpPr>
          <p:cNvPr id="16" name="Shape 14"/>
          <p:cNvSpPr/>
          <p:nvPr/>
        </p:nvSpPr>
        <p:spPr>
          <a:xfrm>
            <a:off x="10607040" y="2478024"/>
            <a:ext cx="658368" cy="256032"/>
          </a:xfrm>
          <a:prstGeom prst="roundRect">
            <a:avLst>
              <a:gd name="adj" fmla="val 50000"/>
            </a:avLst>
          </a:prstGeom>
          <a:solidFill>
            <a:srgbClr val="244634"/>
          </a:solidFill>
          <a:ln w="12700">
            <a:solidFill>
              <a:srgbClr val="69A984"/>
            </a:solidFill>
            <a:prstDash val="solid"/>
          </a:ln>
        </p:spPr>
      </p:sp>
      <p:sp>
        <p:nvSpPr>
          <p:cNvPr id="17" name="Text 15"/>
          <p:cNvSpPr/>
          <p:nvPr/>
        </p:nvSpPr>
        <p:spPr>
          <a:xfrm>
            <a:off x="10607040" y="2478024"/>
            <a:ext cx="658368" cy="256032"/>
          </a:xfrm>
          <a:prstGeom prst="rect">
            <a:avLst/>
          </a:prstGeom>
          <a:noFill/>
          <a:ln/>
        </p:spPr>
        <p:txBody>
          <a:bodyPr wrap="square" lIns="0" tIns="0" rIns="0" bIns="0" rtlCol="0" anchor="ctr"/>
          <a:lstStyle/>
          <a:p>
            <a:pPr algn="ctr" indent="0" marL="0">
              <a:buNone/>
            </a:pPr>
            <a:r>
              <a:rPr lang="en-US" sz="900" b="1" dirty="0">
                <a:solidFill>
                  <a:srgbClr val="E8A33D"/>
                </a:solidFill>
                <a:latin typeface="Calibri" pitchFamily="34" charset="0"/>
                <a:ea typeface="Calibri" pitchFamily="34" charset="-122"/>
                <a:cs typeface="Calibri" pitchFamily="34" charset="-120"/>
              </a:rPr>
              <a:t>£ __</a:t>
            </a:r>
            <a:endParaRPr lang="en-US" sz="900" dirty="0"/>
          </a:p>
        </p:txBody>
      </p:sp>
      <p:sp>
        <p:nvSpPr>
          <p:cNvPr id="18" name="Text 16"/>
          <p:cNvSpPr/>
          <p:nvPr/>
        </p:nvSpPr>
        <p:spPr>
          <a:xfrm>
            <a:off x="8138160" y="2788920"/>
            <a:ext cx="3127248" cy="731520"/>
          </a:xfrm>
          <a:prstGeom prst="rect">
            <a:avLst/>
          </a:prstGeom>
          <a:noFill/>
          <a:ln/>
        </p:spPr>
        <p:txBody>
          <a:bodyPr wrap="square" lIns="0" tIns="0" rIns="0" bIns="0" rtlCol="0" anchor="ctr"/>
          <a:lstStyle/>
          <a:p>
            <a:pPr indent="0" marL="0">
              <a:lnSpc>
                <a:spcPts val="1250"/>
              </a:lnSpc>
              <a:buNone/>
            </a:pPr>
            <a:r>
              <a:rPr lang="en-US" sz="1000" dirty="0">
                <a:solidFill>
                  <a:srgbClr val="AFC9BB"/>
                </a:solidFill>
                <a:latin typeface="Calibri" pitchFamily="34" charset="0"/>
                <a:ea typeface="Calibri" pitchFamily="34" charset="-122"/>
                <a:cs typeface="Calibri" pitchFamily="34" charset="-120"/>
              </a:rPr>
              <a:t>Solicitor sign-off on the drafted terms suite, incorporation, IP assignment, trademark filing.</a:t>
            </a:r>
            <a:endParaRPr lang="en-US" sz="1000" dirty="0"/>
          </a:p>
        </p:txBody>
      </p:sp>
      <p:sp>
        <p:nvSpPr>
          <p:cNvPr id="19" name="Shape 17"/>
          <p:cNvSpPr/>
          <p:nvPr/>
        </p:nvSpPr>
        <p:spPr>
          <a:xfrm>
            <a:off x="4023360" y="3749040"/>
            <a:ext cx="3657600" cy="1280160"/>
          </a:xfrm>
          <a:prstGeom prst="roundRect">
            <a:avLst>
              <a:gd name="adj" fmla="val 6429"/>
            </a:avLst>
          </a:prstGeom>
          <a:solidFill>
            <a:srgbClr val="183325"/>
          </a:solidFill>
          <a:ln w="12700">
            <a:solidFill>
              <a:srgbClr val="2A4C39"/>
            </a:solidFill>
            <a:prstDash val="solid"/>
          </a:ln>
        </p:spPr>
      </p:sp>
      <p:sp>
        <p:nvSpPr>
          <p:cNvPr id="20" name="Text 18"/>
          <p:cNvSpPr/>
          <p:nvPr/>
        </p:nvSpPr>
        <p:spPr>
          <a:xfrm>
            <a:off x="4297680" y="3877056"/>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Build-out</a:t>
            </a:r>
            <a:endParaRPr lang="en-US" sz="1300" dirty="0"/>
          </a:p>
        </p:txBody>
      </p:sp>
      <p:sp>
        <p:nvSpPr>
          <p:cNvPr id="21" name="Shape 19"/>
          <p:cNvSpPr/>
          <p:nvPr/>
        </p:nvSpPr>
        <p:spPr>
          <a:xfrm>
            <a:off x="6766560" y="3895344"/>
            <a:ext cx="658368" cy="256032"/>
          </a:xfrm>
          <a:prstGeom prst="roundRect">
            <a:avLst>
              <a:gd name="adj" fmla="val 50000"/>
            </a:avLst>
          </a:prstGeom>
          <a:solidFill>
            <a:srgbClr val="244634"/>
          </a:solidFill>
          <a:ln w="12700">
            <a:solidFill>
              <a:srgbClr val="69A984"/>
            </a:solidFill>
            <a:prstDash val="solid"/>
          </a:ln>
        </p:spPr>
      </p:sp>
      <p:sp>
        <p:nvSpPr>
          <p:cNvPr id="22" name="Text 20"/>
          <p:cNvSpPr/>
          <p:nvPr/>
        </p:nvSpPr>
        <p:spPr>
          <a:xfrm>
            <a:off x="6766560" y="3895344"/>
            <a:ext cx="658368" cy="256032"/>
          </a:xfrm>
          <a:prstGeom prst="rect">
            <a:avLst/>
          </a:prstGeom>
          <a:noFill/>
          <a:ln/>
        </p:spPr>
        <p:txBody>
          <a:bodyPr wrap="square" lIns="0" tIns="0" rIns="0" bIns="0" rtlCol="0" anchor="ctr"/>
          <a:lstStyle/>
          <a:p>
            <a:pPr algn="ctr" indent="0" marL="0">
              <a:buNone/>
            </a:pPr>
            <a:r>
              <a:rPr lang="en-US" sz="900" b="1" dirty="0">
                <a:solidFill>
                  <a:srgbClr val="E8A33D"/>
                </a:solidFill>
                <a:latin typeface="Calibri" pitchFamily="34" charset="0"/>
                <a:ea typeface="Calibri" pitchFamily="34" charset="-122"/>
                <a:cs typeface="Calibri" pitchFamily="34" charset="-120"/>
              </a:rPr>
              <a:t>£ __</a:t>
            </a:r>
            <a:endParaRPr lang="en-US" sz="900" dirty="0"/>
          </a:p>
        </p:txBody>
      </p:sp>
      <p:sp>
        <p:nvSpPr>
          <p:cNvPr id="23" name="Text 21"/>
          <p:cNvSpPr/>
          <p:nvPr/>
        </p:nvSpPr>
        <p:spPr>
          <a:xfrm>
            <a:off x="4297680" y="4206240"/>
            <a:ext cx="3127248" cy="731520"/>
          </a:xfrm>
          <a:prstGeom prst="rect">
            <a:avLst/>
          </a:prstGeom>
          <a:noFill/>
          <a:ln/>
        </p:spPr>
        <p:txBody>
          <a:bodyPr wrap="square" lIns="0" tIns="0" rIns="0" bIns="0" rtlCol="0" anchor="ctr"/>
          <a:lstStyle/>
          <a:p>
            <a:pPr indent="0" marL="0">
              <a:lnSpc>
                <a:spcPts val="1250"/>
              </a:lnSpc>
              <a:buNone/>
            </a:pPr>
            <a:r>
              <a:rPr lang="en-US" sz="1000" dirty="0">
                <a:solidFill>
                  <a:srgbClr val="AFC9BB"/>
                </a:solidFill>
                <a:latin typeface="Calibri" pitchFamily="34" charset="0"/>
                <a:ea typeface="Calibri" pitchFamily="34" charset="-122"/>
                <a:cs typeface="Calibri" pitchFamily="34" charset="-120"/>
              </a:rPr>
              <a:t>Recurring donations, refund tooling, evidence and closure workflow, society committee management.</a:t>
            </a:r>
            <a:endParaRPr lang="en-US" sz="1000" dirty="0"/>
          </a:p>
        </p:txBody>
      </p:sp>
      <p:sp>
        <p:nvSpPr>
          <p:cNvPr id="24" name="Shape 22"/>
          <p:cNvSpPr/>
          <p:nvPr/>
        </p:nvSpPr>
        <p:spPr>
          <a:xfrm>
            <a:off x="7863840" y="3749040"/>
            <a:ext cx="3657600" cy="1280160"/>
          </a:xfrm>
          <a:prstGeom prst="roundRect">
            <a:avLst>
              <a:gd name="adj" fmla="val 6429"/>
            </a:avLst>
          </a:prstGeom>
          <a:solidFill>
            <a:srgbClr val="183325"/>
          </a:solidFill>
          <a:ln w="12700">
            <a:solidFill>
              <a:srgbClr val="2A4C39"/>
            </a:solidFill>
            <a:prstDash val="solid"/>
          </a:ln>
        </p:spPr>
      </p:sp>
      <p:sp>
        <p:nvSpPr>
          <p:cNvPr id="25" name="Text 23"/>
          <p:cNvSpPr/>
          <p:nvPr/>
        </p:nvSpPr>
        <p:spPr>
          <a:xfrm>
            <a:off x="8138160" y="3877056"/>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Runway to the milestone</a:t>
            </a:r>
            <a:endParaRPr lang="en-US" sz="1300" dirty="0"/>
          </a:p>
        </p:txBody>
      </p:sp>
      <p:sp>
        <p:nvSpPr>
          <p:cNvPr id="26" name="Shape 24"/>
          <p:cNvSpPr/>
          <p:nvPr/>
        </p:nvSpPr>
        <p:spPr>
          <a:xfrm>
            <a:off x="10607040" y="3895344"/>
            <a:ext cx="658368" cy="256032"/>
          </a:xfrm>
          <a:prstGeom prst="roundRect">
            <a:avLst>
              <a:gd name="adj" fmla="val 50000"/>
            </a:avLst>
          </a:prstGeom>
          <a:solidFill>
            <a:srgbClr val="244634"/>
          </a:solidFill>
          <a:ln w="12700">
            <a:solidFill>
              <a:srgbClr val="69A984"/>
            </a:solidFill>
            <a:prstDash val="solid"/>
          </a:ln>
        </p:spPr>
      </p:sp>
      <p:sp>
        <p:nvSpPr>
          <p:cNvPr id="27" name="Text 25"/>
          <p:cNvSpPr/>
          <p:nvPr/>
        </p:nvSpPr>
        <p:spPr>
          <a:xfrm>
            <a:off x="10607040" y="3895344"/>
            <a:ext cx="658368" cy="256032"/>
          </a:xfrm>
          <a:prstGeom prst="rect">
            <a:avLst/>
          </a:prstGeom>
          <a:noFill/>
          <a:ln/>
        </p:spPr>
        <p:txBody>
          <a:bodyPr wrap="square" lIns="0" tIns="0" rIns="0" bIns="0" rtlCol="0" anchor="ctr"/>
          <a:lstStyle/>
          <a:p>
            <a:pPr algn="ctr" indent="0" marL="0">
              <a:buNone/>
            </a:pPr>
            <a:r>
              <a:rPr lang="en-US" sz="900" b="1" dirty="0">
                <a:solidFill>
                  <a:srgbClr val="E8A33D"/>
                </a:solidFill>
                <a:latin typeface="Calibri" pitchFamily="34" charset="0"/>
                <a:ea typeface="Calibri" pitchFamily="34" charset="-122"/>
                <a:cs typeface="Calibri" pitchFamily="34" charset="-120"/>
              </a:rPr>
              <a:t>£ __</a:t>
            </a:r>
            <a:endParaRPr lang="en-US" sz="900" dirty="0"/>
          </a:p>
        </p:txBody>
      </p:sp>
      <p:sp>
        <p:nvSpPr>
          <p:cNvPr id="28" name="Text 26"/>
          <p:cNvSpPr/>
          <p:nvPr/>
        </p:nvSpPr>
        <p:spPr>
          <a:xfrm>
            <a:off x="8138160" y="4206240"/>
            <a:ext cx="3127248" cy="731520"/>
          </a:xfrm>
          <a:prstGeom prst="rect">
            <a:avLst/>
          </a:prstGeom>
          <a:noFill/>
          <a:ln/>
        </p:spPr>
        <p:txBody>
          <a:bodyPr wrap="square" lIns="0" tIns="0" rIns="0" bIns="0" rtlCol="0" anchor="ctr"/>
          <a:lstStyle/>
          <a:p>
            <a:pPr indent="0" marL="0">
              <a:lnSpc>
                <a:spcPts val="1250"/>
              </a:lnSpc>
              <a:buNone/>
            </a:pPr>
            <a:r>
              <a:rPr lang="en-US" sz="1000" dirty="0">
                <a:solidFill>
                  <a:srgbClr val="AFC9BB"/>
                </a:solidFill>
                <a:latin typeface="Calibri" pitchFamily="34" charset="0"/>
                <a:ea typeface="Calibri" pitchFamily="34" charset="-122"/>
                <a:cs typeface="Calibri" pitchFamily="34" charset="-120"/>
              </a:rPr>
              <a:t>Enough months to prove repeat giving, not just first gifts — the metric that decides whether this is a business.</a:t>
            </a:r>
            <a:endParaRPr lang="en-US" sz="1000" dirty="0"/>
          </a:p>
        </p:txBody>
      </p:sp>
      <p:sp>
        <p:nvSpPr>
          <p:cNvPr id="29" name="Shape 27"/>
          <p:cNvSpPr/>
          <p:nvPr/>
        </p:nvSpPr>
        <p:spPr>
          <a:xfrm>
            <a:off x="566928" y="4572000"/>
            <a:ext cx="3200400" cy="1371600"/>
          </a:xfrm>
          <a:prstGeom prst="roundRect">
            <a:avLst>
              <a:gd name="adj" fmla="val 6667"/>
            </a:avLst>
          </a:prstGeom>
          <a:solidFill>
            <a:srgbClr val="183325"/>
          </a:solidFill>
          <a:ln w="12700">
            <a:solidFill>
              <a:srgbClr val="2A4C39"/>
            </a:solidFill>
            <a:prstDash val="solid"/>
          </a:ln>
        </p:spPr>
      </p:sp>
      <p:sp>
        <p:nvSpPr>
          <p:cNvPr id="30" name="Text 28"/>
          <p:cNvSpPr/>
          <p:nvPr/>
        </p:nvSpPr>
        <p:spPr>
          <a:xfrm>
            <a:off x="841248" y="4572000"/>
            <a:ext cx="2651760" cy="1371600"/>
          </a:xfrm>
          <a:prstGeom prst="rect">
            <a:avLst/>
          </a:prstGeom>
          <a:noFill/>
          <a:ln/>
        </p:spPr>
        <p:txBody>
          <a:bodyPr wrap="square" lIns="0" tIns="0" rIns="0" bIns="0" rtlCol="0" anchor="ctr"/>
          <a:lstStyle/>
          <a:p>
            <a:pPr indent="0" marL="0">
              <a:lnSpc>
                <a:spcPts val="1400"/>
              </a:lnSpc>
              <a:buNone/>
            </a:pPr>
            <a:r>
              <a:rPr lang="en-US" sz="1000" b="1" spc="110" kern="0" dirty="0">
                <a:solidFill>
                  <a:srgbClr val="69A984"/>
                </a:solidFill>
                <a:latin typeface="Calibri" pitchFamily="34" charset="0"/>
                <a:ea typeface="Calibri" pitchFamily="34" charset="-122"/>
                <a:cs typeface="Calibri" pitchFamily="34" charset="-120"/>
              </a:rPr>
              <a:t>What it buys you
</a:t>
            </a:r>
            <a:endParaRPr lang="en-US" sz="1000" dirty="0"/>
          </a:p>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The first proof that a generation written off by every development office in the country will give — repeatedly.</a:t>
            </a:r>
            <a:endParaRPr lang="en-US" sz="1000" dirty="0"/>
          </a:p>
        </p:txBody>
      </p:sp>
      <p:sp>
        <p:nvSpPr>
          <p:cNvPr id="31" name="Text 29"/>
          <p:cNvSpPr/>
          <p:nvPr/>
        </p:nvSpPr>
        <p:spPr>
          <a:xfrm>
            <a:off x="566928" y="6327648"/>
            <a:ext cx="11064240" cy="292608"/>
          </a:xfrm>
          <a:prstGeom prst="rect">
            <a:avLst/>
          </a:prstGeom>
          <a:noFill/>
          <a:ln/>
        </p:spPr>
        <p:txBody>
          <a:bodyPr wrap="square" lIns="0" tIns="0" rIns="0" bIns="0" rtlCol="0" anchor="ctr"/>
          <a:lstStyle/>
          <a:p>
            <a:pPr indent="0" marL="0">
              <a:buNone/>
            </a:pPr>
            <a:r>
              <a:rPr lang="en-US" sz="900" i="1" dirty="0">
                <a:solidFill>
                  <a:srgbClr val="5C7568"/>
                </a:solidFill>
                <a:latin typeface="Calibri" pitchFamily="34" charset="0"/>
                <a:ea typeface="Calibri" pitchFamily="34" charset="-122"/>
                <a:cs typeface="Calibri" pitchFamily="34" charset="-120"/>
              </a:rPr>
              <a:t>FILL BEFORE PITCHING — derive the total by working backwards from the 18-month milestone. Method in the companion script document.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8"/>
        </a:solidFill>
      </p:bgPr>
    </p:bg>
    <p:spTree>
      <p:nvGrpSpPr>
        <p:cNvPr id="1" name=""/>
        <p:cNvGrpSpPr/>
        <p:nvPr/>
      </p:nvGrpSpPr>
      <p:grpSpPr>
        <a:xfrm>
          <a:off x="0" y="0"/>
          <a:ext cx="0" cy="0"/>
          <a:chOff x="0" y="0"/>
          <a:chExt cx="0" cy="0"/>
        </a:xfrm>
      </p:grpSpPr>
      <p:sp>
        <p:nvSpPr>
          <p:cNvPr id="2" name="Shape 0"/>
          <p:cNvSpPr/>
          <p:nvPr/>
        </p:nvSpPr>
        <p:spPr>
          <a:xfrm>
            <a:off x="566928" y="384048"/>
            <a:ext cx="1783080" cy="310896"/>
          </a:xfrm>
          <a:prstGeom prst="roundRect">
            <a:avLst>
              <a:gd name="adj" fmla="val 50000"/>
            </a:avLst>
          </a:prstGeom>
          <a:solidFill>
            <a:srgbClr val="E8F5EE"/>
          </a:solidFill>
          <a:ln/>
        </p:spPr>
      </p:sp>
      <p:sp>
        <p:nvSpPr>
          <p:cNvPr id="3" name="Text 1"/>
          <p:cNvSpPr/>
          <p:nvPr/>
        </p:nvSpPr>
        <p:spPr>
          <a:xfrm>
            <a:off x="566928" y="384048"/>
            <a:ext cx="1783080" cy="310896"/>
          </a:xfrm>
          <a:prstGeom prst="rect">
            <a:avLst/>
          </a:prstGeom>
          <a:noFill/>
          <a:ln/>
        </p:spPr>
        <p:txBody>
          <a:bodyPr wrap="square" lIns="0" tIns="0" rIns="0" bIns="0" rtlCol="0" anchor="ctr"/>
          <a:lstStyle/>
          <a:p>
            <a:pPr algn="ctr" indent="0" marL="0">
              <a:buNone/>
            </a:pPr>
            <a:r>
              <a:rPr lang="en-US" sz="1000" b="1" spc="140" kern="0" dirty="0">
                <a:solidFill>
                  <a:srgbClr val="126E49"/>
                </a:solidFill>
                <a:latin typeface="Calibri" pitchFamily="34" charset="0"/>
                <a:ea typeface="Calibri" pitchFamily="34" charset="-122"/>
                <a:cs typeface="Calibri" pitchFamily="34" charset="-120"/>
              </a:rPr>
              <a:t>THE TEAM</a:t>
            </a:r>
            <a:endParaRPr lang="en-US" sz="1000" dirty="0"/>
          </a:p>
        </p:txBody>
      </p:sp>
      <p:sp>
        <p:nvSpPr>
          <p:cNvPr id="4" name="Text 2"/>
          <p:cNvSpPr/>
          <p:nvPr/>
        </p:nvSpPr>
        <p:spPr>
          <a:xfrm>
            <a:off x="548640" y="841248"/>
            <a:ext cx="10607040" cy="868680"/>
          </a:xfrm>
          <a:prstGeom prst="rect">
            <a:avLst/>
          </a:prstGeom>
          <a:noFill/>
          <a:ln/>
        </p:spPr>
        <p:txBody>
          <a:bodyPr wrap="square" lIns="0" tIns="0" rIns="0" bIns="0" rtlCol="0" anchor="t"/>
          <a:lstStyle/>
          <a:p>
            <a:pPr indent="0" marL="0">
              <a:buNone/>
            </a:pPr>
            <a:r>
              <a:rPr lang="en-US" sz="3400" b="1" dirty="0">
                <a:solidFill>
                  <a:srgbClr val="17211B"/>
                </a:solidFill>
                <a:latin typeface="Cambria" pitchFamily="34" charset="0"/>
                <a:ea typeface="Cambria" pitchFamily="34" charset="-122"/>
                <a:cs typeface="Cambria" pitchFamily="34" charset="-120"/>
              </a:rPr>
              <a:t>Four people who have each paid for this problem.</a:t>
            </a:r>
            <a:endParaRPr lang="en-US" sz="3400" dirty="0"/>
          </a:p>
        </p:txBody>
      </p:sp>
      <p:sp>
        <p:nvSpPr>
          <p:cNvPr id="5" name="Text 3"/>
          <p:cNvSpPr/>
          <p:nvPr/>
        </p:nvSpPr>
        <p:spPr>
          <a:xfrm>
            <a:off x="566928" y="1691640"/>
            <a:ext cx="10424160" cy="457200"/>
          </a:xfrm>
          <a:prstGeom prst="rect">
            <a:avLst/>
          </a:prstGeom>
          <a:noFill/>
          <a:ln/>
        </p:spPr>
        <p:txBody>
          <a:bodyPr wrap="square" lIns="0" tIns="0" rIns="0" bIns="0" rtlCol="0" anchor="ctr"/>
          <a:lstStyle/>
          <a:p>
            <a:pPr indent="0" marL="0">
              <a:buNone/>
            </a:pPr>
            <a:r>
              <a:rPr lang="en-US" sz="1500" dirty="0">
                <a:solidFill>
                  <a:srgbClr val="56615A"/>
                </a:solidFill>
                <a:latin typeface="Calibri" pitchFamily="34" charset="0"/>
                <a:ea typeface="Calibri" pitchFamily="34" charset="-122"/>
                <a:cs typeface="Calibri" pitchFamily="34" charset="-120"/>
              </a:rPr>
              <a:t>We are not researching this market. We are it.</a:t>
            </a:r>
            <a:endParaRPr lang="en-US" sz="1500" dirty="0"/>
          </a:p>
        </p:txBody>
      </p:sp>
      <p:sp>
        <p:nvSpPr>
          <p:cNvPr id="6" name="Shape 4"/>
          <p:cNvSpPr/>
          <p:nvPr/>
        </p:nvSpPr>
        <p:spPr>
          <a:xfrm>
            <a:off x="566928" y="2286000"/>
            <a:ext cx="2560320" cy="3063240"/>
          </a:xfrm>
          <a:prstGeom prst="roundRect">
            <a:avLst>
              <a:gd name="adj" fmla="val 321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7" name="Shape 5"/>
          <p:cNvSpPr/>
          <p:nvPr/>
        </p:nvSpPr>
        <p:spPr>
          <a:xfrm>
            <a:off x="1435608" y="2542032"/>
            <a:ext cx="822960" cy="822960"/>
          </a:xfrm>
          <a:prstGeom prst="ellipse">
            <a:avLst/>
          </a:prstGeom>
          <a:solidFill>
            <a:srgbClr val="E8F5EE"/>
          </a:solidFill>
          <a:ln w="12700">
            <a:solidFill>
              <a:srgbClr val="DDE6E0"/>
            </a:solidFill>
            <a:prstDash val="solid"/>
          </a:ln>
        </p:spPr>
      </p:sp>
      <p:sp>
        <p:nvSpPr>
          <p:cNvPr id="8" name="Text 6"/>
          <p:cNvSpPr/>
          <p:nvPr/>
        </p:nvSpPr>
        <p:spPr>
          <a:xfrm>
            <a:off x="1435608" y="2542032"/>
            <a:ext cx="822960" cy="822960"/>
          </a:xfrm>
          <a:prstGeom prst="rect">
            <a:avLst/>
          </a:prstGeom>
          <a:noFill/>
          <a:ln/>
        </p:spPr>
        <p:txBody>
          <a:bodyPr wrap="square" lIns="0" tIns="0" rIns="0" bIns="0" rtlCol="0" anchor="ctr"/>
          <a:lstStyle/>
          <a:p>
            <a:pPr algn="ctr" indent="0" marL="0">
              <a:buNone/>
            </a:pPr>
            <a:r>
              <a:rPr lang="en-US" sz="800" dirty="0">
                <a:solidFill>
                  <a:srgbClr val="69A984"/>
                </a:solidFill>
                <a:latin typeface="Calibri" pitchFamily="34" charset="0"/>
                <a:ea typeface="Calibri" pitchFamily="34" charset="-122"/>
                <a:cs typeface="Calibri" pitchFamily="34" charset="-120"/>
              </a:rPr>
              <a:t>[photo]</a:t>
            </a:r>
            <a:endParaRPr lang="en-US" sz="800" dirty="0"/>
          </a:p>
        </p:txBody>
      </p:sp>
      <p:sp>
        <p:nvSpPr>
          <p:cNvPr id="9" name="Text 7"/>
          <p:cNvSpPr/>
          <p:nvPr/>
        </p:nvSpPr>
        <p:spPr>
          <a:xfrm>
            <a:off x="749808" y="3456432"/>
            <a:ext cx="2194560" cy="329184"/>
          </a:xfrm>
          <a:prstGeom prst="rect">
            <a:avLst/>
          </a:prstGeom>
          <a:noFill/>
          <a:ln/>
        </p:spPr>
        <p:txBody>
          <a:bodyPr wrap="square" lIns="0" tIns="0" rIns="0" bIns="0" rtlCol="0" anchor="ctr"/>
          <a:lstStyle/>
          <a:p>
            <a:pPr algn="ctr" indent="0" marL="0">
              <a:buNone/>
            </a:pPr>
            <a:r>
              <a:rPr lang="en-US" sz="1900" b="1" dirty="0">
                <a:solidFill>
                  <a:srgbClr val="17211B"/>
                </a:solidFill>
                <a:latin typeface="Cambria" pitchFamily="34" charset="0"/>
                <a:ea typeface="Cambria" pitchFamily="34" charset="-122"/>
                <a:cs typeface="Cambria" pitchFamily="34" charset="-120"/>
              </a:rPr>
              <a:t>Sashank</a:t>
            </a:r>
            <a:endParaRPr lang="en-US" sz="1900" dirty="0"/>
          </a:p>
        </p:txBody>
      </p:sp>
      <p:sp>
        <p:nvSpPr>
          <p:cNvPr id="10" name="Text 8"/>
          <p:cNvSpPr/>
          <p:nvPr/>
        </p:nvSpPr>
        <p:spPr>
          <a:xfrm>
            <a:off x="749808" y="3776472"/>
            <a:ext cx="2194560" cy="237744"/>
          </a:xfrm>
          <a:prstGeom prst="rect">
            <a:avLst/>
          </a:prstGeom>
          <a:noFill/>
          <a:ln/>
        </p:spPr>
        <p:txBody>
          <a:bodyPr wrap="square" lIns="0" tIns="0" rIns="0" bIns="0" rtlCol="0" anchor="ctr"/>
          <a:lstStyle/>
          <a:p>
            <a:pPr algn="ctr" indent="0" marL="0">
              <a:buNone/>
            </a:pPr>
            <a:r>
              <a:rPr lang="en-US" sz="1000" dirty="0">
                <a:solidFill>
                  <a:srgbClr val="56615A"/>
                </a:solidFill>
                <a:latin typeface="Calibri" pitchFamily="34" charset="0"/>
                <a:ea typeface="Calibri" pitchFamily="34" charset="-122"/>
                <a:cs typeface="Calibri" pitchFamily="34" charset="-120"/>
              </a:rPr>
              <a:t>Medicine</a:t>
            </a:r>
            <a:endParaRPr lang="en-US" sz="1000" dirty="0"/>
          </a:p>
        </p:txBody>
      </p:sp>
      <p:sp>
        <p:nvSpPr>
          <p:cNvPr id="11" name="Shape 9"/>
          <p:cNvSpPr/>
          <p:nvPr/>
        </p:nvSpPr>
        <p:spPr>
          <a:xfrm>
            <a:off x="932688" y="4069080"/>
            <a:ext cx="1828800" cy="310896"/>
          </a:xfrm>
          <a:prstGeom prst="roundRect">
            <a:avLst>
              <a:gd name="adj" fmla="val 50000"/>
            </a:avLst>
          </a:prstGeom>
          <a:solidFill>
            <a:srgbClr val="168456"/>
          </a:solidFill>
          <a:ln/>
        </p:spPr>
      </p:sp>
      <p:sp>
        <p:nvSpPr>
          <p:cNvPr id="12" name="Text 10"/>
          <p:cNvSpPr/>
          <p:nvPr/>
        </p:nvSpPr>
        <p:spPr>
          <a:xfrm>
            <a:off x="932688" y="4069080"/>
            <a:ext cx="18288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The customer</a:t>
            </a:r>
            <a:endParaRPr lang="en-US" sz="950" dirty="0"/>
          </a:p>
        </p:txBody>
      </p:sp>
      <p:sp>
        <p:nvSpPr>
          <p:cNvPr id="13" name="Text 11"/>
          <p:cNvSpPr/>
          <p:nvPr/>
        </p:nvSpPr>
        <p:spPr>
          <a:xfrm>
            <a:off x="795528" y="4480560"/>
            <a:ext cx="2121408" cy="777240"/>
          </a:xfrm>
          <a:prstGeom prst="rect">
            <a:avLst/>
          </a:prstGeom>
          <a:noFill/>
          <a:ln/>
        </p:spPr>
        <p:txBody>
          <a:bodyPr wrap="square" lIns="0" tIns="0" rIns="0" bIns="0" rtlCol="0" anchor="ctr"/>
          <a:lstStyle/>
          <a:p>
            <a:pPr algn="ctr" indent="0" marL="0">
              <a:lnSpc>
                <a:spcPts val="1200"/>
              </a:lnSpc>
              <a:buNone/>
            </a:pPr>
            <a:r>
              <a:rPr lang="en-US" sz="950" dirty="0">
                <a:solidFill>
                  <a:srgbClr val="56615A"/>
                </a:solidFill>
                <a:latin typeface="Calibri" pitchFamily="34" charset="0"/>
                <a:ea typeface="Calibri" pitchFamily="34" charset="-122"/>
                <a:cs typeface="Calibri" pitchFamily="34" charset="-120"/>
              </a:rPr>
              <a:t>Ran a society, paid £400 out of pocket to represent Oxford abroad. Built the 11-college research programme.</a:t>
            </a:r>
            <a:endParaRPr lang="en-US" sz="950" dirty="0"/>
          </a:p>
        </p:txBody>
      </p:sp>
      <p:sp>
        <p:nvSpPr>
          <p:cNvPr id="14" name="Shape 12"/>
          <p:cNvSpPr/>
          <p:nvPr/>
        </p:nvSpPr>
        <p:spPr>
          <a:xfrm>
            <a:off x="3364992" y="2286000"/>
            <a:ext cx="2560320" cy="3063240"/>
          </a:xfrm>
          <a:prstGeom prst="roundRect">
            <a:avLst>
              <a:gd name="adj" fmla="val 321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15" name="Shape 13"/>
          <p:cNvSpPr/>
          <p:nvPr/>
        </p:nvSpPr>
        <p:spPr>
          <a:xfrm>
            <a:off x="4233672" y="2542032"/>
            <a:ext cx="822960" cy="822960"/>
          </a:xfrm>
          <a:prstGeom prst="ellipse">
            <a:avLst/>
          </a:prstGeom>
          <a:solidFill>
            <a:srgbClr val="E8F5EE"/>
          </a:solidFill>
          <a:ln w="12700">
            <a:solidFill>
              <a:srgbClr val="DDE6E0"/>
            </a:solidFill>
            <a:prstDash val="solid"/>
          </a:ln>
        </p:spPr>
      </p:sp>
      <p:sp>
        <p:nvSpPr>
          <p:cNvPr id="16" name="Text 14"/>
          <p:cNvSpPr/>
          <p:nvPr/>
        </p:nvSpPr>
        <p:spPr>
          <a:xfrm>
            <a:off x="4233672" y="2542032"/>
            <a:ext cx="822960" cy="822960"/>
          </a:xfrm>
          <a:prstGeom prst="rect">
            <a:avLst/>
          </a:prstGeom>
          <a:noFill/>
          <a:ln/>
        </p:spPr>
        <p:txBody>
          <a:bodyPr wrap="square" lIns="0" tIns="0" rIns="0" bIns="0" rtlCol="0" anchor="ctr"/>
          <a:lstStyle/>
          <a:p>
            <a:pPr algn="ctr" indent="0" marL="0">
              <a:buNone/>
            </a:pPr>
            <a:r>
              <a:rPr lang="en-US" sz="800" dirty="0">
                <a:solidFill>
                  <a:srgbClr val="69A984"/>
                </a:solidFill>
                <a:latin typeface="Calibri" pitchFamily="34" charset="0"/>
                <a:ea typeface="Calibri" pitchFamily="34" charset="-122"/>
                <a:cs typeface="Calibri" pitchFamily="34" charset="-120"/>
              </a:rPr>
              <a:t>[photo]</a:t>
            </a:r>
            <a:endParaRPr lang="en-US" sz="800" dirty="0"/>
          </a:p>
        </p:txBody>
      </p:sp>
      <p:sp>
        <p:nvSpPr>
          <p:cNvPr id="17" name="Text 15"/>
          <p:cNvSpPr/>
          <p:nvPr/>
        </p:nvSpPr>
        <p:spPr>
          <a:xfrm>
            <a:off x="3547872" y="3456432"/>
            <a:ext cx="2194560" cy="329184"/>
          </a:xfrm>
          <a:prstGeom prst="rect">
            <a:avLst/>
          </a:prstGeom>
          <a:noFill/>
          <a:ln/>
        </p:spPr>
        <p:txBody>
          <a:bodyPr wrap="square" lIns="0" tIns="0" rIns="0" bIns="0" rtlCol="0" anchor="ctr"/>
          <a:lstStyle/>
          <a:p>
            <a:pPr algn="ctr" indent="0" marL="0">
              <a:buNone/>
            </a:pPr>
            <a:r>
              <a:rPr lang="en-US" sz="1900" b="1" dirty="0">
                <a:solidFill>
                  <a:srgbClr val="17211B"/>
                </a:solidFill>
                <a:latin typeface="Cambria" pitchFamily="34" charset="0"/>
                <a:ea typeface="Cambria" pitchFamily="34" charset="-122"/>
                <a:cs typeface="Cambria" pitchFamily="34" charset="-120"/>
              </a:rPr>
              <a:t>Amrit</a:t>
            </a:r>
            <a:endParaRPr lang="en-US" sz="1900" dirty="0"/>
          </a:p>
        </p:txBody>
      </p:sp>
      <p:sp>
        <p:nvSpPr>
          <p:cNvPr id="18" name="Text 16"/>
          <p:cNvSpPr/>
          <p:nvPr/>
        </p:nvSpPr>
        <p:spPr>
          <a:xfrm>
            <a:off x="3547872" y="3776472"/>
            <a:ext cx="2194560" cy="237744"/>
          </a:xfrm>
          <a:prstGeom prst="rect">
            <a:avLst/>
          </a:prstGeom>
          <a:noFill/>
          <a:ln/>
        </p:spPr>
        <p:txBody>
          <a:bodyPr wrap="square" lIns="0" tIns="0" rIns="0" bIns="0" rtlCol="0" anchor="ctr"/>
          <a:lstStyle/>
          <a:p>
            <a:pPr algn="ctr" indent="0" marL="0">
              <a:buNone/>
            </a:pPr>
            <a:r>
              <a:rPr lang="en-US" sz="1000" dirty="0">
                <a:solidFill>
                  <a:srgbClr val="56615A"/>
                </a:solidFill>
                <a:latin typeface="Calibri" pitchFamily="34" charset="0"/>
                <a:ea typeface="Calibri" pitchFamily="34" charset="-122"/>
                <a:cs typeface="Calibri" pitchFamily="34" charset="-120"/>
              </a:rPr>
              <a:t>Accountable lead</a:t>
            </a:r>
            <a:endParaRPr lang="en-US" sz="1000" dirty="0"/>
          </a:p>
        </p:txBody>
      </p:sp>
      <p:sp>
        <p:nvSpPr>
          <p:cNvPr id="19" name="Shape 17"/>
          <p:cNvSpPr/>
          <p:nvPr/>
        </p:nvSpPr>
        <p:spPr>
          <a:xfrm>
            <a:off x="3730752" y="4069080"/>
            <a:ext cx="1828800" cy="310896"/>
          </a:xfrm>
          <a:prstGeom prst="roundRect">
            <a:avLst>
              <a:gd name="adj" fmla="val 50000"/>
            </a:avLst>
          </a:prstGeom>
          <a:solidFill>
            <a:srgbClr val="168456"/>
          </a:solidFill>
          <a:ln/>
        </p:spPr>
      </p:sp>
      <p:sp>
        <p:nvSpPr>
          <p:cNvPr id="20" name="Text 18"/>
          <p:cNvSpPr/>
          <p:nvPr/>
        </p:nvSpPr>
        <p:spPr>
          <a:xfrm>
            <a:off x="3730752" y="4069080"/>
            <a:ext cx="18288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Trust &amp; governance</a:t>
            </a:r>
            <a:endParaRPr lang="en-US" sz="950" dirty="0"/>
          </a:p>
        </p:txBody>
      </p:sp>
      <p:sp>
        <p:nvSpPr>
          <p:cNvPr id="21" name="Text 19"/>
          <p:cNvSpPr/>
          <p:nvPr/>
        </p:nvSpPr>
        <p:spPr>
          <a:xfrm>
            <a:off x="3593592" y="4480560"/>
            <a:ext cx="2121408" cy="777240"/>
          </a:xfrm>
          <a:prstGeom prst="rect">
            <a:avLst/>
          </a:prstGeom>
          <a:noFill/>
          <a:ln/>
        </p:spPr>
        <p:txBody>
          <a:bodyPr wrap="square" lIns="0" tIns="0" rIns="0" bIns="0" rtlCol="0" anchor="ctr"/>
          <a:lstStyle/>
          <a:p>
            <a:pPr algn="ctr" indent="0" marL="0">
              <a:lnSpc>
                <a:spcPts val="1200"/>
              </a:lnSpc>
              <a:buNone/>
            </a:pPr>
            <a:r>
              <a:rPr lang="en-US" sz="950" dirty="0">
                <a:solidFill>
                  <a:srgbClr val="56615A"/>
                </a:solidFill>
                <a:latin typeface="Calibri" pitchFamily="34" charset="0"/>
                <a:ea typeface="Calibri" pitchFamily="34" charset="-122"/>
                <a:cs typeface="Calibri" pitchFamily="34" charset="-120"/>
              </a:rPr>
              <a:t>Owns online safety, data protection and financial crime. Wrote the nine-document policy suite this platform runs on.</a:t>
            </a:r>
            <a:endParaRPr lang="en-US" sz="950" dirty="0"/>
          </a:p>
        </p:txBody>
      </p:sp>
      <p:sp>
        <p:nvSpPr>
          <p:cNvPr id="22" name="Shape 20"/>
          <p:cNvSpPr/>
          <p:nvPr/>
        </p:nvSpPr>
        <p:spPr>
          <a:xfrm>
            <a:off x="6163056" y="2286000"/>
            <a:ext cx="2560320" cy="3063240"/>
          </a:xfrm>
          <a:prstGeom prst="roundRect">
            <a:avLst>
              <a:gd name="adj" fmla="val 321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23" name="Shape 21"/>
          <p:cNvSpPr/>
          <p:nvPr/>
        </p:nvSpPr>
        <p:spPr>
          <a:xfrm>
            <a:off x="7031736" y="2542032"/>
            <a:ext cx="822960" cy="822960"/>
          </a:xfrm>
          <a:prstGeom prst="ellipse">
            <a:avLst/>
          </a:prstGeom>
          <a:solidFill>
            <a:srgbClr val="E8F5EE"/>
          </a:solidFill>
          <a:ln w="12700">
            <a:solidFill>
              <a:srgbClr val="DDE6E0"/>
            </a:solidFill>
            <a:prstDash val="solid"/>
          </a:ln>
        </p:spPr>
      </p:sp>
      <p:sp>
        <p:nvSpPr>
          <p:cNvPr id="24" name="Text 22"/>
          <p:cNvSpPr/>
          <p:nvPr/>
        </p:nvSpPr>
        <p:spPr>
          <a:xfrm>
            <a:off x="7031736" y="2542032"/>
            <a:ext cx="822960" cy="822960"/>
          </a:xfrm>
          <a:prstGeom prst="rect">
            <a:avLst/>
          </a:prstGeom>
          <a:noFill/>
          <a:ln/>
        </p:spPr>
        <p:txBody>
          <a:bodyPr wrap="square" lIns="0" tIns="0" rIns="0" bIns="0" rtlCol="0" anchor="ctr"/>
          <a:lstStyle/>
          <a:p>
            <a:pPr algn="ctr" indent="0" marL="0">
              <a:buNone/>
            </a:pPr>
            <a:r>
              <a:rPr lang="en-US" sz="800" dirty="0">
                <a:solidFill>
                  <a:srgbClr val="69A984"/>
                </a:solidFill>
                <a:latin typeface="Calibri" pitchFamily="34" charset="0"/>
                <a:ea typeface="Calibri" pitchFamily="34" charset="-122"/>
                <a:cs typeface="Calibri" pitchFamily="34" charset="-120"/>
              </a:rPr>
              <a:t>[photo]</a:t>
            </a:r>
            <a:endParaRPr lang="en-US" sz="800" dirty="0"/>
          </a:p>
        </p:txBody>
      </p:sp>
      <p:sp>
        <p:nvSpPr>
          <p:cNvPr id="25" name="Text 23"/>
          <p:cNvSpPr/>
          <p:nvPr/>
        </p:nvSpPr>
        <p:spPr>
          <a:xfrm>
            <a:off x="6345936" y="3456432"/>
            <a:ext cx="2194560" cy="329184"/>
          </a:xfrm>
          <a:prstGeom prst="rect">
            <a:avLst/>
          </a:prstGeom>
          <a:noFill/>
          <a:ln/>
        </p:spPr>
        <p:txBody>
          <a:bodyPr wrap="square" lIns="0" tIns="0" rIns="0" bIns="0" rtlCol="0" anchor="ctr"/>
          <a:lstStyle/>
          <a:p>
            <a:pPr algn="ctr" indent="0" marL="0">
              <a:buNone/>
            </a:pPr>
            <a:r>
              <a:rPr lang="en-US" sz="1900" b="1" dirty="0">
                <a:solidFill>
                  <a:srgbClr val="17211B"/>
                </a:solidFill>
                <a:latin typeface="Cambria" pitchFamily="34" charset="0"/>
                <a:ea typeface="Cambria" pitchFamily="34" charset="-122"/>
                <a:cs typeface="Cambria" pitchFamily="34" charset="-120"/>
              </a:rPr>
              <a:t>Joe</a:t>
            </a:r>
            <a:endParaRPr lang="en-US" sz="1900" dirty="0"/>
          </a:p>
        </p:txBody>
      </p:sp>
      <p:sp>
        <p:nvSpPr>
          <p:cNvPr id="26" name="Text 24"/>
          <p:cNvSpPr/>
          <p:nvPr/>
        </p:nvSpPr>
        <p:spPr>
          <a:xfrm>
            <a:off x="6345936" y="3776472"/>
            <a:ext cx="2194560" cy="237744"/>
          </a:xfrm>
          <a:prstGeom prst="rect">
            <a:avLst/>
          </a:prstGeom>
          <a:noFill/>
          <a:ln/>
        </p:spPr>
        <p:txBody>
          <a:bodyPr wrap="square" lIns="0" tIns="0" rIns="0" bIns="0" rtlCol="0" anchor="ctr"/>
          <a:lstStyle/>
          <a:p>
            <a:pPr algn="ctr" indent="0" marL="0">
              <a:buNone/>
            </a:pPr>
            <a:r>
              <a:rPr lang="en-US" sz="1000" dirty="0">
                <a:solidFill>
                  <a:srgbClr val="56615A"/>
                </a:solidFill>
                <a:latin typeface="Calibri" pitchFamily="34" charset="0"/>
                <a:ea typeface="Calibri" pitchFamily="34" charset="-122"/>
                <a:cs typeface="Calibri" pitchFamily="34" charset="-120"/>
              </a:rPr>
              <a:t>Engineering</a:t>
            </a:r>
            <a:endParaRPr lang="en-US" sz="1000" dirty="0"/>
          </a:p>
        </p:txBody>
      </p:sp>
      <p:sp>
        <p:nvSpPr>
          <p:cNvPr id="27" name="Shape 25"/>
          <p:cNvSpPr/>
          <p:nvPr/>
        </p:nvSpPr>
        <p:spPr>
          <a:xfrm>
            <a:off x="6528816" y="4069080"/>
            <a:ext cx="1828800" cy="310896"/>
          </a:xfrm>
          <a:prstGeom prst="roundRect">
            <a:avLst>
              <a:gd name="adj" fmla="val 50000"/>
            </a:avLst>
          </a:prstGeom>
          <a:solidFill>
            <a:srgbClr val="168456"/>
          </a:solidFill>
          <a:ln/>
        </p:spPr>
      </p:sp>
      <p:sp>
        <p:nvSpPr>
          <p:cNvPr id="28" name="Text 26"/>
          <p:cNvSpPr/>
          <p:nvPr/>
        </p:nvSpPr>
        <p:spPr>
          <a:xfrm>
            <a:off x="6528816" y="4069080"/>
            <a:ext cx="18288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Ships it</a:t>
            </a:r>
            <a:endParaRPr lang="en-US" sz="950" dirty="0"/>
          </a:p>
        </p:txBody>
      </p:sp>
      <p:sp>
        <p:nvSpPr>
          <p:cNvPr id="29" name="Text 27"/>
          <p:cNvSpPr/>
          <p:nvPr/>
        </p:nvSpPr>
        <p:spPr>
          <a:xfrm>
            <a:off x="6391656" y="4480560"/>
            <a:ext cx="2121408" cy="777240"/>
          </a:xfrm>
          <a:prstGeom prst="rect">
            <a:avLst/>
          </a:prstGeom>
          <a:noFill/>
          <a:ln/>
        </p:spPr>
        <p:txBody>
          <a:bodyPr wrap="square" lIns="0" tIns="0" rIns="0" bIns="0" rtlCol="0" anchor="ctr"/>
          <a:lstStyle/>
          <a:p>
            <a:pPr algn="ctr" indent="0" marL="0">
              <a:lnSpc>
                <a:spcPts val="1200"/>
              </a:lnSpc>
              <a:buNone/>
            </a:pPr>
            <a:r>
              <a:rPr lang="en-US" sz="950" dirty="0">
                <a:solidFill>
                  <a:srgbClr val="56615A"/>
                </a:solidFill>
                <a:latin typeface="Calibri" pitchFamily="34" charset="0"/>
                <a:ea typeface="Calibri" pitchFamily="34" charset="-122"/>
                <a:cs typeface="Calibri" pitchFamily="34" charset="-120"/>
              </a:rPr>
              <a:t>Commercial software engineering (Matrix42). Owns the payments architecture and the systems thinking behind it.</a:t>
            </a:r>
            <a:endParaRPr lang="en-US" sz="950" dirty="0"/>
          </a:p>
        </p:txBody>
      </p:sp>
      <p:sp>
        <p:nvSpPr>
          <p:cNvPr id="30" name="Shape 28"/>
          <p:cNvSpPr/>
          <p:nvPr/>
        </p:nvSpPr>
        <p:spPr>
          <a:xfrm>
            <a:off x="8961120" y="2286000"/>
            <a:ext cx="2560320" cy="3063240"/>
          </a:xfrm>
          <a:prstGeom prst="roundRect">
            <a:avLst>
              <a:gd name="adj" fmla="val 3214"/>
            </a:avLst>
          </a:prstGeom>
          <a:solidFill>
            <a:srgbClr val="FFFFFF"/>
          </a:solidFill>
          <a:ln w="12700">
            <a:solidFill>
              <a:srgbClr val="DDE6E0"/>
            </a:solidFill>
            <a:prstDash val="solid"/>
          </a:ln>
          <a:effectLst>
            <a:outerShdw sx="100000" sy="100000" kx="0" ky="0" algn="bl" rotWithShape="0" blurRad="152400" dist="25400" dir="5400000">
              <a:srgbClr val="9BB0A4">
                <a:alpha val="22000"/>
              </a:srgbClr>
            </a:outerShdw>
          </a:effectLst>
        </p:spPr>
      </p:sp>
      <p:sp>
        <p:nvSpPr>
          <p:cNvPr id="31" name="Shape 29"/>
          <p:cNvSpPr/>
          <p:nvPr/>
        </p:nvSpPr>
        <p:spPr>
          <a:xfrm>
            <a:off x="9829800" y="2542032"/>
            <a:ext cx="822960" cy="822960"/>
          </a:xfrm>
          <a:prstGeom prst="ellipse">
            <a:avLst/>
          </a:prstGeom>
          <a:solidFill>
            <a:srgbClr val="E8F5EE"/>
          </a:solidFill>
          <a:ln w="12700">
            <a:solidFill>
              <a:srgbClr val="DDE6E0"/>
            </a:solidFill>
            <a:prstDash val="solid"/>
          </a:ln>
        </p:spPr>
      </p:sp>
      <p:sp>
        <p:nvSpPr>
          <p:cNvPr id="32" name="Text 30"/>
          <p:cNvSpPr/>
          <p:nvPr/>
        </p:nvSpPr>
        <p:spPr>
          <a:xfrm>
            <a:off x="9829800" y="2542032"/>
            <a:ext cx="822960" cy="822960"/>
          </a:xfrm>
          <a:prstGeom prst="rect">
            <a:avLst/>
          </a:prstGeom>
          <a:noFill/>
          <a:ln/>
        </p:spPr>
        <p:txBody>
          <a:bodyPr wrap="square" lIns="0" tIns="0" rIns="0" bIns="0" rtlCol="0" anchor="ctr"/>
          <a:lstStyle/>
          <a:p>
            <a:pPr algn="ctr" indent="0" marL="0">
              <a:buNone/>
            </a:pPr>
            <a:r>
              <a:rPr lang="en-US" sz="800" dirty="0">
                <a:solidFill>
                  <a:srgbClr val="69A984"/>
                </a:solidFill>
                <a:latin typeface="Calibri" pitchFamily="34" charset="0"/>
                <a:ea typeface="Calibri" pitchFamily="34" charset="-122"/>
                <a:cs typeface="Calibri" pitchFamily="34" charset="-120"/>
              </a:rPr>
              <a:t>[photo]</a:t>
            </a:r>
            <a:endParaRPr lang="en-US" sz="800" dirty="0"/>
          </a:p>
        </p:txBody>
      </p:sp>
      <p:sp>
        <p:nvSpPr>
          <p:cNvPr id="33" name="Text 31"/>
          <p:cNvSpPr/>
          <p:nvPr/>
        </p:nvSpPr>
        <p:spPr>
          <a:xfrm>
            <a:off x="9144000" y="3456432"/>
            <a:ext cx="2194560" cy="329184"/>
          </a:xfrm>
          <a:prstGeom prst="rect">
            <a:avLst/>
          </a:prstGeom>
          <a:noFill/>
          <a:ln/>
        </p:spPr>
        <p:txBody>
          <a:bodyPr wrap="square" lIns="0" tIns="0" rIns="0" bIns="0" rtlCol="0" anchor="ctr"/>
          <a:lstStyle/>
          <a:p>
            <a:pPr algn="ctr" indent="0" marL="0">
              <a:buNone/>
            </a:pPr>
            <a:r>
              <a:rPr lang="en-US" sz="1900" b="1" dirty="0">
                <a:solidFill>
                  <a:srgbClr val="17211B"/>
                </a:solidFill>
                <a:latin typeface="Cambria" pitchFamily="34" charset="0"/>
                <a:ea typeface="Cambria" pitchFamily="34" charset="-122"/>
                <a:cs typeface="Cambria" pitchFamily="34" charset="-120"/>
              </a:rPr>
              <a:t>Juyeon</a:t>
            </a:r>
            <a:endParaRPr lang="en-US" sz="1900" dirty="0"/>
          </a:p>
        </p:txBody>
      </p:sp>
      <p:sp>
        <p:nvSpPr>
          <p:cNvPr id="34" name="Text 32"/>
          <p:cNvSpPr/>
          <p:nvPr/>
        </p:nvSpPr>
        <p:spPr>
          <a:xfrm>
            <a:off x="9144000" y="3776472"/>
            <a:ext cx="2194560" cy="237744"/>
          </a:xfrm>
          <a:prstGeom prst="rect">
            <a:avLst/>
          </a:prstGeom>
          <a:noFill/>
          <a:ln/>
        </p:spPr>
        <p:txBody>
          <a:bodyPr wrap="square" lIns="0" tIns="0" rIns="0" bIns="0" rtlCol="0" anchor="ctr"/>
          <a:lstStyle/>
          <a:p>
            <a:pPr algn="ctr" indent="0" marL="0">
              <a:buNone/>
            </a:pPr>
            <a:r>
              <a:rPr lang="en-US" sz="1000" dirty="0">
                <a:solidFill>
                  <a:srgbClr val="56615A"/>
                </a:solidFill>
                <a:latin typeface="Calibri" pitchFamily="34" charset="0"/>
                <a:ea typeface="Calibri" pitchFamily="34" charset="-122"/>
                <a:cs typeface="Calibri" pitchFamily="34" charset="-120"/>
              </a:rPr>
              <a:t>Product &amp; design</a:t>
            </a:r>
            <a:endParaRPr lang="en-US" sz="1000" dirty="0"/>
          </a:p>
        </p:txBody>
      </p:sp>
      <p:sp>
        <p:nvSpPr>
          <p:cNvPr id="35" name="Shape 33"/>
          <p:cNvSpPr/>
          <p:nvPr/>
        </p:nvSpPr>
        <p:spPr>
          <a:xfrm>
            <a:off x="9326880" y="4069080"/>
            <a:ext cx="1828800" cy="310896"/>
          </a:xfrm>
          <a:prstGeom prst="roundRect">
            <a:avLst>
              <a:gd name="adj" fmla="val 50000"/>
            </a:avLst>
          </a:prstGeom>
          <a:solidFill>
            <a:srgbClr val="168456"/>
          </a:solidFill>
          <a:ln/>
        </p:spPr>
      </p:sp>
      <p:sp>
        <p:nvSpPr>
          <p:cNvPr id="36" name="Text 34"/>
          <p:cNvSpPr/>
          <p:nvPr/>
        </p:nvSpPr>
        <p:spPr>
          <a:xfrm>
            <a:off x="9326880" y="4069080"/>
            <a:ext cx="182880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Student distribution</a:t>
            </a:r>
            <a:endParaRPr lang="en-US" sz="950" dirty="0"/>
          </a:p>
        </p:txBody>
      </p:sp>
      <p:sp>
        <p:nvSpPr>
          <p:cNvPr id="37" name="Text 35"/>
          <p:cNvSpPr/>
          <p:nvPr/>
        </p:nvSpPr>
        <p:spPr>
          <a:xfrm>
            <a:off x="9189720" y="4480560"/>
            <a:ext cx="2121408" cy="777240"/>
          </a:xfrm>
          <a:prstGeom prst="rect">
            <a:avLst/>
          </a:prstGeom>
          <a:noFill/>
          <a:ln/>
        </p:spPr>
        <p:txBody>
          <a:bodyPr wrap="square" lIns="0" tIns="0" rIns="0" bIns="0" rtlCol="0" anchor="ctr"/>
          <a:lstStyle/>
          <a:p>
            <a:pPr algn="ctr" indent="0" marL="0">
              <a:lnSpc>
                <a:spcPts val="1200"/>
              </a:lnSpc>
              <a:buNone/>
            </a:pPr>
            <a:r>
              <a:rPr lang="en-US" sz="950" dirty="0">
                <a:solidFill>
                  <a:srgbClr val="56615A"/>
                </a:solidFill>
                <a:latin typeface="Calibri" pitchFamily="34" charset="0"/>
                <a:ea typeface="Calibri" pitchFamily="34" charset="-122"/>
                <a:cs typeface="Calibri" pitchFamily="34" charset="-120"/>
              </a:rPr>
              <a:t>Built Oxformals — a student-facing product with real Oxford users. Knows how a thing spreads on this campus.</a:t>
            </a:r>
            <a:endParaRPr lang="en-US" sz="950" dirty="0"/>
          </a:p>
        </p:txBody>
      </p:sp>
      <p:sp>
        <p:nvSpPr>
          <p:cNvPr id="38" name="Shape 36"/>
          <p:cNvSpPr/>
          <p:nvPr/>
        </p:nvSpPr>
        <p:spPr>
          <a:xfrm>
            <a:off x="566928" y="5532120"/>
            <a:ext cx="11064240" cy="658368"/>
          </a:xfrm>
          <a:prstGeom prst="roundRect">
            <a:avLst>
              <a:gd name="adj" fmla="val 12500"/>
            </a:avLst>
          </a:prstGeom>
          <a:solidFill>
            <a:srgbClr val="E8F5EE"/>
          </a:solidFill>
          <a:ln/>
        </p:spPr>
      </p:sp>
      <p:sp>
        <p:nvSpPr>
          <p:cNvPr id="39" name="Text 37"/>
          <p:cNvSpPr/>
          <p:nvPr/>
        </p:nvSpPr>
        <p:spPr>
          <a:xfrm>
            <a:off x="914400" y="5532120"/>
            <a:ext cx="10424160" cy="658368"/>
          </a:xfrm>
          <a:prstGeom prst="rect">
            <a:avLst/>
          </a:prstGeom>
          <a:noFill/>
          <a:ln/>
        </p:spPr>
        <p:txBody>
          <a:bodyPr wrap="square" lIns="0" tIns="0" rIns="0" bIns="0" rtlCol="0" anchor="ctr"/>
          <a:lstStyle/>
          <a:p>
            <a:pPr indent="0" marL="0">
              <a:buNone/>
            </a:pPr>
            <a:r>
              <a:rPr lang="en-US" sz="1250" b="1" dirty="0">
                <a:solidFill>
                  <a:srgbClr val="126E49"/>
                </a:solidFill>
                <a:latin typeface="Calibri" pitchFamily="34" charset="0"/>
                <a:ea typeface="Calibri" pitchFamily="34" charset="-122"/>
                <a:cs typeface="Calibri" pitchFamily="34" charset="-120"/>
              </a:rPr>
              <a:t>We built the product, the payments model and the legal framework before asking anyone for a pound.  </a:t>
            </a:r>
            <a:pPr indent="0" marL="0">
              <a:buNone/>
            </a:pPr>
            <a:r>
              <a:rPr lang="en-US" sz="1250" i="1" dirty="0">
                <a:solidFill>
                  <a:srgbClr val="56615A"/>
                </a:solidFill>
                <a:latin typeface="Calibri" pitchFamily="34" charset="0"/>
                <a:ea typeface="Calibri" pitchFamily="34" charset="-122"/>
                <a:cs typeface="Calibri" pitchFamily="34" charset="-120"/>
              </a:rPr>
              <a:t>That is the whole answer to “will they actually do it?”</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8456"/>
        </a:solidFill>
      </p:bgPr>
    </p:bg>
    <p:spTree>
      <p:nvGrpSpPr>
        <p:cNvPr id="1" name=""/>
        <p:cNvGrpSpPr/>
        <p:nvPr/>
      </p:nvGrpSpPr>
      <p:grpSpPr>
        <a:xfrm>
          <a:off x="0" y="0"/>
          <a:ext cx="0" cy="0"/>
          <a:chOff x="0" y="0"/>
          <a:chExt cx="0" cy="0"/>
        </a:xfrm>
      </p:grpSpPr>
      <p:sp>
        <p:nvSpPr>
          <p:cNvPr id="2" name="Text 0"/>
          <p:cNvSpPr/>
          <p:nvPr/>
        </p:nvSpPr>
        <p:spPr>
          <a:xfrm>
            <a:off x="731520" y="1783080"/>
            <a:ext cx="1069848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Somebody paid for you.</a:t>
            </a:r>
            <a:endParaRPr lang="en-US" sz="4400" dirty="0"/>
          </a:p>
        </p:txBody>
      </p:sp>
      <p:sp>
        <p:nvSpPr>
          <p:cNvPr id="3" name="Text 1"/>
          <p:cNvSpPr/>
          <p:nvPr/>
        </p:nvSpPr>
        <p:spPr>
          <a:xfrm>
            <a:off x="1737360" y="2743200"/>
            <a:ext cx="8686800" cy="914400"/>
          </a:xfrm>
          <a:prstGeom prst="rect">
            <a:avLst/>
          </a:prstGeom>
          <a:noFill/>
          <a:ln/>
        </p:spPr>
        <p:txBody>
          <a:bodyPr wrap="square" lIns="0" tIns="0" rIns="0" bIns="0" rtlCol="0" anchor="ctr"/>
          <a:lstStyle/>
          <a:p>
            <a:pPr algn="ctr" indent="0" marL="0">
              <a:lnSpc>
                <a:spcPts val="2800"/>
              </a:lnSpc>
              <a:buNone/>
            </a:pPr>
            <a:r>
              <a:rPr lang="en-US" sz="1700" dirty="0">
                <a:solidFill>
                  <a:srgbClr val="CFEBDD"/>
                </a:solidFill>
                <a:latin typeface="Calibri" pitchFamily="34" charset="0"/>
                <a:ea typeface="Calibri" pitchFamily="34" charset="-122"/>
                <a:cs typeface="Calibri" pitchFamily="34" charset="-120"/>
              </a:rPr>
              <a:t>A scholarship, a bursary, a building, a fund with someone's name on it.</a:t>
            </a:r>
            <a:endParaRPr lang="en-US" sz="1700" dirty="0"/>
          </a:p>
          <a:p>
            <a:pPr algn="ctr" indent="0" marL="0">
              <a:lnSpc>
                <a:spcPts val="2800"/>
              </a:lnSpc>
              <a:buNone/>
            </a:pPr>
            <a:r>
              <a:rPr lang="en-US" sz="1700" dirty="0">
                <a:solidFill>
                  <a:srgbClr val="CFEBDD"/>
                </a:solidFill>
                <a:latin typeface="Calibri" pitchFamily="34" charset="0"/>
                <a:ea typeface="Calibri" pitchFamily="34" charset="-122"/>
                <a:cs typeface="Calibri" pitchFamily="34" charset="-120"/>
              </a:rPr>
              <a:t>You almost certainly never found out who, or what it bought.</a:t>
            </a:r>
            <a:endParaRPr lang="en-US" sz="1700" dirty="0"/>
          </a:p>
        </p:txBody>
      </p:sp>
      <p:sp>
        <p:nvSpPr>
          <p:cNvPr id="4" name="Shape 2"/>
          <p:cNvSpPr/>
          <p:nvPr/>
        </p:nvSpPr>
        <p:spPr>
          <a:xfrm>
            <a:off x="2880360" y="3977640"/>
            <a:ext cx="6400800" cy="914400"/>
          </a:xfrm>
          <a:prstGeom prst="roundRect">
            <a:avLst>
              <a:gd name="adj" fmla="val 10000"/>
            </a:avLst>
          </a:prstGeom>
          <a:solidFill>
            <a:srgbClr val="0F6E45"/>
          </a:solidFill>
          <a:ln/>
        </p:spPr>
      </p:sp>
      <p:sp>
        <p:nvSpPr>
          <p:cNvPr id="5" name="Text 3"/>
          <p:cNvSpPr/>
          <p:nvPr/>
        </p:nvSpPr>
        <p:spPr>
          <a:xfrm>
            <a:off x="2880360" y="3977640"/>
            <a:ext cx="64008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Back the first generation that gets to find out.</a:t>
            </a:r>
            <a:endParaRPr lang="en-US" sz="2200" dirty="0"/>
          </a:p>
        </p:txBody>
      </p:sp>
      <p:sp>
        <p:nvSpPr>
          <p:cNvPr id="6" name="Shape 4"/>
          <p:cNvSpPr/>
          <p:nvPr/>
        </p:nvSpPr>
        <p:spPr>
          <a:xfrm>
            <a:off x="6012485" y="5138928"/>
            <a:ext cx="167640" cy="167640"/>
          </a:xfrm>
          <a:prstGeom prst="ellipse">
            <a:avLst/>
          </a:prstGeom>
          <a:solidFill>
            <a:srgbClr val="9FD9BC"/>
          </a:solidFill>
          <a:ln/>
        </p:spPr>
      </p:sp>
      <p:sp>
        <p:nvSpPr>
          <p:cNvPr id="7" name="Text 5"/>
          <p:cNvSpPr/>
          <p:nvPr/>
        </p:nvSpPr>
        <p:spPr>
          <a:xfrm>
            <a:off x="3810305" y="5361432"/>
            <a:ext cx="4572000" cy="4267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dono</a:t>
            </a:r>
            <a:endParaRPr lang="en-US" sz="2400" dirty="0"/>
          </a:p>
        </p:txBody>
      </p:sp>
      <p:sp>
        <p:nvSpPr>
          <p:cNvPr id="8" name="Text 6"/>
          <p:cNvSpPr/>
          <p:nvPr/>
        </p:nvSpPr>
        <p:spPr>
          <a:xfrm>
            <a:off x="731520" y="6108192"/>
            <a:ext cx="10698480" cy="365760"/>
          </a:xfrm>
          <a:prstGeom prst="rect">
            <a:avLst/>
          </a:prstGeom>
          <a:noFill/>
          <a:ln/>
        </p:spPr>
        <p:txBody>
          <a:bodyPr wrap="square" lIns="0" tIns="0" rIns="0" bIns="0" rtlCol="0" anchor="ctr"/>
          <a:lstStyle/>
          <a:p>
            <a:pPr algn="ctr" indent="0" marL="0">
              <a:buNone/>
            </a:pPr>
            <a:r>
              <a:rPr lang="en-US" sz="1200" dirty="0">
                <a:solidFill>
                  <a:srgbClr val="A9DCC3"/>
                </a:solidFill>
                <a:latin typeface="Calibri" pitchFamily="34" charset="0"/>
                <a:ea typeface="Calibri" pitchFamily="34" charset="-122"/>
                <a:cs typeface="Calibri" pitchFamily="34" charset="-120"/>
              </a:rPr>
              <a:t>joindono.team@gmail.com   ·   Scan to open a live campaign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Dono — Investor Pitch</dc:title>
  <dc:subject>PptxGenJS Presentation</dc:subject>
  <dc:creator>Dono</dc:creator>
  <cp:lastModifiedBy>Dono</cp:lastModifiedBy>
  <cp:revision>1</cp:revision>
  <dcterms:created xsi:type="dcterms:W3CDTF">2026-08-04T10:57:11Z</dcterms:created>
  <dcterms:modified xsi:type="dcterms:W3CDTF">2026-08-04T10:57:11Z</dcterms:modified>
</cp:coreProperties>
</file>